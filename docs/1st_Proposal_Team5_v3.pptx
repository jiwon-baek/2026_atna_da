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93b311f-b6b3-d2b6-ade3-a1a586dcf1a6}">
          <p14:sldIdLst>
            <p14:sldId id="256"/>
          </p14:sldIdLst>
        </p14:section>
        <p14:section name="Team" id="{4c1cd21b-bf0d-649f-c0ad-c92ac349130d}">
          <p14:sldIdLst>
            <p14:sldId id="257"/>
          </p14:sldIdLst>
        </p14:section>
        <p14:section name="Problem" id="{1a1bee7c-ad34-1389-f07b-4cf87434713d}">
          <p14:sldIdLst>
            <p14:sldId id="258"/>
            <p14:sldId id="259"/>
          </p14:sldIdLst>
        </p14:section>
        <p14:section name="Plan" id="{a0aa8535-5a24-be11-9343-674b6fe8e9f2}">
          <p14:sldIdLst>
            <p14:sldId id="260"/>
          </p14:sldIdLst>
        </p14:section>
        <p14:section name="Data" id="{bee0cea3-532c-f31c-64d5-34fc0f8f6cef}">
          <p14:sldIdLst>
            <p14:sldId id="261"/>
            <p14:sldId id="262"/>
            <p14:sldId id="263"/>
            <p14:sldId id="264"/>
            <p14:sldId id="265"/>
            <p14:sldId id="266"/>
            <p14:sldId id="267"/>
          </p14:sldIdLst>
        </p14:section>
        <p14:section name="Outlook" id="{4d5b5192-99d8-4ef7-5446-b68750f957ec}">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Track rows</c:v>
                </c:pt>
              </c:strCache>
            </c:strRef>
          </c:tx>
          <c:spPr>
            <a:solidFill>
              <a:schemeClr val="accent1"/>
            </a:solidFill>
            <a:ln w="9525" cap="flat">
              <a:solidFill>
                <a:srgbClr val="F9F9F9"/>
              </a:solidFill>
              <a:prstDash val="solid"/>
              <a:round/>
            </a:ln>
            <a:effectLst/>
          </c:spPr>
          <c:dPt>
            <c:idx val="0"/>
            <c:bubble3D val="0"/>
            <c:spPr>
              <a:solidFill>
                <a:srgbClr val="D5D9E0"/>
              </a:solidFill>
              <a:ln w="19050" cap="flat">
                <a:solidFill>
                  <a:srgbClr val="FFFFFF"/>
                </a:solidFill>
                <a:prstDash val="solid"/>
                <a:round/>
              </a:ln>
              <a:effectLst/>
            </c:spPr>
          </c:dPt>
          <c:dPt>
            <c:idx val="1"/>
            <c:bubble3D val="0"/>
            <c:spPr>
              <a:solidFill>
                <a:srgbClr val="B8BEC8"/>
              </a:solidFill>
              <a:ln w="19050" cap="flat">
                <a:solidFill>
                  <a:srgbClr val="FFFFFF"/>
                </a:solidFill>
                <a:prstDash val="solid"/>
                <a:round/>
              </a:ln>
              <a:effectLst/>
            </c:spPr>
          </c:dPt>
          <c:dPt>
            <c:idx val="2"/>
            <c:bubble3D val="0"/>
            <c:spPr>
              <a:solidFill>
                <a:srgbClr val="9AA1AD"/>
              </a:solidFill>
              <a:ln w="19050" cap="flat">
                <a:solidFill>
                  <a:srgbClr val="FFFFFF"/>
                </a:solidFill>
                <a:prstDash val="solid"/>
                <a:round/>
              </a:ln>
              <a:effectLst/>
            </c:spPr>
          </c:dPt>
          <c:dPt>
            <c:idx val="3"/>
            <c:bubble3D val="0"/>
            <c:spPr>
              <a:solidFill>
                <a:srgbClr val="0052FF"/>
              </a:solidFill>
              <a:ln w="19050" cap="flat">
                <a:solidFill>
                  <a:srgbClr val="FFFFFF"/>
                </a:solidFill>
                <a:prstDash val="solid"/>
                <a:round/>
              </a:ln>
              <a:effectLst/>
            </c:spPr>
          </c:dPt>
          <c:dPt>
            <c:idx val="4"/>
            <c:bubble3D val="0"/>
            <c:spPr>
              <a:solidFill>
                <a:srgbClr val="C9CED6"/>
              </a:solidFill>
              <a:ln w="19050" cap="flat">
                <a:solidFill>
                  <a:srgbClr val="FFFFFF"/>
                </a:solidFill>
                <a:prstDash val="solid"/>
                <a:round/>
              </a:ln>
              <a:effectLst/>
            </c:spPr>
          </c:dPt>
          <c:dPt>
            <c:idx val="5"/>
            <c:bubble3D val="0"/>
            <c:spPr>
              <a:solidFill>
                <a:srgbClr val="7C8492"/>
              </a:solidFill>
              <a:ln w="19050" cap="flat">
                <a:solidFill>
                  <a:srgbClr val="FFFFFF"/>
                </a:solidFill>
                <a:prstDash val="solid"/>
                <a:round/>
              </a:ln>
              <a:effectLst/>
            </c:spPr>
          </c:dPt>
          <c:dPt>
            <c:idx val="6"/>
            <c:bubble3D val="0"/>
            <c:spPr>
              <a:solidFill>
                <a:srgbClr val="E4E7EB"/>
              </a:solidFill>
              <a:ln w="19050" cap="flat">
                <a:solidFill>
                  <a:srgbClr val="FFFFFF"/>
                </a:solidFill>
                <a:prstDash val="solid"/>
                <a:round/>
              </a:ln>
              <a:effectLst/>
            </c:spPr>
          </c:dPt>
          <c:dPt>
            <c:idx val="7"/>
            <c:bubble3D val="0"/>
            <c:spPr>
              <a:solidFill>
                <a:srgbClr val="0A0B0D"/>
              </a:solidFill>
              <a:ln w="1905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4"/>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5"/>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6"/>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7"/>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Sheet1!$A$2:$A$9</c:f>
              <c:strCache>
                <c:ptCount val="8"/>
                <c:pt idx="0">
                  <c:v>Pleasure Craft/Sailing</c:v>
                </c:pt>
                <c:pt idx="1">
                  <c:v>Other</c:v>
                </c:pt>
                <c:pt idx="2">
                  <c:v>TugTow</c:v>
                </c:pt>
                <c:pt idx="3">
                  <c:v>Cargo</c:v>
                </c:pt>
                <c:pt idx="4">
                  <c:v>Fishing</c:v>
                </c:pt>
                <c:pt idx="5">
                  <c:v>Passenger</c:v>
                </c:pt>
                <c:pt idx="6">
                  <c:v>Not Available</c:v>
                </c:pt>
                <c:pt idx="7">
                  <c:v>Tanker</c:v>
                </c:pt>
              </c:strCache>
            </c:strRef>
          </c:cat>
          <c:val>
            <c:numRef>
              <c:f>Sheet1!$B$2:$B$9</c:f>
              <c:numCache>
                <c:ptCount val="8"/>
                <c:pt idx="0">
                  <c:v>40666</c:v>
                </c:pt>
                <c:pt idx="1">
                  <c:v>15920</c:v>
                </c:pt>
                <c:pt idx="2">
                  <c:v>11825</c:v>
                </c:pt>
                <c:pt idx="3">
                  <c:v>10311</c:v>
                </c:pt>
                <c:pt idx="4">
                  <c:v>7018</c:v>
                </c:pt>
                <c:pt idx="5">
                  <c:v>5654</c:v>
                </c:pt>
                <c:pt idx="6">
                  <c:v>901</c:v>
                </c:pt>
                <c:pt idx="7">
                  <c:v>632</c:v>
                </c:pt>
              </c:numCache>
            </c:numRef>
          </c:val>
        </c:ser>
        <c:firstSliceAng val="0"/>
        <c:holeSize val="6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Team 5 first proposal: AIS track-based traffic analysis of the Norfolk / Hampton Roads port approach and selection of monitoring priority zones. Members: Ko Youngjo, Kim Heeseon, Baek Jiwon, Cho Minje.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introduction. Fill in each member's background and research interest; roles will be finalized after the initial data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problem: approach channels are chokepoints shared by many vessel types; monitoring resources are limited, so we need evidence on where and when traffic concentrates; NOAA AIS Vessel Tracks 2024 makes this quantitative. Three research questions guide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Hampton Roads is a regional harbor and port complex; the Port of Virginia is the commercial gateway associated with the study area. USACE reported 68.8 million short tons of waterborne cargo for the Port of Virginia statistical area in calendar 2023, 9th among U.S. ports. In fiscal 2024 (July 2023 – June 2024) the port handled 3,499,639 TEUs, 283,817 tons of breakbulk and 1,733 ship calls. In 2024 a wider channel opened for two-way passage of ultra-large container vessels; the port reported this could cut a large vessel's time at berth by up to 15%. These port-wide figures cover different periods and units from our calendar-2024 AIS tracks, so they are context, not validation of our counts. The channel milestone is relevant to approach movement but does not by itself establish a safety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(1) data build and preprocessing, (2) traffic characterization, (3) monitoring priority zone selection, (4) robustness check. Each step has an owner slot — role assignment to be finalized.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 Vessel Tracks 2024 is a GeoPackage — a SQLite database holding features, attributes, CRS metadata and spatial indexes. Its single feature layer, AISVesselTracks2024, has 11 fields: 10 attributes plus the Shape geometry, in EPSG:4269 (NAD83 lon/lat). Each row is a track for one time interval, so one vessel (MMSI) appears in many rows: raw AIS is sampled to one minute and a new track starts after a 30-minute or 1-nautical-mile gap. VesselGroup gives a broad category; we keep Cargo and Tanker.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provisional rectangle contains 92,927 intersecting track features across eight NOAA VesselGroup values. Pleasure Craft/Sailing is the largest group by track rows (43.76%), then Other (17.13%) and TugTow (12.73%). Cargo is 11.10% and Tanker 0.68%. Repeated tracks from one MMSI contribute multiple rows, so this answers what share of extracted track records falls in each source group — not fleet share, port-call share or tonnage. Distinct MMSIs are counted within each group and are not additive. We focus on Cargo and Tanker because our research questions compare these two commercial groups, not because they dominate traffic; the source label is Cargo, not Bulk_Carrier. The rectangle is temporary and will be replaced by the agreed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downloaded archive holds one GeoPackage, a SQLite container with three parts: the feature layer AISVesselTracks2024 (attributes plus MULTILINESTRING Shape geometry), GeoPackage metadata tables (layer and CRS, EPSG:4269), and an RTree spatial index on Shape. Our extract uses the RTree for a fast bounding-box candidate lookup, then an exact geometry intersection to remove false positives, filters Cargo and Tanker on VesselGroup, reads the result in pandas chunks, and writes a CSV where the binary Shape is converted to WKT text in Shape_WKT. The CRS label is carried in a Geometry_CRS column because CSV does not keep CRS metadata.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carries one vessel track for a time interval. Shape holds the whole line; MMSI identifies the vessel and repeats across rows; start/end time bound the interval; VesselGroup gives the broad category. VesselType is only a numeric code and needs a codebook before we interpret it. OBJECTID is a row identifier used by the spatial index. The map shows one real row from our first-pass extract: OBJECTID 50958, MMSI 563156300, a Cargo track from 1 to 6 January 2024. Reference points are approximate and there is no coastline layer; the line was redrawn from the extract plot.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First-pass extract: we kept every Cargo or Tanker track whose geometry intersects a broad rectangle from longitude −77.0 to −75.5 and latitude 36.3 to 37.5. That gives 10,943 rows: 10,311 Cargo rows from 1,865 distinct vessels and 632 Tanker rows from 138 vessels — about five rows per vessel, which is why we count unique MMSI separately from tracks. The CSV is about 373 MB and adds Shape_WKT, Geometry_CRS and Subset_BBox. The rectangle is temporary, not the final study boundary, and tracks crossing its edge are kept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data: NOAA MarineCadastre AIS Vessel Tracks 2024, Jan–Dec 2024. Done so far: spatial-index extract on a broad rectangle and the Cargo/Tanker filter, giving 10,943 rows. Next: confirm the study boundary from NOAA ENCs and rerun the filter; decide whether we target all Cargo or a narrower type, using a VesselType codebook (the source says Cargo, not Bulk_Carrier); decide per analysis whether tracks are clipped or kept whole, and run quality checks; then reproject to UTM 18N and build the Python dataset. The raw GeoPackage stays unchanged and the CSV can be regenerated from the documented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size is a scale choice. A 250 m cell is 0.0625 km², so 16 cells per km²; 500 m is 0.25 km², 4 per km²; 1 km is 1 km², 1 per km². Finer resolution separates nearby patterns — in the panels the inbound and outbound passes of the example track fall in partly different 250 m cells but the same 1 km cells — yet it also yields sparse, unstable counts and more cells to process. This single track crosses 463, 210 and 101 cells at the three resolutions. We use 500 m as the primary setting, repeat at 250 m and 1 km, select the top 10% of occupied cells by unique MMSI (20% as sensitivity), and compare overlap and location shifts on a common spatial reference. Counts summed across cells are not unique vessels for the whole area, since one track crosses many cells. Actual runtime depends on the boundary, geometries and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insights: efficient maritime patrol, detection of ghost / illicit vessels, early warning for collision-risk zones, and maintenance prioritization for heavily used lanes. Limitation: AIS tracks can be split by reception gaps, so track counts are not port calls; spatial overlap of paths does not mean simultaneous encounters. The priority zones are observation candidates, not collision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_DARK">
    <p:bg>
      <p:bgPr>
        <a:solidFill>
          <a:srgbClr val="0A0B0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rtlCol="0"/>
          <a:lstStyle>
            <a:lvl1pPr indent="0" marL="0">
              <a:buNone/>
              <a:defRPr lang="en-US" sz="1100" spc="150" kern="0" dirty="0">
                <a:solidFill>
                  <a:schemeClr val="accent1"/>
                </a:solidFill>
                <a:latin typeface="프리젠테이션 7 Bold" pitchFamily="34" charset="0"/>
                <a:ea typeface="프리젠테이션 7 Bold" pitchFamily="34" charset="-122"/>
                <a:cs typeface="프리젠테이션 7 Bold" pitchFamily="34" charset="-120"/>
              </a:defRPr>
            </a:lvl1pPr>
          </a:lstStyle>
          <a:p>
            <a:pPr indent="0" marL="0">
              <a:buNone/>
            </a:pP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rtlCol="0"/>
          <a:lstStyle>
            <a:lvl1pPr algn="l" indent="0" marL="0">
              <a:buNone/>
              <a:defRPr lang="en-US" sz="3600" dirty="0">
                <a:solidFill>
                  <a:schemeClr val="tx1"/>
                </a:solidFill>
                <a:latin typeface="프리젠테이션 4 Regular" pitchFamily="34" charset="0"/>
                <a:ea typeface="프리젠테이션 4 Regular" pitchFamily="34" charset="-122"/>
                <a:cs typeface="프리젠테이션 4 Regular" pitchFamily="34" charset="-120"/>
              </a:defRPr>
            </a:lvl1pPr>
          </a:lstStyle>
          <a:p>
            <a:pPr algn="l" indent="0" marL="0">
              <a:buNone/>
            </a:pPr>
            <a:endParaRPr lang="en-US" sz="3600" dirty="0"/>
          </a:p>
        </p:txBody>
      </p:sp>
      <p:sp>
        <p:nvSpPr>
          <p:cNvPr id="4" name="Text 0"/>
          <p:cNvSpPr/>
          <p:nvPr/>
        </p:nvSpPr>
        <p:spPr>
          <a:xfrm>
            <a:off x="457200" y="4773168"/>
            <a:ext cx="5486400" cy="228600"/>
          </a:xfrm>
          <a:prstGeom prst="rect">
            <a:avLst/>
          </a:prstGeom>
          <a:noFill/>
          <a:ln/>
        </p:spPr>
        <p:txBody>
          <a:bodyPr wrap="square" lIns="0" tIns="0" rIns="0" bIns="0" rtlCol="0" anchor="ctr"/>
          <a:lstStyle/>
          <a:p>
            <a:pPr indent="0" marL="0">
              <a:buNone/>
            </a:pPr>
            <a:r>
              <a:rPr lang="en-US" sz="1000" dirty="0">
                <a:solidFill>
                  <a:schemeClr val="accent3"/>
                </a:solidFill>
                <a:latin typeface="프리젠테이션 4 Regular" pitchFamily="34" charset="0"/>
                <a:ea typeface="프리젠테이션 4 Regular" pitchFamily="34" charset="-122"/>
                <a:cs typeface="프리젠테이션 4 Regular" pitchFamily="34" charset="-120"/>
              </a:rPr>
              <a:t>Team 5  ·  AIS Port Approach Study  ·  1st Proposal</a:t>
            </a:r>
            <a:endParaRPr lang="en-US" sz="10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pill"/>
          <p:cNvSpPr txBox="1"/>
          <p:nvPr/>
        </p:nvSpPr>
        <p:spPr>
          <a:xfrm>
            <a:off x="548640" y="548640"/>
            <a:ext cx="3246120" cy="310896"/>
          </a:xfrm>
          <a:prstGeom prst="roundRect">
            <a:avLst>
              <a:gd name="adj" fmla="val 50000"/>
            </a:avLst>
          </a:prstGeom>
          <a:solidFill>
            <a:srgbClr val="26292F"/>
          </a:solidFill>
          <a:ln/>
        </p:spPr>
        <p:txBody>
          <a:bodyPr wrap="square" lIns="0" tIns="0" rIns="0" bIns="0" rtlCol="0" anchor="ctr"/>
          <a:lstStyle/>
          <a:p>
            <a:pPr algn="ctr" indent="0" marL="0">
              <a:buNone/>
            </a:pPr>
            <a:r>
              <a:rPr lang="en-US" sz="1100" dirty="0">
                <a:solidFill>
                  <a:srgbClr val="C9CED6"/>
                </a:solidFill>
                <a:latin typeface="프리젠테이션 4 Regular" pitchFamily="34" charset="0"/>
                <a:ea typeface="프리젠테이션 4 Regular" pitchFamily="34" charset="-122"/>
                <a:cs typeface="프리젠테이션 4 Regular" pitchFamily="34" charset="-120"/>
              </a:rPr>
              <a:t>26-2 Special Topics in Naval Architecture  ·  Team 5</a:t>
            </a:r>
            <a:endParaRPr lang="en-US" sz="1100" dirty="0"/>
          </a:p>
        </p:txBody>
      </p:sp>
      <p:sp>
        <p:nvSpPr>
          <p:cNvPr id="3" name="title"/>
          <p:cNvSpPr txBox="1"/>
          <p:nvPr/>
        </p:nvSpPr>
        <p:spPr>
          <a:xfrm>
            <a:off x="548640" y="1051560"/>
            <a:ext cx="4663440" cy="1600200"/>
          </a:xfrm>
          <a:prstGeom prst="rect">
            <a:avLst/>
          </a:prstGeom>
          <a:noFill/>
          <a:ln/>
        </p:spPr>
        <p:txBody>
          <a:bodyPr wrap="square" lIns="0" tIns="0" rIns="0" bIns="0" rtlCol="0" anchor="t"/>
          <a:lstStyle/>
          <a:p>
            <a:pPr indent="0" marL="0">
              <a:lnSpc>
                <a:spcPct val="95000"/>
              </a:lnSpc>
              <a:buNone/>
            </a:pPr>
            <a:r>
              <a:rPr lang="en-US" sz="3600" dirty="0">
                <a:solidFill>
                  <a:srgbClr val="FFFFFF"/>
                </a:solidFill>
                <a:latin typeface="프리젠테이션 4 Regular" pitchFamily="34" charset="0"/>
                <a:ea typeface="프리젠테이션 4 Regular" pitchFamily="34" charset="-122"/>
                <a:cs typeface="프리젠테이션 4 Regular" pitchFamily="34" charset="-120"/>
              </a:rPr>
              <a:t>AIS Track-based Traffic Analysis of a Port Approach Channel</a:t>
            </a:r>
            <a:endParaRPr lang="en-US" sz="3600" dirty="0"/>
          </a:p>
        </p:txBody>
      </p:sp>
      <p:sp>
        <p:nvSpPr>
          <p:cNvPr id="4" name="subtitle"/>
          <p:cNvSpPr txBox="1"/>
          <p:nvPr/>
        </p:nvSpPr>
        <p:spPr>
          <a:xfrm>
            <a:off x="548640" y="2697480"/>
            <a:ext cx="4480560" cy="548640"/>
          </a:xfrm>
          <a:prstGeom prst="rect">
            <a:avLst/>
          </a:prstGeom>
          <a:noFill/>
          <a:ln/>
        </p:spPr>
        <p:txBody>
          <a:bodyPr wrap="square" lIns="0" tIns="0" rIns="0" bIns="0" rtlCol="0" anchor="t"/>
          <a:lstStyle/>
          <a:p>
            <a:pPr indent="0" marL="0">
              <a:buNone/>
            </a:pPr>
            <a:r>
              <a:rPr lang="en-US" sz="1600" dirty="0">
                <a:solidFill>
                  <a:srgbClr val="A6ADB8"/>
                </a:solidFill>
                <a:latin typeface="프리젠테이션 4 Regular" pitchFamily="34" charset="0"/>
                <a:ea typeface="프리젠테이션 4 Regular" pitchFamily="34" charset="-122"/>
                <a:cs typeface="프리젠테이션 4 Regular" pitchFamily="34" charset="-120"/>
              </a:rPr>
              <a:t>&amp; selection of monitoring priority zones — Norfolk / Hampton Roads, USA</a:t>
            </a:r>
            <a:endParaRPr lang="en-US" sz="1600" dirty="0"/>
          </a:p>
        </p:txBody>
      </p:sp>
      <p:sp>
        <p:nvSpPr>
          <p:cNvPr id="5" name="cta pill"/>
          <p:cNvSpPr txBox="1"/>
          <p:nvPr/>
        </p:nvSpPr>
        <p:spPr>
          <a:xfrm>
            <a:off x="548640" y="3520440"/>
            <a:ext cx="1554480" cy="384048"/>
          </a:xfrm>
          <a:prstGeom prst="roundRect">
            <a:avLst>
              <a:gd name="adj" fmla="val 50000"/>
            </a:avLst>
          </a:prstGeom>
          <a:solidFill>
            <a:srgbClr val="0052FF"/>
          </a:solidFill>
          <a:ln/>
        </p:spPr>
        <p:txBody>
          <a:bodyPr wrap="square" lIns="0" tIns="0" rIns="0" bIns="0" rtlCol="0" anchor="ctr"/>
          <a:lstStyle/>
          <a:p>
            <a:pPr algn="ctr" indent="0" marL="0">
              <a:buNone/>
            </a:pPr>
            <a:r>
              <a:rPr lang="en-US" sz="1300" dirty="0">
                <a:solidFill>
                  <a:srgbClr val="FFFFFF"/>
                </a:solidFill>
                <a:latin typeface="프리젠테이션 7 Bold" pitchFamily="34" charset="0"/>
                <a:ea typeface="프리젠테이션 7 Bold" pitchFamily="34" charset="-122"/>
                <a:cs typeface="프리젠테이션 7 Bold" pitchFamily="34" charset="-120"/>
              </a:rPr>
              <a:t>1st Proposal</a:t>
            </a:r>
            <a:endParaRPr lang="en-US" sz="1300" dirty="0"/>
          </a:p>
        </p:txBody>
      </p:sp>
      <p:sp>
        <p:nvSpPr>
          <p:cNvPr id="6" name="members"/>
          <p:cNvSpPr txBox="1"/>
          <p:nvPr/>
        </p:nvSpPr>
        <p:spPr>
          <a:xfrm>
            <a:off x="548640" y="4206240"/>
            <a:ext cx="4389120" cy="320040"/>
          </a:xfrm>
          <a:prstGeom prst="rect">
            <a:avLst/>
          </a:prstGeom>
          <a:noFill/>
          <a:ln/>
        </p:spPr>
        <p:txBody>
          <a:bodyPr wrap="square" lIns="0" tIns="0" rIns="0" bIns="0" rtlCol="0" anchor="ctr"/>
          <a:lstStyle/>
          <a:p>
            <a:pPr indent="0" marL="0">
              <a:buNone/>
            </a:pPr>
            <a:r>
              <a:rPr lang="en-US" sz="1400" dirty="0">
                <a:solidFill>
                  <a:srgbClr val="C9CED6"/>
                </a:solidFill>
                <a:latin typeface="프리젠테이션 4 Regular" pitchFamily="34" charset="0"/>
                <a:ea typeface="프리젠테이션 4 Regular" pitchFamily="34" charset="-122"/>
                <a:cs typeface="프리젠테이션 4 Regular" pitchFamily="34" charset="-120"/>
              </a:rPr>
              <a:t>고영조  ·  김희선  ·  백지원  ·  조민제</a:t>
            </a:r>
            <a:endParaRPr lang="en-US" sz="1400" dirty="0"/>
          </a:p>
        </p:txBody>
      </p:sp>
      <p:sp>
        <p:nvSpPr>
          <p:cNvPr id="7" name="ui card"/>
          <p:cNvSpPr/>
          <p:nvPr/>
        </p:nvSpPr>
        <p:spPr>
          <a:xfrm>
            <a:off x="5486400" y="685800"/>
            <a:ext cx="3154680" cy="3794760"/>
          </a:xfrm>
          <a:prstGeom prst="roundRect">
            <a:avLst>
              <a:gd name="adj" fmla="val 6377"/>
            </a:avLst>
          </a:prstGeom>
          <a:solidFill>
            <a:srgbClr val="1B1D22"/>
          </a:solidFill>
          <a:ln/>
          <a:effectLst>
            <a:outerShdw sx="100000" sy="100000" kx="0" ky="0" algn="bl" rotWithShape="0" blurRad="228600" dist="76200" dir="5400000">
              <a:srgbClr val="000000">
                <a:alpha val="45000"/>
              </a:srgbClr>
            </a:outerShdw>
          </a:effectLst>
        </p:spPr>
      </p:sp>
      <p:sp>
        <p:nvSpPr>
          <p:cNvPr id="8" name="live dot"/>
          <p:cNvSpPr/>
          <p:nvPr/>
        </p:nvSpPr>
        <p:spPr>
          <a:xfrm>
            <a:off x="5742432" y="987552"/>
            <a:ext cx="91440" cy="91440"/>
          </a:xfrm>
          <a:prstGeom prst="ellipse">
            <a:avLst/>
          </a:prstGeom>
          <a:solidFill>
            <a:srgbClr val="05B169"/>
          </a:solidFill>
          <a:ln/>
        </p:spPr>
      </p:sp>
      <p:sp>
        <p:nvSpPr>
          <p:cNvPr id="9" name="ui title"/>
          <p:cNvSpPr txBox="1"/>
          <p:nvPr/>
        </p:nvSpPr>
        <p:spPr>
          <a:xfrm>
            <a:off x="5897880" y="886968"/>
            <a:ext cx="2103120" cy="292608"/>
          </a:xfrm>
          <a:prstGeom prst="rect">
            <a:avLst/>
          </a:prstGeom>
          <a:noFill/>
          <a:ln/>
        </p:spPr>
        <p:txBody>
          <a:bodyPr wrap="square" lIns="0" tIns="0" rIns="0" bIns="0" rtlCol="0" anchor="ctr"/>
          <a:lstStyle/>
          <a:p>
            <a:pPr indent="0" marL="0">
              <a:buNone/>
            </a:pPr>
            <a:r>
              <a:rPr lang="en-US" sz="1200" dirty="0">
                <a:solidFill>
                  <a:srgbClr val="FFFFFF"/>
                </a:solidFill>
                <a:latin typeface="프리젠테이션 7 Bold" pitchFamily="34" charset="0"/>
                <a:ea typeface="프리젠테이션 7 Bold" pitchFamily="34" charset="-122"/>
                <a:cs typeface="프리젠테이션 7 Bold" pitchFamily="34" charset="-120"/>
              </a:rPr>
              <a:t>Priority Zone Monitor</a:t>
            </a:r>
            <a:endParaRPr lang="en-US" sz="1200" dirty="0"/>
          </a:p>
        </p:txBody>
      </p:sp>
      <p:sp>
        <p:nvSpPr>
          <p:cNvPr id="10" name="ui year"/>
          <p:cNvSpPr txBox="1"/>
          <p:nvPr/>
        </p:nvSpPr>
        <p:spPr>
          <a:xfrm>
            <a:off x="7863840" y="886968"/>
            <a:ext cx="548640" cy="292608"/>
          </a:xfrm>
          <a:prstGeom prst="rect">
            <a:avLst/>
          </a:prstGeom>
          <a:noFill/>
          <a:ln/>
        </p:spPr>
        <p:txBody>
          <a:bodyPr wrap="square" lIns="0" tIns="0" rIns="0" bIns="0" rtlCol="0" anchor="ctr"/>
          <a:lstStyle/>
          <a:p>
            <a:pPr algn="r" indent="0" marL="0">
              <a:buNone/>
            </a:pPr>
            <a:r>
              <a:rPr lang="en-US" sz="1100" dirty="0">
                <a:solidFill>
                  <a:srgbClr val="8A919E"/>
                </a:solidFill>
                <a:latin typeface="프리젠테이션 4 Regular" pitchFamily="34" charset="0"/>
                <a:ea typeface="프리젠테이션 4 Regular" pitchFamily="34" charset="-122"/>
                <a:cs typeface="프리젠테이션 4 Regular" pitchFamily="34" charset="-120"/>
              </a:rPr>
              <a:t>2024</a:t>
            </a:r>
            <a:endParaRPr lang="en-US" sz="1100" dirty="0"/>
          </a:p>
        </p:txBody>
      </p:sp>
      <p:sp>
        <p:nvSpPr>
          <p:cNvPr id="11" name="cell 0,0"/>
          <p:cNvSpPr/>
          <p:nvPr/>
        </p:nvSpPr>
        <p:spPr>
          <a:xfrm>
            <a:off x="5742432" y="1325880"/>
            <a:ext cx="210312" cy="210312"/>
          </a:xfrm>
          <a:prstGeom prst="rect">
            <a:avLst/>
          </a:prstGeom>
          <a:solidFill>
            <a:srgbClr val="26292F"/>
          </a:solidFill>
          <a:ln/>
        </p:spPr>
      </p:sp>
      <p:sp>
        <p:nvSpPr>
          <p:cNvPr id="12" name="cell 1,0"/>
          <p:cNvSpPr/>
          <p:nvPr/>
        </p:nvSpPr>
        <p:spPr>
          <a:xfrm>
            <a:off x="5980176" y="1325880"/>
            <a:ext cx="210312" cy="210312"/>
          </a:xfrm>
          <a:prstGeom prst="rect">
            <a:avLst/>
          </a:prstGeom>
          <a:solidFill>
            <a:srgbClr val="26292F"/>
          </a:solidFill>
          <a:ln/>
        </p:spPr>
      </p:sp>
      <p:sp>
        <p:nvSpPr>
          <p:cNvPr id="13" name="cell 2,0"/>
          <p:cNvSpPr/>
          <p:nvPr/>
        </p:nvSpPr>
        <p:spPr>
          <a:xfrm>
            <a:off x="6217920" y="1325880"/>
            <a:ext cx="210312" cy="210312"/>
          </a:xfrm>
          <a:prstGeom prst="rect">
            <a:avLst/>
          </a:prstGeom>
          <a:solidFill>
            <a:srgbClr val="0052FF"/>
          </a:solidFill>
          <a:ln/>
        </p:spPr>
      </p:sp>
      <p:sp>
        <p:nvSpPr>
          <p:cNvPr id="14" name="cell 3,0"/>
          <p:cNvSpPr/>
          <p:nvPr/>
        </p:nvSpPr>
        <p:spPr>
          <a:xfrm>
            <a:off x="6455664" y="1325880"/>
            <a:ext cx="210312" cy="210312"/>
          </a:xfrm>
          <a:prstGeom prst="rect">
            <a:avLst/>
          </a:prstGeom>
          <a:solidFill>
            <a:srgbClr val="1E3A8A"/>
          </a:solidFill>
          <a:ln/>
        </p:spPr>
      </p:sp>
      <p:sp>
        <p:nvSpPr>
          <p:cNvPr id="15" name="cell 4,0"/>
          <p:cNvSpPr/>
          <p:nvPr/>
        </p:nvSpPr>
        <p:spPr>
          <a:xfrm>
            <a:off x="6693408" y="1325880"/>
            <a:ext cx="210312" cy="210312"/>
          </a:xfrm>
          <a:prstGeom prst="rect">
            <a:avLst/>
          </a:prstGeom>
          <a:solidFill>
            <a:srgbClr val="26292F"/>
          </a:solidFill>
          <a:ln/>
        </p:spPr>
      </p:sp>
      <p:sp>
        <p:nvSpPr>
          <p:cNvPr id="16" name="cell 5,0"/>
          <p:cNvSpPr/>
          <p:nvPr/>
        </p:nvSpPr>
        <p:spPr>
          <a:xfrm>
            <a:off x="6931152" y="1325880"/>
            <a:ext cx="210312" cy="210312"/>
          </a:xfrm>
          <a:prstGeom prst="rect">
            <a:avLst/>
          </a:prstGeom>
          <a:solidFill>
            <a:srgbClr val="26292F"/>
          </a:solidFill>
          <a:ln/>
        </p:spPr>
      </p:sp>
      <p:sp>
        <p:nvSpPr>
          <p:cNvPr id="17" name="cell 6,0"/>
          <p:cNvSpPr/>
          <p:nvPr/>
        </p:nvSpPr>
        <p:spPr>
          <a:xfrm>
            <a:off x="7168896" y="1325880"/>
            <a:ext cx="210312" cy="210312"/>
          </a:xfrm>
          <a:prstGeom prst="rect">
            <a:avLst/>
          </a:prstGeom>
          <a:solidFill>
            <a:srgbClr val="26292F"/>
          </a:solidFill>
          <a:ln/>
        </p:spPr>
      </p:sp>
      <p:sp>
        <p:nvSpPr>
          <p:cNvPr id="18" name="cell 7,0"/>
          <p:cNvSpPr/>
          <p:nvPr/>
        </p:nvSpPr>
        <p:spPr>
          <a:xfrm>
            <a:off x="7406640" y="1325880"/>
            <a:ext cx="210312" cy="210312"/>
          </a:xfrm>
          <a:prstGeom prst="rect">
            <a:avLst/>
          </a:prstGeom>
          <a:solidFill>
            <a:srgbClr val="26292F"/>
          </a:solidFill>
          <a:ln/>
        </p:spPr>
      </p:sp>
      <p:sp>
        <p:nvSpPr>
          <p:cNvPr id="19" name="cell 8,0"/>
          <p:cNvSpPr/>
          <p:nvPr/>
        </p:nvSpPr>
        <p:spPr>
          <a:xfrm>
            <a:off x="7644384" y="1325880"/>
            <a:ext cx="210312" cy="210312"/>
          </a:xfrm>
          <a:prstGeom prst="rect">
            <a:avLst/>
          </a:prstGeom>
          <a:solidFill>
            <a:srgbClr val="26292F"/>
          </a:solidFill>
          <a:ln/>
        </p:spPr>
      </p:sp>
      <p:sp>
        <p:nvSpPr>
          <p:cNvPr id="20" name="cell 9,0"/>
          <p:cNvSpPr/>
          <p:nvPr/>
        </p:nvSpPr>
        <p:spPr>
          <a:xfrm>
            <a:off x="7882128" y="1325880"/>
            <a:ext cx="210312" cy="210312"/>
          </a:xfrm>
          <a:prstGeom prst="rect">
            <a:avLst/>
          </a:prstGeom>
          <a:solidFill>
            <a:srgbClr val="26292F"/>
          </a:solidFill>
          <a:ln/>
        </p:spPr>
      </p:sp>
      <p:sp>
        <p:nvSpPr>
          <p:cNvPr id="21" name="cell 10,0"/>
          <p:cNvSpPr/>
          <p:nvPr/>
        </p:nvSpPr>
        <p:spPr>
          <a:xfrm>
            <a:off x="8119872" y="1325880"/>
            <a:ext cx="210312" cy="210312"/>
          </a:xfrm>
          <a:prstGeom prst="rect">
            <a:avLst/>
          </a:prstGeom>
          <a:solidFill>
            <a:srgbClr val="26292F"/>
          </a:solidFill>
          <a:ln/>
        </p:spPr>
      </p:sp>
      <p:sp>
        <p:nvSpPr>
          <p:cNvPr id="22" name="cell 0,1"/>
          <p:cNvSpPr/>
          <p:nvPr/>
        </p:nvSpPr>
        <p:spPr>
          <a:xfrm>
            <a:off x="5742432" y="1563624"/>
            <a:ext cx="210312" cy="210312"/>
          </a:xfrm>
          <a:prstGeom prst="rect">
            <a:avLst/>
          </a:prstGeom>
          <a:solidFill>
            <a:srgbClr val="26292F"/>
          </a:solidFill>
          <a:ln/>
        </p:spPr>
      </p:sp>
      <p:sp>
        <p:nvSpPr>
          <p:cNvPr id="23" name="cell 1,1"/>
          <p:cNvSpPr/>
          <p:nvPr/>
        </p:nvSpPr>
        <p:spPr>
          <a:xfrm>
            <a:off x="5980176" y="1563624"/>
            <a:ext cx="210312" cy="210312"/>
          </a:xfrm>
          <a:prstGeom prst="rect">
            <a:avLst/>
          </a:prstGeom>
          <a:solidFill>
            <a:srgbClr val="26292F"/>
          </a:solidFill>
          <a:ln/>
        </p:spPr>
      </p:sp>
      <p:sp>
        <p:nvSpPr>
          <p:cNvPr id="24" name="cell 2,1"/>
          <p:cNvSpPr/>
          <p:nvPr/>
        </p:nvSpPr>
        <p:spPr>
          <a:xfrm>
            <a:off x="6217920" y="1563624"/>
            <a:ext cx="210312" cy="210312"/>
          </a:xfrm>
          <a:prstGeom prst="rect">
            <a:avLst/>
          </a:prstGeom>
          <a:solidFill>
            <a:srgbClr val="1E3A8A"/>
          </a:solidFill>
          <a:ln/>
        </p:spPr>
      </p:sp>
      <p:sp>
        <p:nvSpPr>
          <p:cNvPr id="25" name="cell 3,1"/>
          <p:cNvSpPr/>
          <p:nvPr/>
        </p:nvSpPr>
        <p:spPr>
          <a:xfrm>
            <a:off x="6455664" y="1563624"/>
            <a:ext cx="210312" cy="210312"/>
          </a:xfrm>
          <a:prstGeom prst="rect">
            <a:avLst/>
          </a:prstGeom>
          <a:solidFill>
            <a:srgbClr val="0052FF"/>
          </a:solidFill>
          <a:ln/>
        </p:spPr>
      </p:sp>
      <p:sp>
        <p:nvSpPr>
          <p:cNvPr id="26" name="cell 4,1"/>
          <p:cNvSpPr/>
          <p:nvPr/>
        </p:nvSpPr>
        <p:spPr>
          <a:xfrm>
            <a:off x="6693408" y="1563624"/>
            <a:ext cx="210312" cy="210312"/>
          </a:xfrm>
          <a:prstGeom prst="rect">
            <a:avLst/>
          </a:prstGeom>
          <a:solidFill>
            <a:srgbClr val="1E3A8A"/>
          </a:solidFill>
          <a:ln/>
        </p:spPr>
      </p:sp>
      <p:sp>
        <p:nvSpPr>
          <p:cNvPr id="27" name="cell 5,1"/>
          <p:cNvSpPr/>
          <p:nvPr/>
        </p:nvSpPr>
        <p:spPr>
          <a:xfrm>
            <a:off x="6931152" y="1563624"/>
            <a:ext cx="210312" cy="210312"/>
          </a:xfrm>
          <a:prstGeom prst="rect">
            <a:avLst/>
          </a:prstGeom>
          <a:solidFill>
            <a:srgbClr val="26292F"/>
          </a:solidFill>
          <a:ln/>
        </p:spPr>
      </p:sp>
      <p:sp>
        <p:nvSpPr>
          <p:cNvPr id="28" name="cell 6,1"/>
          <p:cNvSpPr/>
          <p:nvPr/>
        </p:nvSpPr>
        <p:spPr>
          <a:xfrm>
            <a:off x="7168896" y="1563624"/>
            <a:ext cx="210312" cy="210312"/>
          </a:xfrm>
          <a:prstGeom prst="rect">
            <a:avLst/>
          </a:prstGeom>
          <a:solidFill>
            <a:srgbClr val="26292F"/>
          </a:solidFill>
          <a:ln/>
        </p:spPr>
      </p:sp>
      <p:sp>
        <p:nvSpPr>
          <p:cNvPr id="29" name="cell 7,1"/>
          <p:cNvSpPr/>
          <p:nvPr/>
        </p:nvSpPr>
        <p:spPr>
          <a:xfrm>
            <a:off x="7406640" y="1563624"/>
            <a:ext cx="210312" cy="210312"/>
          </a:xfrm>
          <a:prstGeom prst="rect">
            <a:avLst/>
          </a:prstGeom>
          <a:solidFill>
            <a:srgbClr val="26292F"/>
          </a:solidFill>
          <a:ln/>
        </p:spPr>
      </p:sp>
      <p:sp>
        <p:nvSpPr>
          <p:cNvPr id="30" name="cell 8,1"/>
          <p:cNvSpPr/>
          <p:nvPr/>
        </p:nvSpPr>
        <p:spPr>
          <a:xfrm>
            <a:off x="7644384" y="1563624"/>
            <a:ext cx="210312" cy="210312"/>
          </a:xfrm>
          <a:prstGeom prst="rect">
            <a:avLst/>
          </a:prstGeom>
          <a:solidFill>
            <a:srgbClr val="26292F"/>
          </a:solidFill>
          <a:ln/>
        </p:spPr>
      </p:sp>
      <p:sp>
        <p:nvSpPr>
          <p:cNvPr id="31" name="cell 9,1"/>
          <p:cNvSpPr/>
          <p:nvPr/>
        </p:nvSpPr>
        <p:spPr>
          <a:xfrm>
            <a:off x="7882128" y="1563624"/>
            <a:ext cx="210312" cy="210312"/>
          </a:xfrm>
          <a:prstGeom prst="rect">
            <a:avLst/>
          </a:prstGeom>
          <a:solidFill>
            <a:srgbClr val="26292F"/>
          </a:solidFill>
          <a:ln/>
        </p:spPr>
      </p:sp>
      <p:sp>
        <p:nvSpPr>
          <p:cNvPr id="32" name="cell 10,1"/>
          <p:cNvSpPr/>
          <p:nvPr/>
        </p:nvSpPr>
        <p:spPr>
          <a:xfrm>
            <a:off x="8119872" y="1563624"/>
            <a:ext cx="210312" cy="210312"/>
          </a:xfrm>
          <a:prstGeom prst="rect">
            <a:avLst/>
          </a:prstGeom>
          <a:solidFill>
            <a:srgbClr val="26292F"/>
          </a:solidFill>
          <a:ln/>
        </p:spPr>
      </p:sp>
      <p:sp>
        <p:nvSpPr>
          <p:cNvPr id="33" name="cell 0,2"/>
          <p:cNvSpPr/>
          <p:nvPr/>
        </p:nvSpPr>
        <p:spPr>
          <a:xfrm>
            <a:off x="5742432" y="1801368"/>
            <a:ext cx="210312" cy="210312"/>
          </a:xfrm>
          <a:prstGeom prst="rect">
            <a:avLst/>
          </a:prstGeom>
          <a:solidFill>
            <a:srgbClr val="26292F"/>
          </a:solidFill>
          <a:ln/>
        </p:spPr>
      </p:sp>
      <p:sp>
        <p:nvSpPr>
          <p:cNvPr id="34" name="cell 1,2"/>
          <p:cNvSpPr/>
          <p:nvPr/>
        </p:nvSpPr>
        <p:spPr>
          <a:xfrm>
            <a:off x="5980176" y="1801368"/>
            <a:ext cx="210312" cy="210312"/>
          </a:xfrm>
          <a:prstGeom prst="rect">
            <a:avLst/>
          </a:prstGeom>
          <a:solidFill>
            <a:srgbClr val="26292F"/>
          </a:solidFill>
          <a:ln/>
        </p:spPr>
      </p:sp>
      <p:sp>
        <p:nvSpPr>
          <p:cNvPr id="35" name="cell 2,2"/>
          <p:cNvSpPr/>
          <p:nvPr/>
        </p:nvSpPr>
        <p:spPr>
          <a:xfrm>
            <a:off x="6217920" y="1801368"/>
            <a:ext cx="210312" cy="210312"/>
          </a:xfrm>
          <a:prstGeom prst="rect">
            <a:avLst/>
          </a:prstGeom>
          <a:solidFill>
            <a:srgbClr val="1E3A8A"/>
          </a:solidFill>
          <a:ln/>
        </p:spPr>
      </p:sp>
      <p:sp>
        <p:nvSpPr>
          <p:cNvPr id="36" name="cell 3,2"/>
          <p:cNvSpPr/>
          <p:nvPr/>
        </p:nvSpPr>
        <p:spPr>
          <a:xfrm>
            <a:off x="6455664" y="1801368"/>
            <a:ext cx="210312" cy="210312"/>
          </a:xfrm>
          <a:prstGeom prst="rect">
            <a:avLst/>
          </a:prstGeom>
          <a:solidFill>
            <a:srgbClr val="0052FF"/>
          </a:solidFill>
          <a:ln/>
        </p:spPr>
      </p:sp>
      <p:sp>
        <p:nvSpPr>
          <p:cNvPr id="37" name="cell 4,2"/>
          <p:cNvSpPr/>
          <p:nvPr/>
        </p:nvSpPr>
        <p:spPr>
          <a:xfrm>
            <a:off x="6693408" y="1801368"/>
            <a:ext cx="210312" cy="210312"/>
          </a:xfrm>
          <a:prstGeom prst="rect">
            <a:avLst/>
          </a:prstGeom>
          <a:solidFill>
            <a:srgbClr val="0052FF"/>
          </a:solidFill>
          <a:ln/>
        </p:spPr>
      </p:sp>
      <p:sp>
        <p:nvSpPr>
          <p:cNvPr id="38" name="cell 5,2"/>
          <p:cNvSpPr/>
          <p:nvPr/>
        </p:nvSpPr>
        <p:spPr>
          <a:xfrm>
            <a:off x="6931152" y="1801368"/>
            <a:ext cx="210312" cy="210312"/>
          </a:xfrm>
          <a:prstGeom prst="rect">
            <a:avLst/>
          </a:prstGeom>
          <a:solidFill>
            <a:srgbClr val="0052FF"/>
          </a:solidFill>
          <a:ln/>
        </p:spPr>
      </p:sp>
      <p:sp>
        <p:nvSpPr>
          <p:cNvPr id="39" name="cell 6,2"/>
          <p:cNvSpPr/>
          <p:nvPr/>
        </p:nvSpPr>
        <p:spPr>
          <a:xfrm>
            <a:off x="7168896" y="1801368"/>
            <a:ext cx="210312" cy="210312"/>
          </a:xfrm>
          <a:prstGeom prst="rect">
            <a:avLst/>
          </a:prstGeom>
          <a:solidFill>
            <a:srgbClr val="26292F"/>
          </a:solidFill>
          <a:ln/>
        </p:spPr>
      </p:sp>
      <p:sp>
        <p:nvSpPr>
          <p:cNvPr id="40" name="cell 7,2"/>
          <p:cNvSpPr/>
          <p:nvPr/>
        </p:nvSpPr>
        <p:spPr>
          <a:xfrm>
            <a:off x="7406640" y="1801368"/>
            <a:ext cx="210312" cy="210312"/>
          </a:xfrm>
          <a:prstGeom prst="rect">
            <a:avLst/>
          </a:prstGeom>
          <a:solidFill>
            <a:srgbClr val="26292F"/>
          </a:solidFill>
          <a:ln/>
        </p:spPr>
      </p:sp>
      <p:sp>
        <p:nvSpPr>
          <p:cNvPr id="41" name="cell 8,2"/>
          <p:cNvSpPr/>
          <p:nvPr/>
        </p:nvSpPr>
        <p:spPr>
          <a:xfrm>
            <a:off x="7644384" y="1801368"/>
            <a:ext cx="210312" cy="210312"/>
          </a:xfrm>
          <a:prstGeom prst="rect">
            <a:avLst/>
          </a:prstGeom>
          <a:solidFill>
            <a:srgbClr val="26292F"/>
          </a:solidFill>
          <a:ln/>
        </p:spPr>
      </p:sp>
      <p:sp>
        <p:nvSpPr>
          <p:cNvPr id="42" name="cell 9,2"/>
          <p:cNvSpPr/>
          <p:nvPr/>
        </p:nvSpPr>
        <p:spPr>
          <a:xfrm>
            <a:off x="7882128" y="1801368"/>
            <a:ext cx="210312" cy="210312"/>
          </a:xfrm>
          <a:prstGeom prst="rect">
            <a:avLst/>
          </a:prstGeom>
          <a:solidFill>
            <a:srgbClr val="26292F"/>
          </a:solidFill>
          <a:ln/>
        </p:spPr>
      </p:sp>
      <p:sp>
        <p:nvSpPr>
          <p:cNvPr id="43" name="cell 10,2"/>
          <p:cNvSpPr/>
          <p:nvPr/>
        </p:nvSpPr>
        <p:spPr>
          <a:xfrm>
            <a:off x="8119872" y="1801368"/>
            <a:ext cx="210312" cy="210312"/>
          </a:xfrm>
          <a:prstGeom prst="rect">
            <a:avLst/>
          </a:prstGeom>
          <a:solidFill>
            <a:srgbClr val="26292F"/>
          </a:solidFill>
          <a:ln/>
        </p:spPr>
      </p:sp>
      <p:sp>
        <p:nvSpPr>
          <p:cNvPr id="44" name="cell 0,3"/>
          <p:cNvSpPr/>
          <p:nvPr/>
        </p:nvSpPr>
        <p:spPr>
          <a:xfrm>
            <a:off x="5742432" y="2039112"/>
            <a:ext cx="210312" cy="210312"/>
          </a:xfrm>
          <a:prstGeom prst="rect">
            <a:avLst/>
          </a:prstGeom>
          <a:solidFill>
            <a:srgbClr val="26292F"/>
          </a:solidFill>
          <a:ln/>
        </p:spPr>
      </p:sp>
      <p:sp>
        <p:nvSpPr>
          <p:cNvPr id="45" name="cell 1,3"/>
          <p:cNvSpPr/>
          <p:nvPr/>
        </p:nvSpPr>
        <p:spPr>
          <a:xfrm>
            <a:off x="5980176" y="2039112"/>
            <a:ext cx="210312" cy="210312"/>
          </a:xfrm>
          <a:prstGeom prst="rect">
            <a:avLst/>
          </a:prstGeom>
          <a:solidFill>
            <a:srgbClr val="26292F"/>
          </a:solidFill>
          <a:ln/>
        </p:spPr>
      </p:sp>
      <p:sp>
        <p:nvSpPr>
          <p:cNvPr id="46" name="cell 2,3"/>
          <p:cNvSpPr/>
          <p:nvPr/>
        </p:nvSpPr>
        <p:spPr>
          <a:xfrm>
            <a:off x="6217920" y="2039112"/>
            <a:ext cx="210312" cy="210312"/>
          </a:xfrm>
          <a:prstGeom prst="rect">
            <a:avLst/>
          </a:prstGeom>
          <a:solidFill>
            <a:srgbClr val="26292F"/>
          </a:solidFill>
          <a:ln/>
        </p:spPr>
      </p:sp>
      <p:sp>
        <p:nvSpPr>
          <p:cNvPr id="47" name="cell 3,3"/>
          <p:cNvSpPr/>
          <p:nvPr/>
        </p:nvSpPr>
        <p:spPr>
          <a:xfrm>
            <a:off x="6455664" y="2039112"/>
            <a:ext cx="210312" cy="210312"/>
          </a:xfrm>
          <a:prstGeom prst="rect">
            <a:avLst/>
          </a:prstGeom>
          <a:solidFill>
            <a:srgbClr val="1E3A8A"/>
          </a:solidFill>
          <a:ln/>
        </p:spPr>
      </p:sp>
      <p:sp>
        <p:nvSpPr>
          <p:cNvPr id="48" name="cell 4,3"/>
          <p:cNvSpPr/>
          <p:nvPr/>
        </p:nvSpPr>
        <p:spPr>
          <a:xfrm>
            <a:off x="6693408" y="2039112"/>
            <a:ext cx="210312" cy="210312"/>
          </a:xfrm>
          <a:prstGeom prst="rect">
            <a:avLst/>
          </a:prstGeom>
          <a:solidFill>
            <a:srgbClr val="0052FF"/>
          </a:solidFill>
          <a:ln/>
        </p:spPr>
      </p:sp>
      <p:sp>
        <p:nvSpPr>
          <p:cNvPr id="49" name="cell 5,3"/>
          <p:cNvSpPr/>
          <p:nvPr/>
        </p:nvSpPr>
        <p:spPr>
          <a:xfrm>
            <a:off x="6931152" y="2039112"/>
            <a:ext cx="210312" cy="210312"/>
          </a:xfrm>
          <a:prstGeom prst="rect">
            <a:avLst/>
          </a:prstGeom>
          <a:solidFill>
            <a:srgbClr val="0052FF"/>
          </a:solidFill>
          <a:ln/>
        </p:spPr>
      </p:sp>
      <p:sp>
        <p:nvSpPr>
          <p:cNvPr id="50" name="cell 6,3"/>
          <p:cNvSpPr/>
          <p:nvPr/>
        </p:nvSpPr>
        <p:spPr>
          <a:xfrm>
            <a:off x="7168896" y="2039112"/>
            <a:ext cx="210312" cy="210312"/>
          </a:xfrm>
          <a:prstGeom prst="rect">
            <a:avLst/>
          </a:prstGeom>
          <a:solidFill>
            <a:srgbClr val="1E3A8A"/>
          </a:solidFill>
          <a:ln/>
        </p:spPr>
      </p:sp>
      <p:sp>
        <p:nvSpPr>
          <p:cNvPr id="51" name="cell 7,3"/>
          <p:cNvSpPr/>
          <p:nvPr/>
        </p:nvSpPr>
        <p:spPr>
          <a:xfrm>
            <a:off x="7406640" y="2039112"/>
            <a:ext cx="210312" cy="210312"/>
          </a:xfrm>
          <a:prstGeom prst="rect">
            <a:avLst/>
          </a:prstGeom>
          <a:solidFill>
            <a:srgbClr val="26292F"/>
          </a:solidFill>
          <a:ln/>
        </p:spPr>
      </p:sp>
      <p:sp>
        <p:nvSpPr>
          <p:cNvPr id="52" name="cell 8,3"/>
          <p:cNvSpPr/>
          <p:nvPr/>
        </p:nvSpPr>
        <p:spPr>
          <a:xfrm>
            <a:off x="7644384" y="2039112"/>
            <a:ext cx="210312" cy="210312"/>
          </a:xfrm>
          <a:prstGeom prst="rect">
            <a:avLst/>
          </a:prstGeom>
          <a:solidFill>
            <a:srgbClr val="26292F"/>
          </a:solidFill>
          <a:ln/>
        </p:spPr>
      </p:sp>
      <p:sp>
        <p:nvSpPr>
          <p:cNvPr id="53" name="cell 9,3"/>
          <p:cNvSpPr/>
          <p:nvPr/>
        </p:nvSpPr>
        <p:spPr>
          <a:xfrm>
            <a:off x="7882128" y="2039112"/>
            <a:ext cx="210312" cy="210312"/>
          </a:xfrm>
          <a:prstGeom prst="rect">
            <a:avLst/>
          </a:prstGeom>
          <a:solidFill>
            <a:srgbClr val="26292F"/>
          </a:solidFill>
          <a:ln/>
        </p:spPr>
      </p:sp>
      <p:sp>
        <p:nvSpPr>
          <p:cNvPr id="54" name="cell 10,3"/>
          <p:cNvSpPr/>
          <p:nvPr/>
        </p:nvSpPr>
        <p:spPr>
          <a:xfrm>
            <a:off x="8119872" y="2039112"/>
            <a:ext cx="210312" cy="210312"/>
          </a:xfrm>
          <a:prstGeom prst="rect">
            <a:avLst/>
          </a:prstGeom>
          <a:solidFill>
            <a:srgbClr val="26292F"/>
          </a:solidFill>
          <a:ln/>
        </p:spPr>
      </p:sp>
      <p:sp>
        <p:nvSpPr>
          <p:cNvPr id="55" name="cell 0,4"/>
          <p:cNvSpPr/>
          <p:nvPr/>
        </p:nvSpPr>
        <p:spPr>
          <a:xfrm>
            <a:off x="5742432" y="2276856"/>
            <a:ext cx="210312" cy="210312"/>
          </a:xfrm>
          <a:prstGeom prst="rect">
            <a:avLst/>
          </a:prstGeom>
          <a:solidFill>
            <a:srgbClr val="26292F"/>
          </a:solidFill>
          <a:ln/>
        </p:spPr>
      </p:sp>
      <p:sp>
        <p:nvSpPr>
          <p:cNvPr id="56" name="cell 1,4"/>
          <p:cNvSpPr/>
          <p:nvPr/>
        </p:nvSpPr>
        <p:spPr>
          <a:xfrm>
            <a:off x="5980176" y="2276856"/>
            <a:ext cx="210312" cy="210312"/>
          </a:xfrm>
          <a:prstGeom prst="rect">
            <a:avLst/>
          </a:prstGeom>
          <a:solidFill>
            <a:srgbClr val="26292F"/>
          </a:solidFill>
          <a:ln/>
        </p:spPr>
      </p:sp>
      <p:sp>
        <p:nvSpPr>
          <p:cNvPr id="57" name="cell 2,4"/>
          <p:cNvSpPr/>
          <p:nvPr/>
        </p:nvSpPr>
        <p:spPr>
          <a:xfrm>
            <a:off x="6217920" y="2276856"/>
            <a:ext cx="210312" cy="210312"/>
          </a:xfrm>
          <a:prstGeom prst="rect">
            <a:avLst/>
          </a:prstGeom>
          <a:solidFill>
            <a:srgbClr val="26292F"/>
          </a:solidFill>
          <a:ln/>
        </p:spPr>
      </p:sp>
      <p:sp>
        <p:nvSpPr>
          <p:cNvPr id="58" name="cell 3,4"/>
          <p:cNvSpPr/>
          <p:nvPr/>
        </p:nvSpPr>
        <p:spPr>
          <a:xfrm>
            <a:off x="6455664" y="2276856"/>
            <a:ext cx="210312" cy="210312"/>
          </a:xfrm>
          <a:prstGeom prst="rect">
            <a:avLst/>
          </a:prstGeom>
          <a:solidFill>
            <a:srgbClr val="26292F"/>
          </a:solidFill>
          <a:ln/>
        </p:spPr>
      </p:sp>
      <p:sp>
        <p:nvSpPr>
          <p:cNvPr id="59" name="cell 4,4"/>
          <p:cNvSpPr/>
          <p:nvPr/>
        </p:nvSpPr>
        <p:spPr>
          <a:xfrm>
            <a:off x="6693408" y="2276856"/>
            <a:ext cx="210312" cy="210312"/>
          </a:xfrm>
          <a:prstGeom prst="rect">
            <a:avLst/>
          </a:prstGeom>
          <a:solidFill>
            <a:srgbClr val="1E3A8A"/>
          </a:solidFill>
          <a:ln/>
        </p:spPr>
      </p:sp>
      <p:sp>
        <p:nvSpPr>
          <p:cNvPr id="60" name="cell 5,4"/>
          <p:cNvSpPr/>
          <p:nvPr/>
        </p:nvSpPr>
        <p:spPr>
          <a:xfrm>
            <a:off x="6931152" y="2276856"/>
            <a:ext cx="210312" cy="210312"/>
          </a:xfrm>
          <a:prstGeom prst="rect">
            <a:avLst/>
          </a:prstGeom>
          <a:solidFill>
            <a:srgbClr val="0052FF"/>
          </a:solidFill>
          <a:ln/>
        </p:spPr>
      </p:sp>
      <p:sp>
        <p:nvSpPr>
          <p:cNvPr id="61" name="cell 6,4"/>
          <p:cNvSpPr/>
          <p:nvPr/>
        </p:nvSpPr>
        <p:spPr>
          <a:xfrm>
            <a:off x="7168896" y="2276856"/>
            <a:ext cx="210312" cy="210312"/>
          </a:xfrm>
          <a:prstGeom prst="rect">
            <a:avLst/>
          </a:prstGeom>
          <a:solidFill>
            <a:srgbClr val="0052FF"/>
          </a:solidFill>
          <a:ln/>
        </p:spPr>
      </p:sp>
      <p:sp>
        <p:nvSpPr>
          <p:cNvPr id="62" name="cell 7,4"/>
          <p:cNvSpPr/>
          <p:nvPr/>
        </p:nvSpPr>
        <p:spPr>
          <a:xfrm>
            <a:off x="7406640" y="2276856"/>
            <a:ext cx="210312" cy="210312"/>
          </a:xfrm>
          <a:prstGeom prst="rect">
            <a:avLst/>
          </a:prstGeom>
          <a:solidFill>
            <a:srgbClr val="1E3A8A"/>
          </a:solidFill>
          <a:ln/>
        </p:spPr>
      </p:sp>
      <p:sp>
        <p:nvSpPr>
          <p:cNvPr id="63" name="cell 8,4"/>
          <p:cNvSpPr/>
          <p:nvPr/>
        </p:nvSpPr>
        <p:spPr>
          <a:xfrm>
            <a:off x="7644384" y="2276856"/>
            <a:ext cx="210312" cy="210312"/>
          </a:xfrm>
          <a:prstGeom prst="rect">
            <a:avLst/>
          </a:prstGeom>
          <a:solidFill>
            <a:srgbClr val="26292F"/>
          </a:solidFill>
          <a:ln/>
        </p:spPr>
      </p:sp>
      <p:sp>
        <p:nvSpPr>
          <p:cNvPr id="64" name="cell 9,4"/>
          <p:cNvSpPr/>
          <p:nvPr/>
        </p:nvSpPr>
        <p:spPr>
          <a:xfrm>
            <a:off x="7882128" y="2276856"/>
            <a:ext cx="210312" cy="210312"/>
          </a:xfrm>
          <a:prstGeom prst="rect">
            <a:avLst/>
          </a:prstGeom>
          <a:solidFill>
            <a:srgbClr val="26292F"/>
          </a:solidFill>
          <a:ln/>
        </p:spPr>
      </p:sp>
      <p:sp>
        <p:nvSpPr>
          <p:cNvPr id="65" name="cell 10,4"/>
          <p:cNvSpPr/>
          <p:nvPr/>
        </p:nvSpPr>
        <p:spPr>
          <a:xfrm>
            <a:off x="8119872" y="2276856"/>
            <a:ext cx="210312" cy="210312"/>
          </a:xfrm>
          <a:prstGeom prst="rect">
            <a:avLst/>
          </a:prstGeom>
          <a:solidFill>
            <a:srgbClr val="26292F"/>
          </a:solidFill>
          <a:ln/>
        </p:spPr>
      </p:sp>
      <p:sp>
        <p:nvSpPr>
          <p:cNvPr id="66" name="cell 0,5"/>
          <p:cNvSpPr/>
          <p:nvPr/>
        </p:nvSpPr>
        <p:spPr>
          <a:xfrm>
            <a:off x="5742432" y="2514600"/>
            <a:ext cx="210312" cy="210312"/>
          </a:xfrm>
          <a:prstGeom prst="rect">
            <a:avLst/>
          </a:prstGeom>
          <a:solidFill>
            <a:srgbClr val="26292F"/>
          </a:solidFill>
          <a:ln/>
        </p:spPr>
      </p:sp>
      <p:sp>
        <p:nvSpPr>
          <p:cNvPr id="67" name="cell 1,5"/>
          <p:cNvSpPr/>
          <p:nvPr/>
        </p:nvSpPr>
        <p:spPr>
          <a:xfrm>
            <a:off x="5980176" y="2514600"/>
            <a:ext cx="210312" cy="210312"/>
          </a:xfrm>
          <a:prstGeom prst="rect">
            <a:avLst/>
          </a:prstGeom>
          <a:solidFill>
            <a:srgbClr val="26292F"/>
          </a:solidFill>
          <a:ln/>
        </p:spPr>
      </p:sp>
      <p:sp>
        <p:nvSpPr>
          <p:cNvPr id="68" name="cell 2,5"/>
          <p:cNvSpPr/>
          <p:nvPr/>
        </p:nvSpPr>
        <p:spPr>
          <a:xfrm>
            <a:off x="6217920" y="2514600"/>
            <a:ext cx="210312" cy="210312"/>
          </a:xfrm>
          <a:prstGeom prst="rect">
            <a:avLst/>
          </a:prstGeom>
          <a:solidFill>
            <a:srgbClr val="26292F"/>
          </a:solidFill>
          <a:ln/>
        </p:spPr>
      </p:sp>
      <p:sp>
        <p:nvSpPr>
          <p:cNvPr id="69" name="cell 3,5"/>
          <p:cNvSpPr/>
          <p:nvPr/>
        </p:nvSpPr>
        <p:spPr>
          <a:xfrm>
            <a:off x="6455664" y="2514600"/>
            <a:ext cx="210312" cy="210312"/>
          </a:xfrm>
          <a:prstGeom prst="rect">
            <a:avLst/>
          </a:prstGeom>
          <a:solidFill>
            <a:srgbClr val="26292F"/>
          </a:solidFill>
          <a:ln/>
        </p:spPr>
      </p:sp>
      <p:sp>
        <p:nvSpPr>
          <p:cNvPr id="70" name="cell 4,5"/>
          <p:cNvSpPr/>
          <p:nvPr/>
        </p:nvSpPr>
        <p:spPr>
          <a:xfrm>
            <a:off x="6693408" y="2514600"/>
            <a:ext cx="210312" cy="210312"/>
          </a:xfrm>
          <a:prstGeom prst="rect">
            <a:avLst/>
          </a:prstGeom>
          <a:solidFill>
            <a:srgbClr val="26292F"/>
          </a:solidFill>
          <a:ln/>
        </p:spPr>
      </p:sp>
      <p:sp>
        <p:nvSpPr>
          <p:cNvPr id="71" name="cell 5,5"/>
          <p:cNvSpPr/>
          <p:nvPr/>
        </p:nvSpPr>
        <p:spPr>
          <a:xfrm>
            <a:off x="6931152" y="2514600"/>
            <a:ext cx="210312" cy="210312"/>
          </a:xfrm>
          <a:prstGeom prst="rect">
            <a:avLst/>
          </a:prstGeom>
          <a:solidFill>
            <a:srgbClr val="1E3A8A"/>
          </a:solidFill>
          <a:ln/>
        </p:spPr>
      </p:sp>
      <p:sp>
        <p:nvSpPr>
          <p:cNvPr id="72" name="cell 6,5"/>
          <p:cNvSpPr/>
          <p:nvPr/>
        </p:nvSpPr>
        <p:spPr>
          <a:xfrm>
            <a:off x="7168896" y="2514600"/>
            <a:ext cx="210312" cy="210312"/>
          </a:xfrm>
          <a:prstGeom prst="rect">
            <a:avLst/>
          </a:prstGeom>
          <a:solidFill>
            <a:srgbClr val="0052FF"/>
          </a:solidFill>
          <a:ln/>
        </p:spPr>
      </p:sp>
      <p:sp>
        <p:nvSpPr>
          <p:cNvPr id="73" name="cell 7,5"/>
          <p:cNvSpPr/>
          <p:nvPr/>
        </p:nvSpPr>
        <p:spPr>
          <a:xfrm>
            <a:off x="7406640" y="2514600"/>
            <a:ext cx="210312" cy="210312"/>
          </a:xfrm>
          <a:prstGeom prst="rect">
            <a:avLst/>
          </a:prstGeom>
          <a:solidFill>
            <a:srgbClr val="0052FF"/>
          </a:solidFill>
          <a:ln/>
        </p:spPr>
      </p:sp>
      <p:sp>
        <p:nvSpPr>
          <p:cNvPr id="74" name="cell 8,5"/>
          <p:cNvSpPr/>
          <p:nvPr/>
        </p:nvSpPr>
        <p:spPr>
          <a:xfrm>
            <a:off x="7644384" y="2514600"/>
            <a:ext cx="210312" cy="210312"/>
          </a:xfrm>
          <a:prstGeom prst="rect">
            <a:avLst/>
          </a:prstGeom>
          <a:solidFill>
            <a:srgbClr val="1E3A8A"/>
          </a:solidFill>
          <a:ln/>
        </p:spPr>
      </p:sp>
      <p:sp>
        <p:nvSpPr>
          <p:cNvPr id="75" name="cell 9,5"/>
          <p:cNvSpPr/>
          <p:nvPr/>
        </p:nvSpPr>
        <p:spPr>
          <a:xfrm>
            <a:off x="7882128" y="2514600"/>
            <a:ext cx="210312" cy="210312"/>
          </a:xfrm>
          <a:prstGeom prst="rect">
            <a:avLst/>
          </a:prstGeom>
          <a:solidFill>
            <a:srgbClr val="26292F"/>
          </a:solidFill>
          <a:ln/>
        </p:spPr>
      </p:sp>
      <p:sp>
        <p:nvSpPr>
          <p:cNvPr id="76" name="cell 10,5"/>
          <p:cNvSpPr/>
          <p:nvPr/>
        </p:nvSpPr>
        <p:spPr>
          <a:xfrm>
            <a:off x="8119872" y="2514600"/>
            <a:ext cx="210312" cy="210312"/>
          </a:xfrm>
          <a:prstGeom prst="rect">
            <a:avLst/>
          </a:prstGeom>
          <a:solidFill>
            <a:srgbClr val="26292F"/>
          </a:solidFill>
          <a:ln/>
        </p:spPr>
      </p:sp>
      <p:sp>
        <p:nvSpPr>
          <p:cNvPr id="77" name="cell 0,6"/>
          <p:cNvSpPr/>
          <p:nvPr/>
        </p:nvSpPr>
        <p:spPr>
          <a:xfrm>
            <a:off x="5742432" y="2752344"/>
            <a:ext cx="210312" cy="210312"/>
          </a:xfrm>
          <a:prstGeom prst="rect">
            <a:avLst/>
          </a:prstGeom>
          <a:solidFill>
            <a:srgbClr val="26292F"/>
          </a:solidFill>
          <a:ln/>
        </p:spPr>
      </p:sp>
      <p:sp>
        <p:nvSpPr>
          <p:cNvPr id="78" name="cell 1,6"/>
          <p:cNvSpPr/>
          <p:nvPr/>
        </p:nvSpPr>
        <p:spPr>
          <a:xfrm>
            <a:off x="5980176" y="2752344"/>
            <a:ext cx="210312" cy="210312"/>
          </a:xfrm>
          <a:prstGeom prst="rect">
            <a:avLst/>
          </a:prstGeom>
          <a:solidFill>
            <a:srgbClr val="26292F"/>
          </a:solidFill>
          <a:ln/>
        </p:spPr>
      </p:sp>
      <p:sp>
        <p:nvSpPr>
          <p:cNvPr id="79" name="cell 2,6"/>
          <p:cNvSpPr/>
          <p:nvPr/>
        </p:nvSpPr>
        <p:spPr>
          <a:xfrm>
            <a:off x="6217920" y="2752344"/>
            <a:ext cx="210312" cy="210312"/>
          </a:xfrm>
          <a:prstGeom prst="rect">
            <a:avLst/>
          </a:prstGeom>
          <a:solidFill>
            <a:srgbClr val="26292F"/>
          </a:solidFill>
          <a:ln/>
        </p:spPr>
      </p:sp>
      <p:sp>
        <p:nvSpPr>
          <p:cNvPr id="80" name="cell 3,6"/>
          <p:cNvSpPr/>
          <p:nvPr/>
        </p:nvSpPr>
        <p:spPr>
          <a:xfrm>
            <a:off x="6455664" y="2752344"/>
            <a:ext cx="210312" cy="210312"/>
          </a:xfrm>
          <a:prstGeom prst="rect">
            <a:avLst/>
          </a:prstGeom>
          <a:solidFill>
            <a:srgbClr val="26292F"/>
          </a:solidFill>
          <a:ln/>
        </p:spPr>
      </p:sp>
      <p:sp>
        <p:nvSpPr>
          <p:cNvPr id="81" name="cell 4,6"/>
          <p:cNvSpPr/>
          <p:nvPr/>
        </p:nvSpPr>
        <p:spPr>
          <a:xfrm>
            <a:off x="6693408" y="2752344"/>
            <a:ext cx="210312" cy="210312"/>
          </a:xfrm>
          <a:prstGeom prst="rect">
            <a:avLst/>
          </a:prstGeom>
          <a:solidFill>
            <a:srgbClr val="26292F"/>
          </a:solidFill>
          <a:ln/>
        </p:spPr>
      </p:sp>
      <p:sp>
        <p:nvSpPr>
          <p:cNvPr id="82" name="cell 5,6"/>
          <p:cNvSpPr/>
          <p:nvPr/>
        </p:nvSpPr>
        <p:spPr>
          <a:xfrm>
            <a:off x="6931152" y="2752344"/>
            <a:ext cx="210312" cy="210312"/>
          </a:xfrm>
          <a:prstGeom prst="rect">
            <a:avLst/>
          </a:prstGeom>
          <a:solidFill>
            <a:srgbClr val="26292F"/>
          </a:solidFill>
          <a:ln/>
        </p:spPr>
      </p:sp>
      <p:sp>
        <p:nvSpPr>
          <p:cNvPr id="83" name="cell 6,6"/>
          <p:cNvSpPr/>
          <p:nvPr/>
        </p:nvSpPr>
        <p:spPr>
          <a:xfrm>
            <a:off x="7168896" y="2752344"/>
            <a:ext cx="210312" cy="210312"/>
          </a:xfrm>
          <a:prstGeom prst="rect">
            <a:avLst/>
          </a:prstGeom>
          <a:solidFill>
            <a:srgbClr val="1E3A8A"/>
          </a:solidFill>
          <a:ln/>
        </p:spPr>
      </p:sp>
      <p:sp>
        <p:nvSpPr>
          <p:cNvPr id="84" name="cell 7,6"/>
          <p:cNvSpPr/>
          <p:nvPr/>
        </p:nvSpPr>
        <p:spPr>
          <a:xfrm>
            <a:off x="7406640" y="2752344"/>
            <a:ext cx="210312" cy="210312"/>
          </a:xfrm>
          <a:prstGeom prst="rect">
            <a:avLst/>
          </a:prstGeom>
          <a:solidFill>
            <a:srgbClr val="0052FF"/>
          </a:solidFill>
          <a:ln/>
        </p:spPr>
      </p:sp>
      <p:sp>
        <p:nvSpPr>
          <p:cNvPr id="85" name="cell 8,6"/>
          <p:cNvSpPr/>
          <p:nvPr/>
        </p:nvSpPr>
        <p:spPr>
          <a:xfrm>
            <a:off x="7644384" y="2752344"/>
            <a:ext cx="210312" cy="210312"/>
          </a:xfrm>
          <a:prstGeom prst="rect">
            <a:avLst/>
          </a:prstGeom>
          <a:solidFill>
            <a:srgbClr val="0052FF"/>
          </a:solidFill>
          <a:ln/>
        </p:spPr>
      </p:sp>
      <p:sp>
        <p:nvSpPr>
          <p:cNvPr id="86" name="cell 9,6"/>
          <p:cNvSpPr/>
          <p:nvPr/>
        </p:nvSpPr>
        <p:spPr>
          <a:xfrm>
            <a:off x="7882128" y="2752344"/>
            <a:ext cx="210312" cy="210312"/>
          </a:xfrm>
          <a:prstGeom prst="rect">
            <a:avLst/>
          </a:prstGeom>
          <a:solidFill>
            <a:srgbClr val="1E3A8A"/>
          </a:solidFill>
          <a:ln/>
        </p:spPr>
      </p:sp>
      <p:sp>
        <p:nvSpPr>
          <p:cNvPr id="87" name="cell 10,6"/>
          <p:cNvSpPr/>
          <p:nvPr/>
        </p:nvSpPr>
        <p:spPr>
          <a:xfrm>
            <a:off x="8119872" y="2752344"/>
            <a:ext cx="210312" cy="210312"/>
          </a:xfrm>
          <a:prstGeom prst="rect">
            <a:avLst/>
          </a:prstGeom>
          <a:solidFill>
            <a:srgbClr val="26292F"/>
          </a:solidFill>
          <a:ln/>
        </p:spPr>
      </p:sp>
      <p:sp>
        <p:nvSpPr>
          <p:cNvPr id="88" name="ui key 0"/>
          <p:cNvSpPr txBox="1"/>
          <p:nvPr/>
        </p:nvSpPr>
        <p:spPr>
          <a:xfrm>
            <a:off x="5742432" y="3172968"/>
            <a:ext cx="1280160" cy="274320"/>
          </a:xfrm>
          <a:prstGeom prst="rect">
            <a:avLst/>
          </a:prstGeom>
          <a:noFill/>
          <a:ln/>
        </p:spPr>
        <p:txBody>
          <a:bodyPr wrap="square" lIns="0" tIns="0" rIns="0" bIns="0" rtlCol="0" anchor="ctr"/>
          <a:lstStyle/>
          <a:p>
            <a:pPr indent="0" marL="0">
              <a:buNone/>
            </a:pPr>
            <a:r>
              <a:rPr lang="en-US" sz="1100" dirty="0">
                <a:solidFill>
                  <a:srgbClr val="8A919E"/>
                </a:solidFill>
                <a:latin typeface="프리젠테이션 4 Regular" pitchFamily="34" charset="0"/>
                <a:ea typeface="프리젠테이션 4 Regular" pitchFamily="34" charset="-122"/>
                <a:cs typeface="프리젠테이션 4 Regular" pitchFamily="34" charset="-120"/>
              </a:rPr>
              <a:t>Grid size</a:t>
            </a:r>
            <a:endParaRPr lang="en-US" sz="1100" dirty="0"/>
          </a:p>
        </p:txBody>
      </p:sp>
      <p:sp>
        <p:nvSpPr>
          <p:cNvPr id="89" name="ui val 0"/>
          <p:cNvSpPr txBox="1"/>
          <p:nvPr/>
        </p:nvSpPr>
        <p:spPr>
          <a:xfrm>
            <a:off x="6858000" y="3172968"/>
            <a:ext cx="1554480" cy="274320"/>
          </a:xfrm>
          <a:prstGeom prst="rect">
            <a:avLst/>
          </a:prstGeom>
          <a:noFill/>
          <a:ln/>
        </p:spPr>
        <p:txBody>
          <a:bodyPr wrap="square" lIns="0" tIns="0" rIns="0" bIns="0" rtlCol="0" anchor="ctr"/>
          <a:lstStyle/>
          <a:p>
            <a:pPr algn="r" indent="0" marL="0">
              <a:buNone/>
            </a:pPr>
            <a:r>
              <a:rPr lang="en-US" sz="1100" dirty="0">
                <a:solidFill>
                  <a:srgbClr val="FFFFFF"/>
                </a:solidFill>
                <a:latin typeface="프리젠테이션 7 Bold" pitchFamily="34" charset="0"/>
                <a:ea typeface="프리젠테이션 7 Bold" pitchFamily="34" charset="-122"/>
                <a:cs typeface="프리젠테이션 7 Bold" pitchFamily="34" charset="-120"/>
              </a:rPr>
              <a:t>500 m</a:t>
            </a:r>
            <a:endParaRPr lang="en-US" sz="1100" dirty="0"/>
          </a:p>
        </p:txBody>
      </p:sp>
      <p:sp>
        <p:nvSpPr>
          <p:cNvPr id="90" name="ui key 1"/>
          <p:cNvSpPr txBox="1"/>
          <p:nvPr/>
        </p:nvSpPr>
        <p:spPr>
          <a:xfrm>
            <a:off x="5742432" y="3502152"/>
            <a:ext cx="1280160" cy="274320"/>
          </a:xfrm>
          <a:prstGeom prst="rect">
            <a:avLst/>
          </a:prstGeom>
          <a:noFill/>
          <a:ln/>
        </p:spPr>
        <p:txBody>
          <a:bodyPr wrap="square" lIns="0" tIns="0" rIns="0" bIns="0" rtlCol="0" anchor="ctr"/>
          <a:lstStyle/>
          <a:p>
            <a:pPr indent="0" marL="0">
              <a:buNone/>
            </a:pPr>
            <a:r>
              <a:rPr lang="en-US" sz="1100" dirty="0">
                <a:solidFill>
                  <a:srgbClr val="8A919E"/>
                </a:solidFill>
                <a:latin typeface="프리젠테이션 4 Regular" pitchFamily="34" charset="0"/>
                <a:ea typeface="프리젠테이션 4 Regular" pitchFamily="34" charset="-122"/>
                <a:cs typeface="프리젠테이션 4 Regular" pitchFamily="34" charset="-120"/>
              </a:rPr>
              <a:t>Vessel groups</a:t>
            </a:r>
            <a:endParaRPr lang="en-US" sz="1100" dirty="0"/>
          </a:p>
        </p:txBody>
      </p:sp>
      <p:sp>
        <p:nvSpPr>
          <p:cNvPr id="91" name="ui val 1"/>
          <p:cNvSpPr txBox="1"/>
          <p:nvPr/>
        </p:nvSpPr>
        <p:spPr>
          <a:xfrm>
            <a:off x="6858000" y="3502152"/>
            <a:ext cx="1554480" cy="274320"/>
          </a:xfrm>
          <a:prstGeom prst="rect">
            <a:avLst/>
          </a:prstGeom>
          <a:noFill/>
          <a:ln/>
        </p:spPr>
        <p:txBody>
          <a:bodyPr wrap="square" lIns="0" tIns="0" rIns="0" bIns="0" rtlCol="0" anchor="ctr"/>
          <a:lstStyle/>
          <a:p>
            <a:pPr algn="r" indent="0" marL="0">
              <a:buNone/>
            </a:pPr>
            <a:r>
              <a:rPr lang="en-US" sz="1100" dirty="0">
                <a:solidFill>
                  <a:srgbClr val="FFFFFF"/>
                </a:solidFill>
                <a:latin typeface="프리젠테이션 7 Bold" pitchFamily="34" charset="0"/>
                <a:ea typeface="프리젠테이션 7 Bold" pitchFamily="34" charset="-122"/>
                <a:cs typeface="프리젠테이션 7 Bold" pitchFamily="34" charset="-120"/>
              </a:rPr>
              <a:t>Cargo · Tanker</a:t>
            </a:r>
            <a:endParaRPr lang="en-US" sz="1100" dirty="0"/>
          </a:p>
        </p:txBody>
      </p:sp>
      <p:sp>
        <p:nvSpPr>
          <p:cNvPr id="92" name="ui key 2"/>
          <p:cNvSpPr txBox="1"/>
          <p:nvPr/>
        </p:nvSpPr>
        <p:spPr>
          <a:xfrm>
            <a:off x="5742432" y="3831336"/>
            <a:ext cx="1280160" cy="274320"/>
          </a:xfrm>
          <a:prstGeom prst="rect">
            <a:avLst/>
          </a:prstGeom>
          <a:noFill/>
          <a:ln/>
        </p:spPr>
        <p:txBody>
          <a:bodyPr wrap="square" lIns="0" tIns="0" rIns="0" bIns="0" rtlCol="0" anchor="ctr"/>
          <a:lstStyle/>
          <a:p>
            <a:pPr indent="0" marL="0">
              <a:buNone/>
            </a:pPr>
            <a:r>
              <a:rPr lang="en-US" sz="1100" dirty="0">
                <a:solidFill>
                  <a:srgbClr val="8A919E"/>
                </a:solidFill>
                <a:latin typeface="프리젠테이션 4 Regular" pitchFamily="34" charset="0"/>
                <a:ea typeface="프리젠테이션 4 Regular" pitchFamily="34" charset="-122"/>
                <a:cs typeface="프리젠테이션 4 Regular" pitchFamily="34" charset="-120"/>
              </a:rPr>
              <a:t>Candidate rule</a:t>
            </a:r>
            <a:endParaRPr lang="en-US" sz="1100" dirty="0"/>
          </a:p>
        </p:txBody>
      </p:sp>
      <p:sp>
        <p:nvSpPr>
          <p:cNvPr id="93" name="ui val 2"/>
          <p:cNvSpPr txBox="1"/>
          <p:nvPr/>
        </p:nvSpPr>
        <p:spPr>
          <a:xfrm>
            <a:off x="6858000" y="3831336"/>
            <a:ext cx="1554480" cy="274320"/>
          </a:xfrm>
          <a:prstGeom prst="rect">
            <a:avLst/>
          </a:prstGeom>
          <a:noFill/>
          <a:ln/>
        </p:spPr>
        <p:txBody>
          <a:bodyPr wrap="square" lIns="0" tIns="0" rIns="0" bIns="0" rtlCol="0" anchor="ctr"/>
          <a:lstStyle/>
          <a:p>
            <a:pPr algn="r" indent="0" marL="0">
              <a:buNone/>
            </a:pPr>
            <a:r>
              <a:rPr lang="en-US" sz="1100" dirty="0">
                <a:solidFill>
                  <a:srgbClr val="FFFFFF"/>
                </a:solidFill>
                <a:latin typeface="프리젠테이션 7 Bold" pitchFamily="34" charset="0"/>
                <a:ea typeface="프리젠테이션 7 Bold" pitchFamily="34" charset="-122"/>
                <a:cs typeface="프리젠테이션 7 Bold" pitchFamily="34" charset="-120"/>
              </a:rPr>
              <a:t>Top 10% unique MMSI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02 — TEAM</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Meet the team</a:t>
            </a:r>
            <a:endParaRPr lang="en-US" sz="3600" dirty="0"/>
          </a:p>
        </p:txBody>
      </p:sp>
      <p:sp>
        <p:nvSpPr>
          <p:cNvPr id="4" name="member card 0"/>
          <p:cNvSpPr/>
          <p:nvPr/>
        </p:nvSpPr>
        <p:spPr>
          <a:xfrm>
            <a:off x="457200" y="1508760"/>
            <a:ext cx="1828800" cy="2971800"/>
          </a:xfrm>
          <a:prstGeom prst="roundRect">
            <a:avLst>
              <a:gd name="adj" fmla="val 11000"/>
            </a:avLst>
          </a:prstGeom>
          <a:solidFill>
            <a:srgbClr val="EEF0F3"/>
          </a:solidFill>
          <a:ln/>
        </p:spPr>
      </p:sp>
      <p:sp>
        <p:nvSpPr>
          <p:cNvPr id="5" name="avatar 0"/>
          <p:cNvSpPr txBox="1"/>
          <p:nvPr/>
        </p:nvSpPr>
        <p:spPr>
          <a:xfrm>
            <a:off x="731520" y="1783080"/>
            <a:ext cx="685800" cy="685800"/>
          </a:xfrm>
          <a:prstGeom prst="ellipse">
            <a:avLst/>
          </a:prstGeom>
          <a:solidFill>
            <a:srgbClr val="0A0B0D"/>
          </a:solidFill>
          <a:ln/>
        </p:spPr>
        <p:txBody>
          <a:bodyPr wrap="square" lIns="0" tIns="0" rIns="0" bIns="0" rtlCol="0" anchor="ctr"/>
          <a:lstStyle/>
          <a:p>
            <a:pPr algn="ctr" indent="0" marL="0">
              <a:buNone/>
            </a:pPr>
            <a:r>
              <a:rPr lang="en-US" sz="2200" dirty="0">
                <a:solidFill>
                  <a:srgbClr val="FFFFFF"/>
                </a:solidFill>
                <a:latin typeface="프리젠테이션 4 Regular" pitchFamily="34" charset="0"/>
                <a:ea typeface="프리젠테이션 4 Regular" pitchFamily="34" charset="-122"/>
                <a:cs typeface="프리젠테이션 4 Regular" pitchFamily="34" charset="-120"/>
              </a:rPr>
              <a:t>고</a:t>
            </a:r>
            <a:endParaRPr lang="en-US" sz="2200" dirty="0"/>
          </a:p>
        </p:txBody>
      </p:sp>
      <p:sp>
        <p:nvSpPr>
          <p:cNvPr id="6" name="name 0"/>
          <p:cNvSpPr txBox="1"/>
          <p:nvPr/>
        </p:nvSpPr>
        <p:spPr>
          <a:xfrm>
            <a:off x="731520" y="2651760"/>
            <a:ext cx="1371600" cy="365760"/>
          </a:xfrm>
          <a:prstGeom prst="rect">
            <a:avLst/>
          </a:prstGeom>
          <a:noFill/>
          <a:ln/>
        </p:spPr>
        <p:txBody>
          <a:bodyPr wrap="square" lIns="0" tIns="0" rIns="0" bIns="0" rtlCol="0" anchor="ctr"/>
          <a:lstStyle/>
          <a:p>
            <a:pPr indent="0" marL="0">
              <a:buNone/>
            </a:pPr>
            <a:r>
              <a:rPr lang="en-US" sz="1800" dirty="0">
                <a:solidFill>
                  <a:srgbClr val="0A0B0D"/>
                </a:solidFill>
                <a:latin typeface="프리젠테이션 7 Bold" pitchFamily="34" charset="0"/>
                <a:ea typeface="프리젠테이션 7 Bold" pitchFamily="34" charset="-122"/>
                <a:cs typeface="프리젠테이션 7 Bold" pitchFamily="34" charset="-120"/>
              </a:rPr>
              <a:t>고영조</a:t>
            </a:r>
            <a:endParaRPr lang="en-US" sz="1800" dirty="0"/>
          </a:p>
        </p:txBody>
      </p:sp>
      <p:sp>
        <p:nvSpPr>
          <p:cNvPr id="7" name="bg 0"/>
          <p:cNvSpPr txBox="1"/>
          <p:nvPr/>
        </p:nvSpPr>
        <p:spPr>
          <a:xfrm>
            <a:off x="731520" y="3017520"/>
            <a:ext cx="1371600" cy="274320"/>
          </a:xfrm>
          <a:prstGeom prst="rect">
            <a:avLst/>
          </a:prstGeom>
          <a:noFill/>
          <a:ln/>
        </p:spPr>
        <p:txBody>
          <a:bodyPr wrap="square" lIns="0" tIns="0" rIns="0" bIns="0" rtlCol="0" anchor="ctr"/>
          <a:lstStyle/>
          <a:p>
            <a:pPr indent="0" marL="0">
              <a:buNone/>
            </a:pPr>
            <a:r>
              <a:rPr lang="en-US" sz="1200" dirty="0">
                <a:solidFill>
                  <a:srgbClr val="5B616E"/>
                </a:solidFill>
                <a:latin typeface="프리젠테이션 4 Regular" pitchFamily="34" charset="0"/>
                <a:ea typeface="프리젠테이션 4 Regular" pitchFamily="34" charset="-122"/>
                <a:cs typeface="프리젠테이션 4 Regular" pitchFamily="34" charset="-120"/>
              </a:rPr>
              <a:t>[Major / lab]</a:t>
            </a:r>
            <a:endParaRPr lang="en-US" sz="1200" dirty="0"/>
          </a:p>
        </p:txBody>
      </p:sp>
      <p:sp>
        <p:nvSpPr>
          <p:cNvPr id="8" name="interest 0"/>
          <p:cNvSpPr txBox="1"/>
          <p:nvPr/>
        </p:nvSpPr>
        <p:spPr>
          <a:xfrm>
            <a:off x="731520" y="3319272"/>
            <a:ext cx="1371600" cy="594360"/>
          </a:xfrm>
          <a:prstGeom prst="rect">
            <a:avLst/>
          </a:prstGeom>
          <a:noFill/>
          <a:ln/>
        </p:spPr>
        <p:txBody>
          <a:bodyPr wrap="square" lIns="0" tIns="0" rIns="0" bIns="0" rtlCol="0" anchor="t"/>
          <a:lstStyle/>
          <a:p>
            <a:pPr indent="0" marL="0">
              <a:buNone/>
            </a:pPr>
            <a:r>
              <a:rPr lang="en-US" sz="1200" dirty="0">
                <a:solidFill>
                  <a:srgbClr val="5B616E"/>
                </a:solidFill>
                <a:latin typeface="프리젠테이션 4 Regular" pitchFamily="34" charset="0"/>
                <a:ea typeface="프리젠테이션 4 Regular" pitchFamily="34" charset="-122"/>
                <a:cs typeface="프리젠테이션 4 Regular" pitchFamily="34" charset="-120"/>
              </a:rPr>
              <a:t>[Research interest]</a:t>
            </a:r>
            <a:endParaRPr lang="en-US" sz="1200" dirty="0"/>
          </a:p>
        </p:txBody>
      </p:sp>
      <p:sp>
        <p:nvSpPr>
          <p:cNvPr id="9" name="role pill 0"/>
          <p:cNvSpPr txBox="1"/>
          <p:nvPr/>
        </p:nvSpPr>
        <p:spPr>
          <a:xfrm>
            <a:off x="731520" y="3977640"/>
            <a:ext cx="1188720" cy="274320"/>
          </a:xfrm>
          <a:prstGeom prst="roundRect">
            <a:avLst>
              <a:gd name="adj" fmla="val 50000"/>
            </a:avLst>
          </a:prstGeom>
          <a:solidFill>
            <a:srgbClr val="FFFFFF"/>
          </a:solidFill>
          <a:ln/>
        </p:spPr>
        <p:txBody>
          <a:bodyPr wrap="square" lIns="0" tIns="0" rIns="0" bIns="0" rtlCol="0" anchor="ctr"/>
          <a:lstStyle/>
          <a:p>
            <a:pPr algn="ctr" indent="0" marL="0">
              <a:buNone/>
            </a:pPr>
            <a:r>
              <a:rPr lang="en-US" sz="1100" dirty="0">
                <a:solidFill>
                  <a:srgbClr val="0A0B0D"/>
                </a:solidFill>
                <a:latin typeface="프리젠테이션 4 Regular" pitchFamily="34" charset="0"/>
                <a:ea typeface="프리젠테이션 4 Regular" pitchFamily="34" charset="-122"/>
                <a:cs typeface="프리젠테이션 4 Regular" pitchFamily="34" charset="-120"/>
              </a:rPr>
              <a:t>Role · TBD</a:t>
            </a:r>
            <a:endParaRPr lang="en-US" sz="1100" dirty="0"/>
          </a:p>
        </p:txBody>
      </p:sp>
      <p:sp>
        <p:nvSpPr>
          <p:cNvPr id="10" name="member card 1"/>
          <p:cNvSpPr/>
          <p:nvPr/>
        </p:nvSpPr>
        <p:spPr>
          <a:xfrm>
            <a:off x="2587752" y="1508760"/>
            <a:ext cx="1828800" cy="2971800"/>
          </a:xfrm>
          <a:prstGeom prst="roundRect">
            <a:avLst>
              <a:gd name="adj" fmla="val 11000"/>
            </a:avLst>
          </a:prstGeom>
          <a:solidFill>
            <a:srgbClr val="EEF0F3"/>
          </a:solidFill>
          <a:ln/>
        </p:spPr>
      </p:sp>
      <p:sp>
        <p:nvSpPr>
          <p:cNvPr id="11" name="avatar 1"/>
          <p:cNvSpPr txBox="1"/>
          <p:nvPr/>
        </p:nvSpPr>
        <p:spPr>
          <a:xfrm>
            <a:off x="2862072" y="1783080"/>
            <a:ext cx="685800" cy="685800"/>
          </a:xfrm>
          <a:prstGeom prst="ellipse">
            <a:avLst/>
          </a:prstGeom>
          <a:solidFill>
            <a:srgbClr val="0A0B0D"/>
          </a:solidFill>
          <a:ln/>
        </p:spPr>
        <p:txBody>
          <a:bodyPr wrap="square" lIns="0" tIns="0" rIns="0" bIns="0" rtlCol="0" anchor="ctr"/>
          <a:lstStyle/>
          <a:p>
            <a:pPr algn="ctr" indent="0" marL="0">
              <a:buNone/>
            </a:pPr>
            <a:r>
              <a:rPr lang="en-US" sz="2200" dirty="0">
                <a:solidFill>
                  <a:srgbClr val="FFFFFF"/>
                </a:solidFill>
                <a:latin typeface="프리젠테이션 4 Regular" pitchFamily="34" charset="0"/>
                <a:ea typeface="프리젠테이션 4 Regular" pitchFamily="34" charset="-122"/>
                <a:cs typeface="프리젠테이션 4 Regular" pitchFamily="34" charset="-120"/>
              </a:rPr>
              <a:t>김</a:t>
            </a:r>
            <a:endParaRPr lang="en-US" sz="2200" dirty="0"/>
          </a:p>
        </p:txBody>
      </p:sp>
      <p:sp>
        <p:nvSpPr>
          <p:cNvPr id="12" name="name 1"/>
          <p:cNvSpPr txBox="1"/>
          <p:nvPr/>
        </p:nvSpPr>
        <p:spPr>
          <a:xfrm>
            <a:off x="2862072" y="2651760"/>
            <a:ext cx="1371600" cy="365760"/>
          </a:xfrm>
          <a:prstGeom prst="rect">
            <a:avLst/>
          </a:prstGeom>
          <a:noFill/>
          <a:ln/>
        </p:spPr>
        <p:txBody>
          <a:bodyPr wrap="square" lIns="0" tIns="0" rIns="0" bIns="0" rtlCol="0" anchor="ctr"/>
          <a:lstStyle/>
          <a:p>
            <a:pPr indent="0" marL="0">
              <a:buNone/>
            </a:pPr>
            <a:r>
              <a:rPr lang="en-US" sz="1800" dirty="0">
                <a:solidFill>
                  <a:srgbClr val="0A0B0D"/>
                </a:solidFill>
                <a:latin typeface="프리젠테이션 7 Bold" pitchFamily="34" charset="0"/>
                <a:ea typeface="프리젠테이션 7 Bold" pitchFamily="34" charset="-122"/>
                <a:cs typeface="프리젠테이션 7 Bold" pitchFamily="34" charset="-120"/>
              </a:rPr>
              <a:t>김희선</a:t>
            </a:r>
            <a:endParaRPr lang="en-US" sz="1800" dirty="0"/>
          </a:p>
        </p:txBody>
      </p:sp>
      <p:sp>
        <p:nvSpPr>
          <p:cNvPr id="13" name="bg 1"/>
          <p:cNvSpPr txBox="1"/>
          <p:nvPr/>
        </p:nvSpPr>
        <p:spPr>
          <a:xfrm>
            <a:off x="2862072" y="3017520"/>
            <a:ext cx="1371600" cy="274320"/>
          </a:xfrm>
          <a:prstGeom prst="rect">
            <a:avLst/>
          </a:prstGeom>
          <a:noFill/>
          <a:ln/>
        </p:spPr>
        <p:txBody>
          <a:bodyPr wrap="square" lIns="0" tIns="0" rIns="0" bIns="0" rtlCol="0" anchor="ctr"/>
          <a:lstStyle/>
          <a:p>
            <a:pPr indent="0" marL="0">
              <a:buNone/>
            </a:pPr>
            <a:r>
              <a:rPr lang="en-US" sz="1200" dirty="0">
                <a:solidFill>
                  <a:srgbClr val="5B616E"/>
                </a:solidFill>
                <a:latin typeface="프리젠테이션 4 Regular" pitchFamily="34" charset="0"/>
                <a:ea typeface="프리젠테이션 4 Regular" pitchFamily="34" charset="-122"/>
                <a:cs typeface="프리젠테이션 4 Regular" pitchFamily="34" charset="-120"/>
              </a:rPr>
              <a:t>[Major / lab]</a:t>
            </a:r>
            <a:endParaRPr lang="en-US" sz="1200" dirty="0"/>
          </a:p>
        </p:txBody>
      </p:sp>
      <p:sp>
        <p:nvSpPr>
          <p:cNvPr id="14" name="interest 1"/>
          <p:cNvSpPr txBox="1"/>
          <p:nvPr/>
        </p:nvSpPr>
        <p:spPr>
          <a:xfrm>
            <a:off x="2862072" y="3319272"/>
            <a:ext cx="1371600" cy="594360"/>
          </a:xfrm>
          <a:prstGeom prst="rect">
            <a:avLst/>
          </a:prstGeom>
          <a:noFill/>
          <a:ln/>
        </p:spPr>
        <p:txBody>
          <a:bodyPr wrap="square" lIns="0" tIns="0" rIns="0" bIns="0" rtlCol="0" anchor="t"/>
          <a:lstStyle/>
          <a:p>
            <a:pPr indent="0" marL="0">
              <a:buNone/>
            </a:pPr>
            <a:r>
              <a:rPr lang="en-US" sz="1200" dirty="0">
                <a:solidFill>
                  <a:srgbClr val="5B616E"/>
                </a:solidFill>
                <a:latin typeface="프리젠테이션 4 Regular" pitchFamily="34" charset="0"/>
                <a:ea typeface="프리젠테이션 4 Regular" pitchFamily="34" charset="-122"/>
                <a:cs typeface="프리젠테이션 4 Regular" pitchFamily="34" charset="-120"/>
              </a:rPr>
              <a:t>[Research interest]</a:t>
            </a:r>
            <a:endParaRPr lang="en-US" sz="1200" dirty="0"/>
          </a:p>
        </p:txBody>
      </p:sp>
      <p:sp>
        <p:nvSpPr>
          <p:cNvPr id="15" name="role pill 1"/>
          <p:cNvSpPr txBox="1"/>
          <p:nvPr/>
        </p:nvSpPr>
        <p:spPr>
          <a:xfrm>
            <a:off x="2862072" y="3977640"/>
            <a:ext cx="1188720" cy="274320"/>
          </a:xfrm>
          <a:prstGeom prst="roundRect">
            <a:avLst>
              <a:gd name="adj" fmla="val 50000"/>
            </a:avLst>
          </a:prstGeom>
          <a:solidFill>
            <a:srgbClr val="FFFFFF"/>
          </a:solidFill>
          <a:ln/>
        </p:spPr>
        <p:txBody>
          <a:bodyPr wrap="square" lIns="0" tIns="0" rIns="0" bIns="0" rtlCol="0" anchor="ctr"/>
          <a:lstStyle/>
          <a:p>
            <a:pPr algn="ctr" indent="0" marL="0">
              <a:buNone/>
            </a:pPr>
            <a:r>
              <a:rPr lang="en-US" sz="1100" dirty="0">
                <a:solidFill>
                  <a:srgbClr val="0A0B0D"/>
                </a:solidFill>
                <a:latin typeface="프리젠테이션 4 Regular" pitchFamily="34" charset="0"/>
                <a:ea typeface="프리젠테이션 4 Regular" pitchFamily="34" charset="-122"/>
                <a:cs typeface="프리젠테이션 4 Regular" pitchFamily="34" charset="-120"/>
              </a:rPr>
              <a:t>Role · TBD</a:t>
            </a:r>
            <a:endParaRPr lang="en-US" sz="1100" dirty="0"/>
          </a:p>
        </p:txBody>
      </p:sp>
      <p:sp>
        <p:nvSpPr>
          <p:cNvPr id="16" name="member card 2"/>
          <p:cNvSpPr/>
          <p:nvPr/>
        </p:nvSpPr>
        <p:spPr>
          <a:xfrm>
            <a:off x="4718304" y="1508760"/>
            <a:ext cx="1828800" cy="2971800"/>
          </a:xfrm>
          <a:prstGeom prst="roundRect">
            <a:avLst>
              <a:gd name="adj" fmla="val 11000"/>
            </a:avLst>
          </a:prstGeom>
          <a:solidFill>
            <a:srgbClr val="EEF0F3"/>
          </a:solidFill>
          <a:ln/>
        </p:spPr>
      </p:sp>
      <p:pic>
        <p:nvPicPr>
          <p:cNvPr id="17" name="photo 2" descr="Photo of 백지원">    </p:cNvPr>
          <p:cNvPicPr>
            <a:picLocks noChangeAspect="1"/>
          </p:cNvPicPr>
          <p:nvPr/>
        </p:nvPicPr>
        <p:blipFill>
          <a:blip r:embed="rId1"/>
          <a:stretch>
            <a:fillRect/>
          </a:stretch>
        </p:blipFill>
        <p:spPr>
          <a:xfrm>
            <a:off x="4992624" y="1783080"/>
            <a:ext cx="685800" cy="685800"/>
          </a:xfrm>
          <a:prstGeom prst="ellipse">
            <a:avLst/>
          </a:prstGeom>
        </p:spPr>
      </p:pic>
      <p:sp>
        <p:nvSpPr>
          <p:cNvPr id="18" name="name 2"/>
          <p:cNvSpPr txBox="1"/>
          <p:nvPr/>
        </p:nvSpPr>
        <p:spPr>
          <a:xfrm>
            <a:off x="4992624" y="2651760"/>
            <a:ext cx="1371600" cy="365760"/>
          </a:xfrm>
          <a:prstGeom prst="rect">
            <a:avLst/>
          </a:prstGeom>
          <a:noFill/>
          <a:ln/>
        </p:spPr>
        <p:txBody>
          <a:bodyPr wrap="square" lIns="0" tIns="0" rIns="0" bIns="0" rtlCol="0" anchor="ctr"/>
          <a:lstStyle/>
          <a:p>
            <a:pPr indent="0" marL="0">
              <a:buNone/>
            </a:pPr>
            <a:r>
              <a:rPr lang="en-US" sz="1800" dirty="0">
                <a:solidFill>
                  <a:srgbClr val="0A0B0D"/>
                </a:solidFill>
                <a:latin typeface="프리젠테이션 7 Bold" pitchFamily="34" charset="0"/>
                <a:ea typeface="프리젠테이션 7 Bold" pitchFamily="34" charset="-122"/>
                <a:cs typeface="프리젠테이션 7 Bold" pitchFamily="34" charset="-120"/>
              </a:rPr>
              <a:t>백지원</a:t>
            </a:r>
            <a:endParaRPr lang="en-US" sz="1800" dirty="0"/>
          </a:p>
        </p:txBody>
      </p:sp>
      <p:sp>
        <p:nvSpPr>
          <p:cNvPr id="19" name="bg 2"/>
          <p:cNvSpPr txBox="1"/>
          <p:nvPr/>
        </p:nvSpPr>
        <p:spPr>
          <a:xfrm>
            <a:off x="4992624" y="3017520"/>
            <a:ext cx="1371600" cy="274320"/>
          </a:xfrm>
          <a:prstGeom prst="rect">
            <a:avLst/>
          </a:prstGeom>
          <a:noFill/>
          <a:ln/>
        </p:spPr>
        <p:txBody>
          <a:bodyPr wrap="square" lIns="0" tIns="0" rIns="0" bIns="0" rtlCol="0" anchor="ctr"/>
          <a:lstStyle/>
          <a:p>
            <a:pPr indent="0" marL="0">
              <a:buNone/>
            </a:pPr>
            <a:r>
              <a:rPr lang="en-US" sz="1200" dirty="0">
                <a:solidFill>
                  <a:srgbClr val="5B616E"/>
                </a:solidFill>
                <a:latin typeface="프리젠테이션 4 Regular" pitchFamily="34" charset="0"/>
                <a:ea typeface="프리젠테이션 4 Regular" pitchFamily="34" charset="-122"/>
                <a:cs typeface="프리젠테이션 4 Regular" pitchFamily="34" charset="-120"/>
              </a:rPr>
              <a:t>Ph.D. Candidate</a:t>
            </a:r>
            <a:endParaRPr lang="en-US" sz="1200" dirty="0"/>
          </a:p>
        </p:txBody>
      </p:sp>
      <p:sp>
        <p:nvSpPr>
          <p:cNvPr id="20" name="interest 2"/>
          <p:cNvSpPr txBox="1"/>
          <p:nvPr/>
        </p:nvSpPr>
        <p:spPr>
          <a:xfrm>
            <a:off x="4992624" y="3319272"/>
            <a:ext cx="1371600" cy="594360"/>
          </a:xfrm>
          <a:prstGeom prst="rect">
            <a:avLst/>
          </a:prstGeom>
          <a:noFill/>
          <a:ln/>
        </p:spPr>
        <p:txBody>
          <a:bodyPr wrap="square" lIns="0" tIns="0" rIns="0" bIns="0" rtlCol="0" anchor="t"/>
          <a:lstStyle/>
          <a:p>
            <a:pPr indent="0" marL="0">
              <a:buNone/>
            </a:pPr>
            <a:r>
              <a:rPr lang="en-US" sz="1200" dirty="0">
                <a:solidFill>
                  <a:srgbClr val="5B616E"/>
                </a:solidFill>
                <a:latin typeface="프리젠테이션 4 Regular" pitchFamily="34" charset="0"/>
                <a:ea typeface="프리젠테이션 4 Regular" pitchFamily="34" charset="-122"/>
                <a:cs typeface="프리젠테이션 4 Regular" pitchFamily="34" charset="-120"/>
              </a:rPr>
              <a:t>Scheduling · MARL</a:t>
            </a:r>
            <a:endParaRPr lang="en-US" sz="1200" dirty="0"/>
          </a:p>
        </p:txBody>
      </p:sp>
      <p:sp>
        <p:nvSpPr>
          <p:cNvPr id="21" name="role pill 2"/>
          <p:cNvSpPr txBox="1"/>
          <p:nvPr/>
        </p:nvSpPr>
        <p:spPr>
          <a:xfrm>
            <a:off x="4992624" y="3977640"/>
            <a:ext cx="1188720" cy="274320"/>
          </a:xfrm>
          <a:prstGeom prst="roundRect">
            <a:avLst>
              <a:gd name="adj" fmla="val 50000"/>
            </a:avLst>
          </a:prstGeom>
          <a:solidFill>
            <a:srgbClr val="FFFFFF"/>
          </a:solidFill>
          <a:ln/>
        </p:spPr>
        <p:txBody>
          <a:bodyPr wrap="square" lIns="0" tIns="0" rIns="0" bIns="0" rtlCol="0" anchor="ctr"/>
          <a:lstStyle/>
          <a:p>
            <a:pPr algn="ctr" indent="0" marL="0">
              <a:buNone/>
            </a:pPr>
            <a:r>
              <a:rPr lang="en-US" sz="1100" dirty="0">
                <a:solidFill>
                  <a:srgbClr val="0A0B0D"/>
                </a:solidFill>
                <a:latin typeface="프리젠테이션 4 Regular" pitchFamily="34" charset="0"/>
                <a:ea typeface="프리젠테이션 4 Regular" pitchFamily="34" charset="-122"/>
                <a:cs typeface="프리젠테이션 4 Regular" pitchFamily="34" charset="-120"/>
              </a:rPr>
              <a:t>Role · TBD</a:t>
            </a:r>
            <a:endParaRPr lang="en-US" sz="1100" dirty="0"/>
          </a:p>
        </p:txBody>
      </p:sp>
      <p:sp>
        <p:nvSpPr>
          <p:cNvPr id="22" name="member card 3"/>
          <p:cNvSpPr/>
          <p:nvPr/>
        </p:nvSpPr>
        <p:spPr>
          <a:xfrm>
            <a:off x="6848856" y="1508760"/>
            <a:ext cx="1828800" cy="2971800"/>
          </a:xfrm>
          <a:prstGeom prst="roundRect">
            <a:avLst>
              <a:gd name="adj" fmla="val 11000"/>
            </a:avLst>
          </a:prstGeom>
          <a:solidFill>
            <a:srgbClr val="EEF0F3"/>
          </a:solidFill>
          <a:ln/>
        </p:spPr>
      </p:sp>
      <p:sp>
        <p:nvSpPr>
          <p:cNvPr id="23" name="avatar 3"/>
          <p:cNvSpPr txBox="1"/>
          <p:nvPr/>
        </p:nvSpPr>
        <p:spPr>
          <a:xfrm>
            <a:off x="7123176" y="1783080"/>
            <a:ext cx="685800" cy="685800"/>
          </a:xfrm>
          <a:prstGeom prst="ellipse">
            <a:avLst/>
          </a:prstGeom>
          <a:solidFill>
            <a:srgbClr val="0A0B0D"/>
          </a:solidFill>
          <a:ln/>
        </p:spPr>
        <p:txBody>
          <a:bodyPr wrap="square" lIns="0" tIns="0" rIns="0" bIns="0" rtlCol="0" anchor="ctr"/>
          <a:lstStyle/>
          <a:p>
            <a:pPr algn="ctr" indent="0" marL="0">
              <a:buNone/>
            </a:pPr>
            <a:r>
              <a:rPr lang="en-US" sz="2200" dirty="0">
                <a:solidFill>
                  <a:srgbClr val="FFFFFF"/>
                </a:solidFill>
                <a:latin typeface="프리젠테이션 4 Regular" pitchFamily="34" charset="0"/>
                <a:ea typeface="프리젠테이션 4 Regular" pitchFamily="34" charset="-122"/>
                <a:cs typeface="프리젠테이션 4 Regular" pitchFamily="34" charset="-120"/>
              </a:rPr>
              <a:t>조</a:t>
            </a:r>
            <a:endParaRPr lang="en-US" sz="2200" dirty="0"/>
          </a:p>
        </p:txBody>
      </p:sp>
      <p:sp>
        <p:nvSpPr>
          <p:cNvPr id="24" name="name 3"/>
          <p:cNvSpPr txBox="1"/>
          <p:nvPr/>
        </p:nvSpPr>
        <p:spPr>
          <a:xfrm>
            <a:off x="7123176" y="2651760"/>
            <a:ext cx="1371600" cy="365760"/>
          </a:xfrm>
          <a:prstGeom prst="rect">
            <a:avLst/>
          </a:prstGeom>
          <a:noFill/>
          <a:ln/>
        </p:spPr>
        <p:txBody>
          <a:bodyPr wrap="square" lIns="0" tIns="0" rIns="0" bIns="0" rtlCol="0" anchor="ctr"/>
          <a:lstStyle/>
          <a:p>
            <a:pPr indent="0" marL="0">
              <a:buNone/>
            </a:pPr>
            <a:r>
              <a:rPr lang="en-US" sz="1800" dirty="0">
                <a:solidFill>
                  <a:srgbClr val="0A0B0D"/>
                </a:solidFill>
                <a:latin typeface="프리젠테이션 7 Bold" pitchFamily="34" charset="0"/>
                <a:ea typeface="프리젠테이션 7 Bold" pitchFamily="34" charset="-122"/>
                <a:cs typeface="프리젠테이션 7 Bold" pitchFamily="34" charset="-120"/>
              </a:rPr>
              <a:t>조민제</a:t>
            </a:r>
            <a:endParaRPr lang="en-US" sz="1800" dirty="0"/>
          </a:p>
        </p:txBody>
      </p:sp>
      <p:sp>
        <p:nvSpPr>
          <p:cNvPr id="25" name="bg 3"/>
          <p:cNvSpPr txBox="1"/>
          <p:nvPr/>
        </p:nvSpPr>
        <p:spPr>
          <a:xfrm>
            <a:off x="7123176" y="3017520"/>
            <a:ext cx="1371600" cy="274320"/>
          </a:xfrm>
          <a:prstGeom prst="rect">
            <a:avLst/>
          </a:prstGeom>
          <a:noFill/>
          <a:ln/>
        </p:spPr>
        <p:txBody>
          <a:bodyPr wrap="square" lIns="0" tIns="0" rIns="0" bIns="0" rtlCol="0" anchor="ctr"/>
          <a:lstStyle/>
          <a:p>
            <a:pPr indent="0" marL="0">
              <a:buNone/>
            </a:pPr>
            <a:r>
              <a:rPr lang="en-US" sz="1200" dirty="0">
                <a:solidFill>
                  <a:srgbClr val="5B616E"/>
                </a:solidFill>
                <a:latin typeface="프리젠테이션 4 Regular" pitchFamily="34" charset="0"/>
                <a:ea typeface="프리젠테이션 4 Regular" pitchFamily="34" charset="-122"/>
                <a:cs typeface="프리젠테이션 4 Regular" pitchFamily="34" charset="-120"/>
              </a:rPr>
              <a:t>[Major / lab]</a:t>
            </a:r>
            <a:endParaRPr lang="en-US" sz="1200" dirty="0"/>
          </a:p>
        </p:txBody>
      </p:sp>
      <p:sp>
        <p:nvSpPr>
          <p:cNvPr id="26" name="interest 3"/>
          <p:cNvSpPr txBox="1"/>
          <p:nvPr/>
        </p:nvSpPr>
        <p:spPr>
          <a:xfrm>
            <a:off x="7123176" y="3319272"/>
            <a:ext cx="1371600" cy="594360"/>
          </a:xfrm>
          <a:prstGeom prst="rect">
            <a:avLst/>
          </a:prstGeom>
          <a:noFill/>
          <a:ln/>
        </p:spPr>
        <p:txBody>
          <a:bodyPr wrap="square" lIns="0" tIns="0" rIns="0" bIns="0" rtlCol="0" anchor="t"/>
          <a:lstStyle/>
          <a:p>
            <a:pPr indent="0" marL="0">
              <a:buNone/>
            </a:pPr>
            <a:r>
              <a:rPr lang="en-US" sz="1200" dirty="0">
                <a:solidFill>
                  <a:srgbClr val="5B616E"/>
                </a:solidFill>
                <a:latin typeface="프리젠테이션 4 Regular" pitchFamily="34" charset="0"/>
                <a:ea typeface="프리젠테이션 4 Regular" pitchFamily="34" charset="-122"/>
                <a:cs typeface="프리젠테이션 4 Regular" pitchFamily="34" charset="-120"/>
              </a:rPr>
              <a:t>[Research interest]</a:t>
            </a:r>
            <a:endParaRPr lang="en-US" sz="1200" dirty="0"/>
          </a:p>
        </p:txBody>
      </p:sp>
      <p:sp>
        <p:nvSpPr>
          <p:cNvPr id="27" name="role pill 3"/>
          <p:cNvSpPr txBox="1"/>
          <p:nvPr/>
        </p:nvSpPr>
        <p:spPr>
          <a:xfrm>
            <a:off x="7123176" y="3977640"/>
            <a:ext cx="1188720" cy="274320"/>
          </a:xfrm>
          <a:prstGeom prst="roundRect">
            <a:avLst>
              <a:gd name="adj" fmla="val 50000"/>
            </a:avLst>
          </a:prstGeom>
          <a:solidFill>
            <a:srgbClr val="FFFFFF"/>
          </a:solidFill>
          <a:ln/>
        </p:spPr>
        <p:txBody>
          <a:bodyPr wrap="square" lIns="0" tIns="0" rIns="0" bIns="0" rtlCol="0" anchor="ctr"/>
          <a:lstStyle/>
          <a:p>
            <a:pPr algn="ctr" indent="0" marL="0">
              <a:buNone/>
            </a:pPr>
            <a:r>
              <a:rPr lang="en-US" sz="1100" dirty="0">
                <a:solidFill>
                  <a:srgbClr val="0A0B0D"/>
                </a:solidFill>
                <a:latin typeface="프리젠테이션 4 Regular" pitchFamily="34" charset="0"/>
                <a:ea typeface="프리젠테이션 4 Regular" pitchFamily="34" charset="-122"/>
                <a:cs typeface="프리젠테이션 4 Regular" pitchFamily="34" charset="-120"/>
              </a:rPr>
              <a:t>Role · TBD</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03 — PROBLEM OVERVIEW</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Why port approach channels?</a:t>
            </a:r>
            <a:endParaRPr lang="en-US" sz="3600" dirty="0"/>
          </a:p>
        </p:txBody>
      </p:sp>
      <p:sp>
        <p:nvSpPr>
          <p:cNvPr id="4" name="reason icon 0 bg"/>
          <p:cNvSpPr/>
          <p:nvPr/>
        </p:nvSpPr>
        <p:spPr>
          <a:xfrm>
            <a:off x="457200" y="1463040"/>
            <a:ext cx="566928" cy="566928"/>
          </a:xfrm>
          <a:prstGeom prst="ellipse">
            <a:avLst/>
          </a:prstGeom>
          <a:solidFill>
            <a:srgbClr val="EEF0F3"/>
          </a:solidFill>
          <a:ln/>
        </p:spPr>
      </p:sp>
      <p:pic>
        <p:nvPicPr>
          <p:cNvPr id="5" name="reason icon 0" descr="preencoded.png">    </p:cNvPr>
          <p:cNvPicPr>
            <a:picLocks noChangeAspect="1"/>
          </p:cNvPicPr>
          <p:nvPr/>
        </p:nvPicPr>
        <p:blipFill>
          <a:blip r:embed="rId1"/>
          <a:stretch>
            <a:fillRect/>
          </a:stretch>
        </p:blipFill>
        <p:spPr>
          <a:xfrm>
            <a:off x="593263" y="1599103"/>
            <a:ext cx="294803" cy="294803"/>
          </a:xfrm>
          <a:prstGeom prst="rect">
            <a:avLst/>
          </a:prstGeom>
        </p:spPr>
      </p:pic>
      <p:sp>
        <p:nvSpPr>
          <p:cNvPr id="6" name="reason h 0"/>
          <p:cNvSpPr txBox="1"/>
          <p:nvPr/>
        </p:nvSpPr>
        <p:spPr>
          <a:xfrm>
            <a:off x="1188720" y="1444752"/>
            <a:ext cx="3566160" cy="310896"/>
          </a:xfrm>
          <a:prstGeom prst="rect">
            <a:avLst/>
          </a:prstGeom>
          <a:noFill/>
          <a:ln/>
        </p:spPr>
        <p:txBody>
          <a:bodyPr wrap="square" lIns="0" tIns="0" rIns="0" bIns="0" rtlCol="0" anchor="ctr"/>
          <a:lstStyle/>
          <a:p>
            <a:pPr indent="0" marL="0">
              <a:buNone/>
            </a:pPr>
            <a:r>
              <a:rPr lang="en-US" sz="1600" dirty="0">
                <a:solidFill>
                  <a:srgbClr val="0A0B0D"/>
                </a:solidFill>
                <a:latin typeface="프리젠테이션 7 Bold" pitchFamily="34" charset="0"/>
                <a:ea typeface="프리젠테이션 7 Bold" pitchFamily="34" charset="-122"/>
                <a:cs typeface="프리젠테이션 7 Bold" pitchFamily="34" charset="-120"/>
              </a:rPr>
              <a:t>Traffic converges at a chokepoint</a:t>
            </a:r>
            <a:endParaRPr lang="en-US" sz="1600" dirty="0"/>
          </a:p>
        </p:txBody>
      </p:sp>
      <p:sp>
        <p:nvSpPr>
          <p:cNvPr id="7" name="reason d 0"/>
          <p:cNvSpPr txBox="1"/>
          <p:nvPr/>
        </p:nvSpPr>
        <p:spPr>
          <a:xfrm>
            <a:off x="1188720" y="1764792"/>
            <a:ext cx="3566160" cy="548640"/>
          </a:xfrm>
          <a:prstGeom prst="rect">
            <a:avLst/>
          </a:prstGeom>
          <a:noFill/>
          <a:ln/>
        </p:spPr>
        <p:txBody>
          <a:bodyPr wrap="square" lIns="0" tIns="0" rIns="0" bIns="0" rtlCol="0" anchor="t"/>
          <a:lstStyle/>
          <a:p>
            <a:pPr indent="0" marL="0">
              <a:buNone/>
            </a:pPr>
            <a:r>
              <a:rPr lang="en-US" sz="1300" dirty="0">
                <a:solidFill>
                  <a:srgbClr val="5B616E"/>
                </a:solidFill>
                <a:latin typeface="프리젠테이션 4 Regular" pitchFamily="34" charset="0"/>
                <a:ea typeface="프리젠테이션 4 Regular" pitchFamily="34" charset="-122"/>
                <a:cs typeface="프리젠테이션 4 Regular" pitchFamily="34" charset="-120"/>
              </a:rPr>
              <a:t>Cargo ships, tankers, tugs and naval vessels all squeeze into the same approach lanes.</a:t>
            </a:r>
            <a:endParaRPr lang="en-US" sz="1300" dirty="0"/>
          </a:p>
        </p:txBody>
      </p:sp>
      <p:sp>
        <p:nvSpPr>
          <p:cNvPr id="8" name="reason icon 1 bg"/>
          <p:cNvSpPr/>
          <p:nvPr/>
        </p:nvSpPr>
        <p:spPr>
          <a:xfrm>
            <a:off x="457200" y="2487168"/>
            <a:ext cx="566928" cy="566928"/>
          </a:xfrm>
          <a:prstGeom prst="ellipse">
            <a:avLst/>
          </a:prstGeom>
          <a:solidFill>
            <a:srgbClr val="EEF0F3"/>
          </a:solidFill>
          <a:ln/>
        </p:spPr>
      </p:sp>
      <p:pic>
        <p:nvPicPr>
          <p:cNvPr id="9" name="reason icon 1" descr="preencoded.png">    </p:cNvPr>
          <p:cNvPicPr>
            <a:picLocks noChangeAspect="1"/>
          </p:cNvPicPr>
          <p:nvPr/>
        </p:nvPicPr>
        <p:blipFill>
          <a:blip r:embed="rId2"/>
          <a:stretch>
            <a:fillRect/>
          </a:stretch>
        </p:blipFill>
        <p:spPr>
          <a:xfrm>
            <a:off x="593263" y="2623231"/>
            <a:ext cx="294803" cy="294803"/>
          </a:xfrm>
          <a:prstGeom prst="rect">
            <a:avLst/>
          </a:prstGeom>
        </p:spPr>
      </p:pic>
      <p:sp>
        <p:nvSpPr>
          <p:cNvPr id="10" name="reason h 1"/>
          <p:cNvSpPr txBox="1"/>
          <p:nvPr/>
        </p:nvSpPr>
        <p:spPr>
          <a:xfrm>
            <a:off x="1188720" y="2468880"/>
            <a:ext cx="3566160" cy="310896"/>
          </a:xfrm>
          <a:prstGeom prst="rect">
            <a:avLst/>
          </a:prstGeom>
          <a:noFill/>
          <a:ln/>
        </p:spPr>
        <p:txBody>
          <a:bodyPr wrap="square" lIns="0" tIns="0" rIns="0" bIns="0" rtlCol="0" anchor="ctr"/>
          <a:lstStyle/>
          <a:p>
            <a:pPr indent="0" marL="0">
              <a:buNone/>
            </a:pPr>
            <a:r>
              <a:rPr lang="en-US" sz="1600" dirty="0">
                <a:solidFill>
                  <a:srgbClr val="0A0B0D"/>
                </a:solidFill>
                <a:latin typeface="프리젠테이션 7 Bold" pitchFamily="34" charset="0"/>
                <a:ea typeface="프리젠테이션 7 Bold" pitchFamily="34" charset="-122"/>
                <a:cs typeface="프리젠테이션 7 Bold" pitchFamily="34" charset="-120"/>
              </a:rPr>
              <a:t>Monitoring resources are limited</a:t>
            </a:r>
            <a:endParaRPr lang="en-US" sz="1600" dirty="0"/>
          </a:p>
        </p:txBody>
      </p:sp>
      <p:sp>
        <p:nvSpPr>
          <p:cNvPr id="11" name="reason d 1"/>
          <p:cNvSpPr txBox="1"/>
          <p:nvPr/>
        </p:nvSpPr>
        <p:spPr>
          <a:xfrm>
            <a:off x="1188720" y="2788920"/>
            <a:ext cx="3566160" cy="548640"/>
          </a:xfrm>
          <a:prstGeom prst="rect">
            <a:avLst/>
          </a:prstGeom>
          <a:noFill/>
          <a:ln/>
        </p:spPr>
        <p:txBody>
          <a:bodyPr wrap="square" lIns="0" tIns="0" rIns="0" bIns="0" rtlCol="0" anchor="t"/>
          <a:lstStyle/>
          <a:p>
            <a:pPr indent="0" marL="0">
              <a:buNone/>
            </a:pPr>
            <a:r>
              <a:rPr lang="en-US" sz="1300" dirty="0">
                <a:solidFill>
                  <a:srgbClr val="5B616E"/>
                </a:solidFill>
                <a:latin typeface="프리젠테이션 4 Regular" pitchFamily="34" charset="0"/>
                <a:ea typeface="프리젠테이션 4 Regular" pitchFamily="34" charset="-122"/>
                <a:cs typeface="프리젠테이션 4 Regular" pitchFamily="34" charset="-120"/>
              </a:rPr>
              <a:t>Patrol and VTS attention must go where — and when — traffic actually concentrates.</a:t>
            </a:r>
            <a:endParaRPr lang="en-US" sz="1300" dirty="0"/>
          </a:p>
        </p:txBody>
      </p:sp>
      <p:sp>
        <p:nvSpPr>
          <p:cNvPr id="12" name="reason icon 2 bg"/>
          <p:cNvSpPr/>
          <p:nvPr/>
        </p:nvSpPr>
        <p:spPr>
          <a:xfrm>
            <a:off x="457200" y="3511296"/>
            <a:ext cx="566928" cy="566928"/>
          </a:xfrm>
          <a:prstGeom prst="ellipse">
            <a:avLst/>
          </a:prstGeom>
          <a:solidFill>
            <a:srgbClr val="EEF0F3"/>
          </a:solidFill>
          <a:ln/>
        </p:spPr>
      </p:sp>
      <p:pic>
        <p:nvPicPr>
          <p:cNvPr id="13" name="reason icon 2" descr="preencoded.png">    </p:cNvPr>
          <p:cNvPicPr>
            <a:picLocks noChangeAspect="1"/>
          </p:cNvPicPr>
          <p:nvPr/>
        </p:nvPicPr>
        <p:blipFill>
          <a:blip r:embed="rId3"/>
          <a:stretch>
            <a:fillRect/>
          </a:stretch>
        </p:blipFill>
        <p:spPr>
          <a:xfrm>
            <a:off x="593263" y="3647359"/>
            <a:ext cx="294803" cy="294803"/>
          </a:xfrm>
          <a:prstGeom prst="rect">
            <a:avLst/>
          </a:prstGeom>
        </p:spPr>
      </p:pic>
      <p:sp>
        <p:nvSpPr>
          <p:cNvPr id="14" name="reason h 2"/>
          <p:cNvSpPr txBox="1"/>
          <p:nvPr/>
        </p:nvSpPr>
        <p:spPr>
          <a:xfrm>
            <a:off x="1188720" y="3493008"/>
            <a:ext cx="3566160" cy="310896"/>
          </a:xfrm>
          <a:prstGeom prst="rect">
            <a:avLst/>
          </a:prstGeom>
          <a:noFill/>
          <a:ln/>
        </p:spPr>
        <p:txBody>
          <a:bodyPr wrap="square" lIns="0" tIns="0" rIns="0" bIns="0" rtlCol="0" anchor="ctr"/>
          <a:lstStyle/>
          <a:p>
            <a:pPr indent="0" marL="0">
              <a:buNone/>
            </a:pPr>
            <a:r>
              <a:rPr lang="en-US" sz="1600" dirty="0">
                <a:solidFill>
                  <a:srgbClr val="0A0B0D"/>
                </a:solidFill>
                <a:latin typeface="프리젠테이션 7 Bold" pitchFamily="34" charset="0"/>
                <a:ea typeface="프리젠테이션 7 Bold" pitchFamily="34" charset="-122"/>
                <a:cs typeface="프리젠테이션 7 Bold" pitchFamily="34" charset="-120"/>
              </a:rPr>
              <a:t>AIS makes it measurable</a:t>
            </a:r>
            <a:endParaRPr lang="en-US" sz="1600" dirty="0"/>
          </a:p>
        </p:txBody>
      </p:sp>
      <p:sp>
        <p:nvSpPr>
          <p:cNvPr id="15" name="reason d 2"/>
          <p:cNvSpPr txBox="1"/>
          <p:nvPr/>
        </p:nvSpPr>
        <p:spPr>
          <a:xfrm>
            <a:off x="1188720" y="3813048"/>
            <a:ext cx="3566160" cy="548640"/>
          </a:xfrm>
          <a:prstGeom prst="rect">
            <a:avLst/>
          </a:prstGeom>
          <a:noFill/>
          <a:ln/>
        </p:spPr>
        <p:txBody>
          <a:bodyPr wrap="square" lIns="0" tIns="0" rIns="0" bIns="0" rtlCol="0" anchor="t"/>
          <a:lstStyle/>
          <a:p>
            <a:pPr indent="0" marL="0">
              <a:buNone/>
            </a:pPr>
            <a:r>
              <a:rPr lang="en-US" sz="1300" dirty="0">
                <a:solidFill>
                  <a:srgbClr val="5B616E"/>
                </a:solidFill>
                <a:latin typeface="프리젠테이션 4 Regular" pitchFamily="34" charset="0"/>
                <a:ea typeface="프리젠테이션 4 Regular" pitchFamily="34" charset="-122"/>
                <a:cs typeface="프리젠테이션 4 Regular" pitchFamily="34" charset="-120"/>
              </a:rPr>
              <a:t>A full year of open AIS tracks gives MMSI, time and vessel group for every track.</a:t>
            </a:r>
            <a:endParaRPr lang="en-US" sz="1300" dirty="0"/>
          </a:p>
        </p:txBody>
      </p:sp>
      <p:sp>
        <p:nvSpPr>
          <p:cNvPr id="16" name="rq card"/>
          <p:cNvSpPr/>
          <p:nvPr/>
        </p:nvSpPr>
        <p:spPr>
          <a:xfrm>
            <a:off x="5074920" y="1417320"/>
            <a:ext cx="3611880" cy="3108960"/>
          </a:xfrm>
          <a:prstGeom prst="roundRect">
            <a:avLst>
              <a:gd name="adj" fmla="val 6471"/>
            </a:avLst>
          </a:prstGeom>
          <a:solidFill>
            <a:srgbClr val="0A0B0D"/>
          </a:solidFill>
          <a:ln/>
        </p:spPr>
      </p:sp>
      <p:sp>
        <p:nvSpPr>
          <p:cNvPr id="17" name="rq label"/>
          <p:cNvSpPr txBox="1"/>
          <p:nvPr/>
        </p:nvSpPr>
        <p:spPr>
          <a:xfrm>
            <a:off x="5394960" y="1691640"/>
            <a:ext cx="2743200" cy="256032"/>
          </a:xfrm>
          <a:prstGeom prst="rect">
            <a:avLst/>
          </a:prstGeom>
          <a:noFill/>
          <a:ln/>
        </p:spPr>
        <p:txBody>
          <a:bodyPr wrap="square" lIns="0" tIns="0" rIns="0" bIns="0" rtlCol="0" anchor="ctr"/>
          <a:lstStyle/>
          <a:p>
            <a:pPr indent="0" marL="0">
              <a:buNone/>
            </a:pPr>
            <a:r>
              <a:rPr lang="en-US" sz="1100" spc="150" kern="0" dirty="0">
                <a:solidFill>
                  <a:srgbClr val="7FA6FF"/>
                </a:solidFill>
                <a:latin typeface="프리젠테이션 7 Bold" pitchFamily="34" charset="0"/>
                <a:ea typeface="프리젠테이션 7 Bold" pitchFamily="34" charset="-122"/>
                <a:cs typeface="프리젠테이션 7 Bold" pitchFamily="34" charset="-120"/>
              </a:rPr>
              <a:t>RESEARCH QUESTIONS</a:t>
            </a:r>
            <a:endParaRPr lang="en-US" sz="1100" dirty="0"/>
          </a:p>
        </p:txBody>
      </p:sp>
      <p:sp>
        <p:nvSpPr>
          <p:cNvPr id="18" name="rq num 0"/>
          <p:cNvSpPr txBox="1"/>
          <p:nvPr/>
        </p:nvSpPr>
        <p:spPr>
          <a:xfrm>
            <a:off x="5394960" y="2103120"/>
            <a:ext cx="502920" cy="274320"/>
          </a:xfrm>
          <a:prstGeom prst="rect">
            <a:avLst/>
          </a:prstGeom>
          <a:noFill/>
          <a:ln/>
        </p:spPr>
        <p:txBody>
          <a:bodyPr wrap="square" lIns="0" tIns="0" rIns="0" bIns="0" rtlCol="0" anchor="ctr"/>
          <a:lstStyle/>
          <a:p>
            <a:pPr indent="0" marL="0">
              <a:buNone/>
            </a:pPr>
            <a:r>
              <a:rPr lang="en-US" sz="1300" dirty="0">
                <a:solidFill>
                  <a:srgbClr val="0052FF"/>
                </a:solidFill>
                <a:latin typeface="프리젠테이션 7 Bold" pitchFamily="34" charset="0"/>
                <a:ea typeface="프리젠테이션 7 Bold" pitchFamily="34" charset="-122"/>
                <a:cs typeface="프리젠테이션 7 Bold" pitchFamily="34" charset="-120"/>
              </a:rPr>
              <a:t>RQ1</a:t>
            </a:r>
            <a:endParaRPr lang="en-US" sz="1300" dirty="0"/>
          </a:p>
        </p:txBody>
      </p:sp>
      <p:sp>
        <p:nvSpPr>
          <p:cNvPr id="19" name="rq text 0"/>
          <p:cNvSpPr txBox="1"/>
          <p:nvPr/>
        </p:nvSpPr>
        <p:spPr>
          <a:xfrm>
            <a:off x="5943600" y="2084832"/>
            <a:ext cx="2468880" cy="685800"/>
          </a:xfrm>
          <a:prstGeom prst="rect">
            <a:avLst/>
          </a:prstGeom>
          <a:noFill/>
          <a:ln/>
        </p:spPr>
        <p:txBody>
          <a:bodyPr wrap="square" lIns="0" tIns="0" rIns="0" bIns="0" rtlCol="0" anchor="t"/>
          <a:lstStyle/>
          <a:p>
            <a:pPr indent="0" marL="0">
              <a:buNone/>
            </a:pPr>
            <a:r>
              <a:rPr lang="en-US" sz="1400" dirty="0">
                <a:solidFill>
                  <a:srgbClr val="FFFFFF"/>
                </a:solidFill>
                <a:latin typeface="프리젠테이션 4 Regular" pitchFamily="34" charset="0"/>
                <a:ea typeface="프리젠테이션 4 Regular" pitchFamily="34" charset="-122"/>
                <a:cs typeface="프리젠테이션 4 Regular" pitchFamily="34" charset="-120"/>
              </a:rPr>
              <a:t>Where do observed vessels concentrate around the approach channel?</a:t>
            </a:r>
            <a:endParaRPr lang="en-US" sz="1400" dirty="0"/>
          </a:p>
        </p:txBody>
      </p:sp>
      <p:sp>
        <p:nvSpPr>
          <p:cNvPr id="20" name="rq num 1"/>
          <p:cNvSpPr txBox="1"/>
          <p:nvPr/>
        </p:nvSpPr>
        <p:spPr>
          <a:xfrm>
            <a:off x="5394960" y="2880360"/>
            <a:ext cx="502920" cy="274320"/>
          </a:xfrm>
          <a:prstGeom prst="rect">
            <a:avLst/>
          </a:prstGeom>
          <a:noFill/>
          <a:ln/>
        </p:spPr>
        <p:txBody>
          <a:bodyPr wrap="square" lIns="0" tIns="0" rIns="0" bIns="0" rtlCol="0" anchor="ctr"/>
          <a:lstStyle/>
          <a:p>
            <a:pPr indent="0" marL="0">
              <a:buNone/>
            </a:pPr>
            <a:r>
              <a:rPr lang="en-US" sz="1300" dirty="0">
                <a:solidFill>
                  <a:srgbClr val="0052FF"/>
                </a:solidFill>
                <a:latin typeface="프리젠테이션 7 Bold" pitchFamily="34" charset="0"/>
                <a:ea typeface="프리젠테이션 7 Bold" pitchFamily="34" charset="-122"/>
                <a:cs typeface="프리젠테이션 7 Bold" pitchFamily="34" charset="-120"/>
              </a:rPr>
              <a:t>RQ2</a:t>
            </a:r>
            <a:endParaRPr lang="en-US" sz="1300" dirty="0"/>
          </a:p>
        </p:txBody>
      </p:sp>
      <p:sp>
        <p:nvSpPr>
          <p:cNvPr id="21" name="rq text 1"/>
          <p:cNvSpPr txBox="1"/>
          <p:nvPr/>
        </p:nvSpPr>
        <p:spPr>
          <a:xfrm>
            <a:off x="5943600" y="2862072"/>
            <a:ext cx="2468880" cy="685800"/>
          </a:xfrm>
          <a:prstGeom prst="rect">
            <a:avLst/>
          </a:prstGeom>
          <a:noFill/>
          <a:ln/>
        </p:spPr>
        <p:txBody>
          <a:bodyPr wrap="square" lIns="0" tIns="0" rIns="0" bIns="0" rtlCol="0" anchor="t"/>
          <a:lstStyle/>
          <a:p>
            <a:pPr indent="0" marL="0">
              <a:buNone/>
            </a:pPr>
            <a:r>
              <a:rPr lang="en-US" sz="1400" dirty="0">
                <a:solidFill>
                  <a:srgbClr val="FFFFFF"/>
                </a:solidFill>
                <a:latin typeface="프리젠테이션 4 Regular" pitchFamily="34" charset="0"/>
                <a:ea typeface="프리젠테이션 4 Regular" pitchFamily="34" charset="-122"/>
                <a:cs typeface="프리젠테이션 4 Regular" pitchFamily="34" charset="-120"/>
              </a:rPr>
              <a:t>How much do cargo and tanker routes overlap — and how does it shift by month?</a:t>
            </a:r>
            <a:endParaRPr lang="en-US" sz="1400" dirty="0"/>
          </a:p>
        </p:txBody>
      </p:sp>
      <p:sp>
        <p:nvSpPr>
          <p:cNvPr id="22" name="rq num 2"/>
          <p:cNvSpPr txBox="1"/>
          <p:nvPr/>
        </p:nvSpPr>
        <p:spPr>
          <a:xfrm>
            <a:off x="5394960" y="3657600"/>
            <a:ext cx="502920" cy="274320"/>
          </a:xfrm>
          <a:prstGeom prst="rect">
            <a:avLst/>
          </a:prstGeom>
          <a:noFill/>
          <a:ln/>
        </p:spPr>
        <p:txBody>
          <a:bodyPr wrap="square" lIns="0" tIns="0" rIns="0" bIns="0" rtlCol="0" anchor="ctr"/>
          <a:lstStyle/>
          <a:p>
            <a:pPr indent="0" marL="0">
              <a:buNone/>
            </a:pPr>
            <a:r>
              <a:rPr lang="en-US" sz="1300" dirty="0">
                <a:solidFill>
                  <a:srgbClr val="0052FF"/>
                </a:solidFill>
                <a:latin typeface="프리젠테이션 7 Bold" pitchFamily="34" charset="0"/>
                <a:ea typeface="프리젠테이션 7 Bold" pitchFamily="34" charset="-122"/>
                <a:cs typeface="프리젠테이션 7 Bold" pitchFamily="34" charset="-120"/>
              </a:rPr>
              <a:t>RQ3</a:t>
            </a:r>
            <a:endParaRPr lang="en-US" sz="1300" dirty="0"/>
          </a:p>
        </p:txBody>
      </p:sp>
      <p:sp>
        <p:nvSpPr>
          <p:cNvPr id="23" name="rq text 2"/>
          <p:cNvSpPr txBox="1"/>
          <p:nvPr/>
        </p:nvSpPr>
        <p:spPr>
          <a:xfrm>
            <a:off x="5943600" y="3639312"/>
            <a:ext cx="2468880" cy="685800"/>
          </a:xfrm>
          <a:prstGeom prst="rect">
            <a:avLst/>
          </a:prstGeom>
          <a:noFill/>
          <a:ln/>
        </p:spPr>
        <p:txBody>
          <a:bodyPr wrap="square" lIns="0" tIns="0" rIns="0" bIns="0" rtlCol="0" anchor="t"/>
          <a:lstStyle/>
          <a:p>
            <a:pPr indent="0" marL="0">
              <a:buNone/>
            </a:pPr>
            <a:r>
              <a:rPr lang="en-US" sz="1400" dirty="0">
                <a:solidFill>
                  <a:srgbClr val="FFFFFF"/>
                </a:solidFill>
                <a:latin typeface="프리젠테이션 4 Regular" pitchFamily="34" charset="0"/>
                <a:ea typeface="프리젠테이션 4 Regular" pitchFamily="34" charset="-122"/>
                <a:cs typeface="프리젠테이션 4 Regular" pitchFamily="34" charset="-120"/>
              </a:rPr>
              <a:t>Do the priority zones hold when grid size and selection cut-off change?</a:t>
            </a:r>
            <a:endParaRPr lang="en-US" sz="14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03 — STUDY AREA</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Why Norfolk / Hampton Roads?</a:t>
            </a:r>
            <a:endParaRPr lang="en-US" sz="3600" dirty="0"/>
          </a:p>
        </p:txBody>
      </p:sp>
      <p:pic>
        <p:nvPicPr>
          <p:cNvPr id="4" name="east coast locator" descr="Major US East Coast ports with Norfolk / Hampton Roads highlighted">    </p:cNvPr>
          <p:cNvPicPr>
            <a:picLocks noChangeAspect="1"/>
          </p:cNvPicPr>
          <p:nvPr/>
        </p:nvPicPr>
        <p:blipFill>
          <a:blip r:embed="rId1"/>
          <a:stretch>
            <a:fillRect/>
          </a:stretch>
        </p:blipFill>
        <p:spPr>
          <a:xfrm>
            <a:off x="365760" y="1325880"/>
            <a:ext cx="2606040" cy="3127248"/>
          </a:xfrm>
          <a:prstGeom prst="rect">
            <a:avLst/>
          </a:prstGeom>
        </p:spPr>
      </p:pic>
      <p:sp>
        <p:nvSpPr>
          <p:cNvPr id="5" name="locator note"/>
          <p:cNvSpPr txBox="1"/>
          <p:nvPr/>
        </p:nvSpPr>
        <p:spPr>
          <a:xfrm>
            <a:off x="457200" y="4507992"/>
            <a:ext cx="2743200" cy="182880"/>
          </a:xfrm>
          <a:prstGeom prst="rect">
            <a:avLst/>
          </a:prstGeom>
          <a:noFill/>
          <a:ln/>
        </p:spPr>
        <p:txBody>
          <a:bodyPr wrap="square" lIns="0" tIns="0" rIns="0" bIns="0" rtlCol="0" anchor="ctr"/>
          <a:lstStyle/>
          <a:p>
            <a:pPr indent="0" marL="0">
              <a:buNone/>
            </a:pPr>
            <a:r>
              <a:rPr lang="en-US" sz="900" dirty="0">
                <a:solidFill>
                  <a:srgbClr val="8A919E"/>
                </a:solidFill>
                <a:latin typeface="프리젠테이션 4 Regular" pitchFamily="34" charset="0"/>
                <a:ea typeface="프리젠테이션 4 Regular" pitchFamily="34" charset="-122"/>
                <a:cs typeface="프리젠테이션 4 Regular" pitchFamily="34" charset="-120"/>
              </a:rPr>
              <a:t>Approximate port locations · no coastline layer</a:t>
            </a:r>
            <a:endParaRPr lang="en-US" sz="900" dirty="0"/>
          </a:p>
        </p:txBody>
      </p:sp>
      <p:sp>
        <p:nvSpPr>
          <p:cNvPr id="6" name="lead"/>
          <p:cNvSpPr txBox="1"/>
          <p:nvPr/>
        </p:nvSpPr>
        <p:spPr>
          <a:xfrm>
            <a:off x="3291840" y="1325880"/>
            <a:ext cx="5394960" cy="320040"/>
          </a:xfrm>
          <a:prstGeom prst="rect">
            <a:avLst/>
          </a:prstGeom>
          <a:noFill/>
          <a:ln/>
        </p:spPr>
        <p:txBody>
          <a:bodyPr wrap="square" lIns="0" tIns="0" rIns="0" bIns="0" rtlCol="0" anchor="ctr"/>
          <a:lstStyle/>
          <a:p>
            <a:pPr indent="0" marL="0">
              <a:buNone/>
            </a:pPr>
            <a:r>
              <a:rPr lang="en-US" sz="1600" dirty="0">
                <a:solidFill>
                  <a:srgbClr val="0A0B0D"/>
                </a:solidFill>
                <a:latin typeface="프리젠테이션 5 Medium" pitchFamily="34" charset="0"/>
                <a:ea typeface="프리젠테이션 5 Medium" pitchFamily="34" charset="-122"/>
                <a:cs typeface="프리젠테이션 5 Medium" pitchFamily="34" charset="-120"/>
              </a:rPr>
              <a:t>A major commercial gateway with busy, shared approaches</a:t>
            </a:r>
            <a:endParaRPr lang="en-US" sz="1600" dirty="0"/>
          </a:p>
        </p:txBody>
      </p:sp>
      <p:sp>
        <p:nvSpPr>
          <p:cNvPr id="7" name="metric 0"/>
          <p:cNvSpPr/>
          <p:nvPr/>
        </p:nvSpPr>
        <p:spPr>
          <a:xfrm>
            <a:off x="3291840" y="1783080"/>
            <a:ext cx="1719072" cy="1188720"/>
          </a:xfrm>
          <a:prstGeom prst="roundRect">
            <a:avLst>
              <a:gd name="adj" fmla="val 16923"/>
            </a:avLst>
          </a:prstGeom>
          <a:solidFill>
            <a:srgbClr val="EEF0F3"/>
          </a:solidFill>
          <a:ln/>
        </p:spPr>
      </p:sp>
      <p:sp>
        <p:nvSpPr>
          <p:cNvPr id="8" name="metric v 0"/>
          <p:cNvSpPr txBox="1"/>
          <p:nvPr/>
        </p:nvSpPr>
        <p:spPr>
          <a:xfrm>
            <a:off x="3456432" y="1856232"/>
            <a:ext cx="1463040" cy="502920"/>
          </a:xfrm>
          <a:prstGeom prst="rect">
            <a:avLst/>
          </a:prstGeom>
          <a:noFill/>
          <a:ln/>
        </p:spPr>
        <p:txBody>
          <a:bodyPr wrap="square" lIns="0" tIns="0" rIns="0" bIns="0" rtlCol="0" anchor="ctr"/>
          <a:lstStyle/>
          <a:p>
            <a:pPr indent="0" marL="0">
              <a:buNone/>
            </a:pPr>
            <a:r>
              <a:rPr lang="en-US" sz="3000" dirty="0">
                <a:solidFill>
                  <a:srgbClr val="0052FF"/>
                </a:solidFill>
                <a:latin typeface="프리젠테이션 3 Light" pitchFamily="34" charset="0"/>
                <a:ea typeface="프리젠테이션 3 Light" pitchFamily="34" charset="-122"/>
                <a:cs typeface="프리젠테이션 3 Light" pitchFamily="34" charset="-120"/>
              </a:rPr>
              <a:t>68.8M</a:t>
            </a:r>
            <a:endParaRPr lang="en-US" sz="3000" dirty="0"/>
          </a:p>
        </p:txBody>
      </p:sp>
      <p:sp>
        <p:nvSpPr>
          <p:cNvPr id="9" name="metric l 0"/>
          <p:cNvSpPr txBox="1"/>
          <p:nvPr/>
        </p:nvSpPr>
        <p:spPr>
          <a:xfrm>
            <a:off x="3456432" y="2377440"/>
            <a:ext cx="1481328" cy="530352"/>
          </a:xfrm>
          <a:prstGeom prst="rect">
            <a:avLst/>
          </a:prstGeom>
          <a:noFill/>
          <a:ln/>
        </p:spPr>
        <p:txBody>
          <a:bodyPr wrap="square" lIns="0" tIns="0" rIns="0" bIns="0" rtlCol="0" anchor="t"/>
          <a:lstStyle/>
          <a:p>
            <a:pPr indent="0" marL="0">
              <a:buNone/>
            </a:pPr>
            <a:r>
              <a:rPr lang="en-US" sz="1100" dirty="0">
                <a:solidFill>
                  <a:srgbClr val="0A0B0D"/>
                </a:solidFill>
                <a:latin typeface="프리젠테이션 7 Bold" pitchFamily="34" charset="0"/>
                <a:ea typeface="프리젠테이션 7 Bold" pitchFamily="34" charset="-122"/>
                <a:cs typeface="프리젠테이션 7 Bold" pitchFamily="34" charset="-120"/>
              </a:rPr>
              <a:t>short tons of cargo</a:t>
            </a:r>
            <a:endParaRPr lang="en-US" sz="1100" dirty="0"/>
          </a:p>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CY2023 · 9th among U.S. ports [a]</a:t>
            </a:r>
            <a:endParaRPr lang="en-US" sz="1100" dirty="0"/>
          </a:p>
        </p:txBody>
      </p:sp>
      <p:sp>
        <p:nvSpPr>
          <p:cNvPr id="10" name="metric 1"/>
          <p:cNvSpPr/>
          <p:nvPr/>
        </p:nvSpPr>
        <p:spPr>
          <a:xfrm>
            <a:off x="5120640" y="1783080"/>
            <a:ext cx="1719072" cy="1188720"/>
          </a:xfrm>
          <a:prstGeom prst="roundRect">
            <a:avLst>
              <a:gd name="adj" fmla="val 16923"/>
            </a:avLst>
          </a:prstGeom>
          <a:solidFill>
            <a:srgbClr val="EEF0F3"/>
          </a:solidFill>
          <a:ln/>
        </p:spPr>
      </p:sp>
      <p:sp>
        <p:nvSpPr>
          <p:cNvPr id="11" name="metric v 1"/>
          <p:cNvSpPr txBox="1"/>
          <p:nvPr/>
        </p:nvSpPr>
        <p:spPr>
          <a:xfrm>
            <a:off x="5285232" y="1856232"/>
            <a:ext cx="1463040" cy="502920"/>
          </a:xfrm>
          <a:prstGeom prst="rect">
            <a:avLst/>
          </a:prstGeom>
          <a:noFill/>
          <a:ln/>
        </p:spPr>
        <p:txBody>
          <a:bodyPr wrap="square" lIns="0" tIns="0" rIns="0" bIns="0" rtlCol="0" anchor="ctr"/>
          <a:lstStyle/>
          <a:p>
            <a:pPr indent="0" marL="0">
              <a:buNone/>
            </a:pPr>
            <a:r>
              <a:rPr lang="en-US" sz="3000" dirty="0">
                <a:solidFill>
                  <a:srgbClr val="0A0B0D"/>
                </a:solidFill>
                <a:latin typeface="프리젠테이션 3 Light" pitchFamily="34" charset="0"/>
                <a:ea typeface="프리젠테이션 3 Light" pitchFamily="34" charset="-122"/>
                <a:cs typeface="프리젠테이션 3 Light" pitchFamily="34" charset="-120"/>
              </a:rPr>
              <a:t>3.50M</a:t>
            </a:r>
            <a:endParaRPr lang="en-US" sz="3000" dirty="0"/>
          </a:p>
        </p:txBody>
      </p:sp>
      <p:sp>
        <p:nvSpPr>
          <p:cNvPr id="12" name="metric l 1"/>
          <p:cNvSpPr txBox="1"/>
          <p:nvPr/>
        </p:nvSpPr>
        <p:spPr>
          <a:xfrm>
            <a:off x="5285232" y="2377440"/>
            <a:ext cx="1481328" cy="530352"/>
          </a:xfrm>
          <a:prstGeom prst="rect">
            <a:avLst/>
          </a:prstGeom>
          <a:noFill/>
          <a:ln/>
        </p:spPr>
        <p:txBody>
          <a:bodyPr wrap="square" lIns="0" tIns="0" rIns="0" bIns="0" rtlCol="0" anchor="t"/>
          <a:lstStyle/>
          <a:p>
            <a:pPr indent="0" marL="0">
              <a:buNone/>
            </a:pPr>
            <a:r>
              <a:rPr lang="en-US" sz="1100" dirty="0">
                <a:solidFill>
                  <a:srgbClr val="0A0B0D"/>
                </a:solidFill>
                <a:latin typeface="프리젠테이션 7 Bold" pitchFamily="34" charset="0"/>
                <a:ea typeface="프리젠테이션 7 Bold" pitchFamily="34" charset="-122"/>
                <a:cs typeface="프리젠테이션 7 Bold" pitchFamily="34" charset="-120"/>
              </a:rPr>
              <a:t>TEUs handled</a:t>
            </a:r>
            <a:endParaRPr lang="en-US" sz="1100" dirty="0"/>
          </a:p>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FY2024 (Jul 2023 – Jun 2024) [b]</a:t>
            </a:r>
            <a:endParaRPr lang="en-US" sz="1100" dirty="0"/>
          </a:p>
        </p:txBody>
      </p:sp>
      <p:sp>
        <p:nvSpPr>
          <p:cNvPr id="13" name="metric 2"/>
          <p:cNvSpPr/>
          <p:nvPr/>
        </p:nvSpPr>
        <p:spPr>
          <a:xfrm>
            <a:off x="6949440" y="1783080"/>
            <a:ext cx="1719072" cy="1188720"/>
          </a:xfrm>
          <a:prstGeom prst="roundRect">
            <a:avLst>
              <a:gd name="adj" fmla="val 16923"/>
            </a:avLst>
          </a:prstGeom>
          <a:solidFill>
            <a:srgbClr val="EEF0F3"/>
          </a:solidFill>
          <a:ln/>
        </p:spPr>
      </p:sp>
      <p:sp>
        <p:nvSpPr>
          <p:cNvPr id="14" name="metric v 2"/>
          <p:cNvSpPr txBox="1"/>
          <p:nvPr/>
        </p:nvSpPr>
        <p:spPr>
          <a:xfrm>
            <a:off x="7114032" y="1856232"/>
            <a:ext cx="1463040" cy="502920"/>
          </a:xfrm>
          <a:prstGeom prst="rect">
            <a:avLst/>
          </a:prstGeom>
          <a:noFill/>
          <a:ln/>
        </p:spPr>
        <p:txBody>
          <a:bodyPr wrap="square" lIns="0" tIns="0" rIns="0" bIns="0" rtlCol="0" anchor="ctr"/>
          <a:lstStyle/>
          <a:p>
            <a:pPr indent="0" marL="0">
              <a:buNone/>
            </a:pPr>
            <a:r>
              <a:rPr lang="en-US" sz="3000" dirty="0">
                <a:solidFill>
                  <a:srgbClr val="0A0B0D"/>
                </a:solidFill>
                <a:latin typeface="프리젠테이션 3 Light" pitchFamily="34" charset="0"/>
                <a:ea typeface="프리젠테이션 3 Light" pitchFamily="34" charset="-122"/>
                <a:cs typeface="프리젠테이션 3 Light" pitchFamily="34" charset="-120"/>
              </a:rPr>
              <a:t>1,733</a:t>
            </a:r>
            <a:endParaRPr lang="en-US" sz="3000" dirty="0"/>
          </a:p>
        </p:txBody>
      </p:sp>
      <p:sp>
        <p:nvSpPr>
          <p:cNvPr id="15" name="metric l 2"/>
          <p:cNvSpPr txBox="1"/>
          <p:nvPr/>
        </p:nvSpPr>
        <p:spPr>
          <a:xfrm>
            <a:off x="7114032" y="2377440"/>
            <a:ext cx="1481328" cy="530352"/>
          </a:xfrm>
          <a:prstGeom prst="rect">
            <a:avLst/>
          </a:prstGeom>
          <a:noFill/>
          <a:ln/>
        </p:spPr>
        <p:txBody>
          <a:bodyPr wrap="square" lIns="0" tIns="0" rIns="0" bIns="0" rtlCol="0" anchor="t"/>
          <a:lstStyle/>
          <a:p>
            <a:pPr indent="0" marL="0">
              <a:buNone/>
            </a:pPr>
            <a:r>
              <a:rPr lang="en-US" sz="1100" dirty="0">
                <a:solidFill>
                  <a:srgbClr val="0A0B0D"/>
                </a:solidFill>
                <a:latin typeface="프리젠테이션 7 Bold" pitchFamily="34" charset="0"/>
                <a:ea typeface="프리젠테이션 7 Bold" pitchFamily="34" charset="-122"/>
                <a:cs typeface="프리젠테이션 7 Bold" pitchFamily="34" charset="-120"/>
              </a:rPr>
              <a:t>ship calls</a:t>
            </a:r>
            <a:endParaRPr lang="en-US" sz="1100" dirty="0"/>
          </a:p>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FY2024 · + 283,817 t breakbulk [b]</a:t>
            </a:r>
            <a:endParaRPr lang="en-US" sz="1100" dirty="0"/>
          </a:p>
        </p:txBody>
      </p:sp>
      <p:sp>
        <p:nvSpPr>
          <p:cNvPr id="16" name="why icon 0 bg"/>
          <p:cNvSpPr/>
          <p:nvPr/>
        </p:nvSpPr>
        <p:spPr>
          <a:xfrm>
            <a:off x="3291840" y="3154680"/>
            <a:ext cx="438912" cy="438912"/>
          </a:xfrm>
          <a:prstGeom prst="ellipse">
            <a:avLst/>
          </a:prstGeom>
          <a:solidFill>
            <a:srgbClr val="0A0B0D"/>
          </a:solidFill>
          <a:ln/>
        </p:spPr>
      </p:sp>
      <p:pic>
        <p:nvPicPr>
          <p:cNvPr id="17" name="why icon 0" descr="preencoded.png">    </p:cNvPr>
          <p:cNvPicPr>
            <a:picLocks noChangeAspect="1"/>
          </p:cNvPicPr>
          <p:nvPr/>
        </p:nvPicPr>
        <p:blipFill>
          <a:blip r:embed="rId2"/>
          <a:stretch>
            <a:fillRect/>
          </a:stretch>
        </p:blipFill>
        <p:spPr>
          <a:xfrm>
            <a:off x="3397179" y="3260019"/>
            <a:ext cx="228234" cy="228234"/>
          </a:xfrm>
          <a:prstGeom prst="rect">
            <a:avLst/>
          </a:prstGeom>
        </p:spPr>
      </p:pic>
      <p:sp>
        <p:nvSpPr>
          <p:cNvPr id="18" name="why t 0"/>
          <p:cNvSpPr txBox="1"/>
          <p:nvPr/>
        </p:nvSpPr>
        <p:spPr>
          <a:xfrm>
            <a:off x="3886200" y="3108960"/>
            <a:ext cx="4800600" cy="566928"/>
          </a:xfrm>
          <a:prstGeom prst="rect">
            <a:avLst/>
          </a:prstGeom>
          <a:noFill/>
          <a:ln/>
        </p:spPr>
        <p:txBody>
          <a:bodyPr wrap="square" lIns="0" tIns="0" rIns="0" bIns="0" rtlCol="0" anchor="t"/>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Approach channel in focus</a:t>
            </a:r>
            <a:endParaRPr lang="en-US" sz="1300" dirty="0"/>
          </a:p>
          <a:p>
            <a:pP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A wider channel opened in 2024 allows two-way ultra-large container ship passage — up to 15% less time at berth [c]</a:t>
            </a:r>
            <a:endParaRPr lang="en-US" sz="1300" dirty="0"/>
          </a:p>
        </p:txBody>
      </p:sp>
      <p:sp>
        <p:nvSpPr>
          <p:cNvPr id="19" name="why icon 1 bg"/>
          <p:cNvSpPr/>
          <p:nvPr/>
        </p:nvSpPr>
        <p:spPr>
          <a:xfrm>
            <a:off x="3291840" y="3813048"/>
            <a:ext cx="438912" cy="438912"/>
          </a:xfrm>
          <a:prstGeom prst="ellipse">
            <a:avLst/>
          </a:prstGeom>
          <a:solidFill>
            <a:srgbClr val="0A0B0D"/>
          </a:solidFill>
          <a:ln/>
        </p:spPr>
      </p:sp>
      <p:pic>
        <p:nvPicPr>
          <p:cNvPr id="20" name="why icon 1" descr="preencoded.png">    </p:cNvPr>
          <p:cNvPicPr>
            <a:picLocks noChangeAspect="1"/>
          </p:cNvPicPr>
          <p:nvPr/>
        </p:nvPicPr>
        <p:blipFill>
          <a:blip r:embed="rId3"/>
          <a:stretch>
            <a:fillRect/>
          </a:stretch>
        </p:blipFill>
        <p:spPr>
          <a:xfrm>
            <a:off x="3397179" y="3918387"/>
            <a:ext cx="228234" cy="228234"/>
          </a:xfrm>
          <a:prstGeom prst="rect">
            <a:avLst/>
          </a:prstGeom>
        </p:spPr>
      </p:pic>
      <p:sp>
        <p:nvSpPr>
          <p:cNvPr id="21" name="why t 1"/>
          <p:cNvSpPr txBox="1"/>
          <p:nvPr/>
        </p:nvSpPr>
        <p:spPr>
          <a:xfrm>
            <a:off x="3886200" y="3767328"/>
            <a:ext cx="4800600" cy="566928"/>
          </a:xfrm>
          <a:prstGeom prst="rect">
            <a:avLst/>
          </a:prstGeom>
          <a:noFill/>
          <a:ln/>
        </p:spPr>
        <p:txBody>
          <a:bodyPr wrap="square" lIns="0" tIns="0" rIns="0" bIns="0" rtlCol="0" anchor="t"/>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Shared, mixed-use waters</a:t>
            </a:r>
            <a:endParaRPr lang="en-US" sz="1300" dirty="0"/>
          </a:p>
          <a:p>
            <a:pP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Cargo ships and tankers share the harbor with recreational, tug/tow, fishing and passenger traffic</a:t>
            </a:r>
            <a:endParaRPr lang="en-US" sz="1300" dirty="0"/>
          </a:p>
        </p:txBody>
      </p:sp>
      <p:sp>
        <p:nvSpPr>
          <p:cNvPr id="22" name="sources"/>
          <p:cNvSpPr txBox="1"/>
          <p:nvPr/>
        </p:nvSpPr>
        <p:spPr>
          <a:xfrm>
            <a:off x="3291840" y="4507992"/>
            <a:ext cx="5394960" cy="201168"/>
          </a:xfrm>
          <a:prstGeom prst="rect">
            <a:avLst/>
          </a:prstGeom>
          <a:noFill/>
          <a:ln/>
        </p:spPr>
        <p:txBody>
          <a:bodyPr wrap="square" lIns="0" tIns="0" rIns="0" bIns="0" rtlCol="0" anchor="ctr"/>
          <a:lstStyle/>
          <a:p>
            <a:pPr indent="0" marL="0">
              <a:buNone/>
            </a:pPr>
            <a:r>
              <a:rPr lang="en-US" sz="850" dirty="0">
                <a:solidFill>
                  <a:srgbClr val="8A919E"/>
                </a:solidFill>
                <a:latin typeface="프리젠테이션 4 Regular" pitchFamily="34" charset="0"/>
                <a:ea typeface="프리젠테이션 4 Regular" pitchFamily="34" charset="-122"/>
                <a:cs typeface="프리젠테이션 4 Regular" pitchFamily="34" charset="-120"/>
              </a:rPr>
              <a:t>[a] USACE, 2023 Transportation Facts (2025)  [b] Port of Virginia, FY2024 results (Jul 30, 2024)  [c] Port of Virginia, wider channel (Mar 1, 2024). Different periods &amp; units — context only.</a:t>
            </a:r>
            <a:endParaRPr lang="en-US" sz="8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04 — WORK PLAN</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Four steps to priority zones</a:t>
            </a:r>
            <a:endParaRPr lang="en-US" sz="3600" dirty="0"/>
          </a:p>
        </p:txBody>
      </p:sp>
      <p:sp>
        <p:nvSpPr>
          <p:cNvPr id="4" name="step card 0"/>
          <p:cNvSpPr/>
          <p:nvPr/>
        </p:nvSpPr>
        <p:spPr>
          <a:xfrm>
            <a:off x="457200" y="1463040"/>
            <a:ext cx="1865376" cy="3063240"/>
          </a:xfrm>
          <a:prstGeom prst="roundRect">
            <a:avLst>
              <a:gd name="adj" fmla="val 10784"/>
            </a:avLst>
          </a:prstGeom>
          <a:solidFill>
            <a:srgbClr val="EEF0F3"/>
          </a:solidFill>
          <a:ln/>
        </p:spPr>
      </p:sp>
      <p:sp>
        <p:nvSpPr>
          <p:cNvPr id="5" name="step num 0"/>
          <p:cNvSpPr txBox="1"/>
          <p:nvPr/>
        </p:nvSpPr>
        <p:spPr>
          <a:xfrm>
            <a:off x="658368" y="1664208"/>
            <a:ext cx="438912" cy="438912"/>
          </a:xfrm>
          <a:prstGeom prst="ellipse">
            <a:avLst/>
          </a:prstGeom>
          <a:solidFill>
            <a:srgbClr val="0A0B0D"/>
          </a:solidFill>
          <a:ln/>
        </p:spPr>
        <p:txBody>
          <a:bodyPr wrap="square" lIns="0" tIns="0" rIns="0" bIns="0" rtlCol="0" anchor="ctr"/>
          <a:lstStyle/>
          <a:p>
            <a:pPr algn="ctr" indent="0" marL="0">
              <a:buNone/>
            </a:pPr>
            <a:r>
              <a:rPr lang="en-US" sz="1300" dirty="0">
                <a:solidFill>
                  <a:srgbClr val="FFFFFF"/>
                </a:solidFill>
                <a:latin typeface="프리젠테이션 7 Bold" pitchFamily="34" charset="0"/>
                <a:ea typeface="프리젠테이션 7 Bold" pitchFamily="34" charset="-122"/>
                <a:cs typeface="프리젠테이션 7 Bold" pitchFamily="34" charset="-120"/>
              </a:rPr>
              <a:t>01</a:t>
            </a:r>
            <a:endParaRPr lang="en-US" sz="1300" dirty="0"/>
          </a:p>
        </p:txBody>
      </p:sp>
      <p:sp>
        <p:nvSpPr>
          <p:cNvPr id="6" name="step title 0"/>
          <p:cNvSpPr txBox="1"/>
          <p:nvPr/>
        </p:nvSpPr>
        <p:spPr>
          <a:xfrm>
            <a:off x="658368" y="2212848"/>
            <a:ext cx="1499616" cy="502920"/>
          </a:xfrm>
          <a:prstGeom prst="rect">
            <a:avLst/>
          </a:prstGeom>
          <a:noFill/>
          <a:ln/>
        </p:spPr>
        <p:txBody>
          <a:bodyPr wrap="square" lIns="0" tIns="0" rIns="0" bIns="0" rtlCol="0" anchor="t"/>
          <a:lstStyle/>
          <a:p>
            <a:pPr indent="0" marL="0">
              <a:buNone/>
            </a:pPr>
            <a:r>
              <a:rPr lang="en-US" sz="1500" dirty="0">
                <a:solidFill>
                  <a:srgbClr val="0A0B0D"/>
                </a:solidFill>
                <a:latin typeface="프리젠테이션 7 Bold" pitchFamily="34" charset="0"/>
                <a:ea typeface="프리젠테이션 7 Bold" pitchFamily="34" charset="-122"/>
                <a:cs typeface="프리젠테이션 7 Bold" pitchFamily="34" charset="-120"/>
              </a:rPr>
              <a:t>Data build &amp; preprocessing</a:t>
            </a:r>
            <a:endParaRPr lang="en-US" sz="1500" dirty="0"/>
          </a:p>
        </p:txBody>
      </p:sp>
      <p:sp>
        <p:nvSpPr>
          <p:cNvPr id="7" name="step bullets 0"/>
          <p:cNvSpPr txBox="1"/>
          <p:nvPr/>
        </p:nvSpPr>
        <p:spPr>
          <a:xfrm>
            <a:off x="658368" y="2761488"/>
            <a:ext cx="1536192" cy="1051560"/>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Clip to study area</a:t>
            </a:r>
            <a:endParaRPr lang="en-US" sz="1150" dirty="0"/>
          </a:p>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Check missing records</a:t>
            </a:r>
            <a:endParaRPr lang="en-US" sz="1150" dirty="0"/>
          </a:p>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Reproject to UTM</a:t>
            </a:r>
            <a:endParaRPr lang="en-US" sz="1150" dirty="0"/>
          </a:p>
        </p:txBody>
      </p:sp>
      <p:sp>
        <p:nvSpPr>
          <p:cNvPr id="8" name="step output 0"/>
          <p:cNvSpPr txBox="1"/>
          <p:nvPr/>
        </p:nvSpPr>
        <p:spPr>
          <a:xfrm>
            <a:off x="658368" y="3703320"/>
            <a:ext cx="1536192" cy="292608"/>
          </a:xfrm>
          <a:prstGeom prst="rect">
            <a:avLst/>
          </a:prstGeom>
          <a:noFill/>
          <a:ln/>
        </p:spPr>
        <p:txBody>
          <a:bodyPr wrap="square" lIns="0" tIns="0" rIns="0" bIns="0" rtlCol="0" anchor="t"/>
          <a:lstStyle/>
          <a:p>
            <a:pPr indent="0" marL="0">
              <a:buNone/>
            </a:pPr>
            <a:r>
              <a:rPr lang="en-US" sz="1100" dirty="0">
                <a:solidFill>
                  <a:srgbClr val="0052FF"/>
                </a:solidFill>
                <a:latin typeface="프리젠테이션 7 Bold" pitchFamily="34" charset="0"/>
                <a:ea typeface="프리젠테이션 7 Bold" pitchFamily="34" charset="-122"/>
                <a:cs typeface="프리젠테이션 7 Bold" pitchFamily="34" charset="-120"/>
              </a:rPr>
              <a:t>→ </a:t>
            </a:r>
            <a:pPr indent="0" marL="0">
              <a:buNone/>
            </a:pPr>
            <a:r>
              <a:rPr lang="en-US" sz="1100" dirty="0">
                <a:solidFill>
                  <a:srgbClr val="0A0B0D"/>
                </a:solidFill>
                <a:latin typeface="프리젠테이션 4 Regular" pitchFamily="34" charset="0"/>
                <a:ea typeface="프리젠테이션 4 Regular" pitchFamily="34" charset="-122"/>
                <a:cs typeface="프리젠테이션 4 Regular" pitchFamily="34" charset="-120"/>
              </a:rPr>
              <a:t>Clean dataset</a:t>
            </a:r>
            <a:endParaRPr lang="en-US" sz="1100" dirty="0"/>
          </a:p>
        </p:txBody>
      </p:sp>
      <p:sp>
        <p:nvSpPr>
          <p:cNvPr id="9" name="owner pill 0"/>
          <p:cNvSpPr txBox="1"/>
          <p:nvPr/>
        </p:nvSpPr>
        <p:spPr>
          <a:xfrm>
            <a:off x="658368" y="4114800"/>
            <a:ext cx="1143000" cy="256032"/>
          </a:xfrm>
          <a:prstGeom prst="roundRect">
            <a:avLst>
              <a:gd name="adj" fmla="val 50000"/>
            </a:avLst>
          </a:prstGeom>
          <a:solidFill>
            <a:srgbClr val="FFFFFF"/>
          </a:solidFill>
          <a:ln/>
        </p:spPr>
        <p:txBody>
          <a:bodyPr wrap="square" lIns="0" tIns="0" rIns="0" bIns="0" rtlCol="0" anchor="ctr"/>
          <a:lstStyle/>
          <a:p>
            <a:pPr algn="ct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Owner · TBD</a:t>
            </a:r>
            <a:endParaRPr lang="en-US" sz="1050" dirty="0"/>
          </a:p>
        </p:txBody>
      </p:sp>
      <p:sp>
        <p:nvSpPr>
          <p:cNvPr id="10" name="step card 1"/>
          <p:cNvSpPr/>
          <p:nvPr/>
        </p:nvSpPr>
        <p:spPr>
          <a:xfrm>
            <a:off x="2569464" y="1463040"/>
            <a:ext cx="1865376" cy="3063240"/>
          </a:xfrm>
          <a:prstGeom prst="roundRect">
            <a:avLst>
              <a:gd name="adj" fmla="val 10784"/>
            </a:avLst>
          </a:prstGeom>
          <a:solidFill>
            <a:srgbClr val="EEF0F3"/>
          </a:solidFill>
          <a:ln/>
        </p:spPr>
      </p:sp>
      <p:sp>
        <p:nvSpPr>
          <p:cNvPr id="11" name="step num 1"/>
          <p:cNvSpPr txBox="1"/>
          <p:nvPr/>
        </p:nvSpPr>
        <p:spPr>
          <a:xfrm>
            <a:off x="2770632" y="1664208"/>
            <a:ext cx="438912" cy="438912"/>
          </a:xfrm>
          <a:prstGeom prst="ellipse">
            <a:avLst/>
          </a:prstGeom>
          <a:solidFill>
            <a:srgbClr val="0A0B0D"/>
          </a:solidFill>
          <a:ln/>
        </p:spPr>
        <p:txBody>
          <a:bodyPr wrap="square" lIns="0" tIns="0" rIns="0" bIns="0" rtlCol="0" anchor="ctr"/>
          <a:lstStyle/>
          <a:p>
            <a:pPr algn="ctr" indent="0" marL="0">
              <a:buNone/>
            </a:pPr>
            <a:r>
              <a:rPr lang="en-US" sz="1300" dirty="0">
                <a:solidFill>
                  <a:srgbClr val="FFFFFF"/>
                </a:solidFill>
                <a:latin typeface="프리젠테이션 7 Bold" pitchFamily="34" charset="0"/>
                <a:ea typeface="프리젠테이션 7 Bold" pitchFamily="34" charset="-122"/>
                <a:cs typeface="프리젠테이션 7 Bold" pitchFamily="34" charset="-120"/>
              </a:rPr>
              <a:t>02</a:t>
            </a:r>
            <a:endParaRPr lang="en-US" sz="1300" dirty="0"/>
          </a:p>
        </p:txBody>
      </p:sp>
      <p:sp>
        <p:nvSpPr>
          <p:cNvPr id="12" name="step title 1"/>
          <p:cNvSpPr txBox="1"/>
          <p:nvPr/>
        </p:nvSpPr>
        <p:spPr>
          <a:xfrm>
            <a:off x="2770632" y="2212848"/>
            <a:ext cx="1499616" cy="502920"/>
          </a:xfrm>
          <a:prstGeom prst="rect">
            <a:avLst/>
          </a:prstGeom>
          <a:noFill/>
          <a:ln/>
        </p:spPr>
        <p:txBody>
          <a:bodyPr wrap="square" lIns="0" tIns="0" rIns="0" bIns="0" rtlCol="0" anchor="t"/>
          <a:lstStyle/>
          <a:p>
            <a:pPr indent="0" marL="0">
              <a:buNone/>
            </a:pPr>
            <a:r>
              <a:rPr lang="en-US" sz="1500" dirty="0">
                <a:solidFill>
                  <a:srgbClr val="0A0B0D"/>
                </a:solidFill>
                <a:latin typeface="프리젠테이션 7 Bold" pitchFamily="34" charset="0"/>
                <a:ea typeface="프리젠테이션 7 Bold" pitchFamily="34" charset="-122"/>
                <a:cs typeface="프리젠테이션 7 Bold" pitchFamily="34" charset="-120"/>
              </a:rPr>
              <a:t>Traffic characterization</a:t>
            </a:r>
            <a:endParaRPr lang="en-US" sz="1500" dirty="0"/>
          </a:p>
        </p:txBody>
      </p:sp>
      <p:sp>
        <p:nvSpPr>
          <p:cNvPr id="13" name="step bullets 1"/>
          <p:cNvSpPr txBox="1"/>
          <p:nvPr/>
        </p:nvSpPr>
        <p:spPr>
          <a:xfrm>
            <a:off x="2770632" y="2761488"/>
            <a:ext cx="1536192" cy="1051560"/>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Routes by group</a:t>
            </a:r>
            <a:endParaRPr lang="en-US" sz="1150" dirty="0"/>
          </a:p>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Monthly unique ships</a:t>
            </a:r>
            <a:endParaRPr lang="en-US" sz="1150" dirty="0"/>
          </a:p>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Tracks vs. MMSI</a:t>
            </a:r>
            <a:endParaRPr lang="en-US" sz="1150" dirty="0"/>
          </a:p>
        </p:txBody>
      </p:sp>
      <p:sp>
        <p:nvSpPr>
          <p:cNvPr id="14" name="step output 1"/>
          <p:cNvSpPr txBox="1"/>
          <p:nvPr/>
        </p:nvSpPr>
        <p:spPr>
          <a:xfrm>
            <a:off x="2770632" y="3703320"/>
            <a:ext cx="1536192" cy="292608"/>
          </a:xfrm>
          <a:prstGeom prst="rect">
            <a:avLst/>
          </a:prstGeom>
          <a:noFill/>
          <a:ln/>
        </p:spPr>
        <p:txBody>
          <a:bodyPr wrap="square" lIns="0" tIns="0" rIns="0" bIns="0" rtlCol="0" anchor="t"/>
          <a:lstStyle/>
          <a:p>
            <a:pPr indent="0" marL="0">
              <a:buNone/>
            </a:pPr>
            <a:r>
              <a:rPr lang="en-US" sz="1100" dirty="0">
                <a:solidFill>
                  <a:srgbClr val="0052FF"/>
                </a:solidFill>
                <a:latin typeface="프리젠테이션 7 Bold" pitchFamily="34" charset="0"/>
                <a:ea typeface="프리젠테이션 7 Bold" pitchFamily="34" charset="-122"/>
                <a:cs typeface="프리젠테이션 7 Bold" pitchFamily="34" charset="-120"/>
              </a:rPr>
              <a:t>→ </a:t>
            </a:r>
            <a:pPr indent="0" marL="0">
              <a:buNone/>
            </a:pPr>
            <a:r>
              <a:rPr lang="en-US" sz="1100" dirty="0">
                <a:solidFill>
                  <a:srgbClr val="0A0B0D"/>
                </a:solidFill>
                <a:latin typeface="프리젠테이션 4 Regular" pitchFamily="34" charset="0"/>
                <a:ea typeface="프리젠테이션 4 Regular" pitchFamily="34" charset="-122"/>
                <a:cs typeface="프리젠테이션 4 Regular" pitchFamily="34" charset="-120"/>
              </a:rPr>
              <a:t>Route maps · stats</a:t>
            </a:r>
            <a:endParaRPr lang="en-US" sz="1100" dirty="0"/>
          </a:p>
        </p:txBody>
      </p:sp>
      <p:sp>
        <p:nvSpPr>
          <p:cNvPr id="15" name="owner pill 1"/>
          <p:cNvSpPr txBox="1"/>
          <p:nvPr/>
        </p:nvSpPr>
        <p:spPr>
          <a:xfrm>
            <a:off x="2770632" y="4114800"/>
            <a:ext cx="1143000" cy="256032"/>
          </a:xfrm>
          <a:prstGeom prst="roundRect">
            <a:avLst>
              <a:gd name="adj" fmla="val 50000"/>
            </a:avLst>
          </a:prstGeom>
          <a:solidFill>
            <a:srgbClr val="FFFFFF"/>
          </a:solidFill>
          <a:ln/>
        </p:spPr>
        <p:txBody>
          <a:bodyPr wrap="square" lIns="0" tIns="0" rIns="0" bIns="0" rtlCol="0" anchor="ctr"/>
          <a:lstStyle/>
          <a:p>
            <a:pPr algn="ct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Owner · TBD</a:t>
            </a:r>
            <a:endParaRPr lang="en-US" sz="1050" dirty="0"/>
          </a:p>
        </p:txBody>
      </p:sp>
      <p:sp>
        <p:nvSpPr>
          <p:cNvPr id="16" name="step card 2"/>
          <p:cNvSpPr/>
          <p:nvPr/>
        </p:nvSpPr>
        <p:spPr>
          <a:xfrm>
            <a:off x="4681728" y="1463040"/>
            <a:ext cx="1865376" cy="3063240"/>
          </a:xfrm>
          <a:prstGeom prst="roundRect">
            <a:avLst>
              <a:gd name="adj" fmla="val 10784"/>
            </a:avLst>
          </a:prstGeom>
          <a:solidFill>
            <a:srgbClr val="EEF0F3"/>
          </a:solidFill>
          <a:ln/>
        </p:spPr>
      </p:sp>
      <p:sp>
        <p:nvSpPr>
          <p:cNvPr id="17" name="step num 2"/>
          <p:cNvSpPr txBox="1"/>
          <p:nvPr/>
        </p:nvSpPr>
        <p:spPr>
          <a:xfrm>
            <a:off x="4882896" y="1664208"/>
            <a:ext cx="438912" cy="438912"/>
          </a:xfrm>
          <a:prstGeom prst="ellipse">
            <a:avLst/>
          </a:prstGeom>
          <a:solidFill>
            <a:srgbClr val="0052FF"/>
          </a:solidFill>
          <a:ln/>
        </p:spPr>
        <p:txBody>
          <a:bodyPr wrap="square" lIns="0" tIns="0" rIns="0" bIns="0" rtlCol="0" anchor="ctr"/>
          <a:lstStyle/>
          <a:p>
            <a:pPr algn="ctr" indent="0" marL="0">
              <a:buNone/>
            </a:pPr>
            <a:r>
              <a:rPr lang="en-US" sz="1300" dirty="0">
                <a:solidFill>
                  <a:srgbClr val="FFFFFF"/>
                </a:solidFill>
                <a:latin typeface="프리젠테이션 7 Bold" pitchFamily="34" charset="0"/>
                <a:ea typeface="프리젠테이션 7 Bold" pitchFamily="34" charset="-122"/>
                <a:cs typeface="프리젠테이션 7 Bold" pitchFamily="34" charset="-120"/>
              </a:rPr>
              <a:t>03</a:t>
            </a:r>
            <a:endParaRPr lang="en-US" sz="1300" dirty="0"/>
          </a:p>
        </p:txBody>
      </p:sp>
      <p:sp>
        <p:nvSpPr>
          <p:cNvPr id="18" name="step title 2"/>
          <p:cNvSpPr txBox="1"/>
          <p:nvPr/>
        </p:nvSpPr>
        <p:spPr>
          <a:xfrm>
            <a:off x="4882896" y="2212848"/>
            <a:ext cx="1499616" cy="502920"/>
          </a:xfrm>
          <a:prstGeom prst="rect">
            <a:avLst/>
          </a:prstGeom>
          <a:noFill/>
          <a:ln/>
        </p:spPr>
        <p:txBody>
          <a:bodyPr wrap="square" lIns="0" tIns="0" rIns="0" bIns="0" rtlCol="0" anchor="t"/>
          <a:lstStyle/>
          <a:p>
            <a:pPr indent="0" marL="0">
              <a:buNone/>
            </a:pPr>
            <a:r>
              <a:rPr lang="en-US" sz="1500" dirty="0">
                <a:solidFill>
                  <a:srgbClr val="0A0B0D"/>
                </a:solidFill>
                <a:latin typeface="프리젠테이션 7 Bold" pitchFamily="34" charset="0"/>
                <a:ea typeface="프리젠테이션 7 Bold" pitchFamily="34" charset="-122"/>
                <a:cs typeface="프리젠테이션 7 Bold" pitchFamily="34" charset="-120"/>
              </a:rPr>
              <a:t>Priority zone selection</a:t>
            </a:r>
            <a:endParaRPr lang="en-US" sz="1500" dirty="0"/>
          </a:p>
        </p:txBody>
      </p:sp>
      <p:sp>
        <p:nvSpPr>
          <p:cNvPr id="19" name="step bullets 2"/>
          <p:cNvSpPr txBox="1"/>
          <p:nvPr/>
        </p:nvSpPr>
        <p:spPr>
          <a:xfrm>
            <a:off x="4882896" y="2761488"/>
            <a:ext cx="1536192" cy="1051560"/>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500 m grid count</a:t>
            </a:r>
            <a:endParaRPr lang="en-US" sz="1150" dirty="0"/>
          </a:p>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Top 10% = candidates</a:t>
            </a:r>
            <a:endParaRPr lang="en-US" sz="1150" dirty="0"/>
          </a:p>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Cargo–tanker overlap</a:t>
            </a:r>
            <a:endParaRPr lang="en-US" sz="1150" dirty="0"/>
          </a:p>
        </p:txBody>
      </p:sp>
      <p:sp>
        <p:nvSpPr>
          <p:cNvPr id="20" name="step output 2"/>
          <p:cNvSpPr txBox="1"/>
          <p:nvPr/>
        </p:nvSpPr>
        <p:spPr>
          <a:xfrm>
            <a:off x="4882896" y="3703320"/>
            <a:ext cx="1536192" cy="292608"/>
          </a:xfrm>
          <a:prstGeom prst="rect">
            <a:avLst/>
          </a:prstGeom>
          <a:noFill/>
          <a:ln/>
        </p:spPr>
        <p:txBody>
          <a:bodyPr wrap="square" lIns="0" tIns="0" rIns="0" bIns="0" rtlCol="0" anchor="t"/>
          <a:lstStyle/>
          <a:p>
            <a:pPr indent="0" marL="0">
              <a:buNone/>
            </a:pPr>
            <a:r>
              <a:rPr lang="en-US" sz="1100" dirty="0">
                <a:solidFill>
                  <a:srgbClr val="0052FF"/>
                </a:solidFill>
                <a:latin typeface="프리젠테이션 7 Bold" pitchFamily="34" charset="0"/>
                <a:ea typeface="프리젠테이션 7 Bold" pitchFamily="34" charset="-122"/>
                <a:cs typeface="프리젠테이션 7 Bold" pitchFamily="34" charset="-120"/>
              </a:rPr>
              <a:t>→ </a:t>
            </a:r>
            <a:pPr indent="0" marL="0">
              <a:buNone/>
            </a:pPr>
            <a:r>
              <a:rPr lang="en-US" sz="1100" dirty="0">
                <a:solidFill>
                  <a:srgbClr val="0A0B0D"/>
                </a:solidFill>
                <a:latin typeface="프리젠테이션 4 Regular" pitchFamily="34" charset="0"/>
                <a:ea typeface="프리젠테이션 4 Regular" pitchFamily="34" charset="-122"/>
                <a:cs typeface="프리젠테이션 4 Regular" pitchFamily="34" charset="-120"/>
              </a:rPr>
              <a:t>Priority map + table</a:t>
            </a:r>
            <a:endParaRPr lang="en-US" sz="1100" dirty="0"/>
          </a:p>
        </p:txBody>
      </p:sp>
      <p:sp>
        <p:nvSpPr>
          <p:cNvPr id="21" name="owner pill 2"/>
          <p:cNvSpPr txBox="1"/>
          <p:nvPr/>
        </p:nvSpPr>
        <p:spPr>
          <a:xfrm>
            <a:off x="4882896" y="4114800"/>
            <a:ext cx="1143000" cy="256032"/>
          </a:xfrm>
          <a:prstGeom prst="roundRect">
            <a:avLst>
              <a:gd name="adj" fmla="val 50000"/>
            </a:avLst>
          </a:prstGeom>
          <a:solidFill>
            <a:srgbClr val="FFFFFF"/>
          </a:solidFill>
          <a:ln/>
        </p:spPr>
        <p:txBody>
          <a:bodyPr wrap="square" lIns="0" tIns="0" rIns="0" bIns="0" rtlCol="0" anchor="ctr"/>
          <a:lstStyle/>
          <a:p>
            <a:pPr algn="ct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Owner · TBD</a:t>
            </a:r>
            <a:endParaRPr lang="en-US" sz="1050" dirty="0"/>
          </a:p>
        </p:txBody>
      </p:sp>
      <p:sp>
        <p:nvSpPr>
          <p:cNvPr id="22" name="step card 3"/>
          <p:cNvSpPr/>
          <p:nvPr/>
        </p:nvSpPr>
        <p:spPr>
          <a:xfrm>
            <a:off x="6793992" y="1463040"/>
            <a:ext cx="1865376" cy="3063240"/>
          </a:xfrm>
          <a:prstGeom prst="roundRect">
            <a:avLst>
              <a:gd name="adj" fmla="val 10784"/>
            </a:avLst>
          </a:prstGeom>
          <a:solidFill>
            <a:srgbClr val="EEF0F3"/>
          </a:solidFill>
          <a:ln/>
        </p:spPr>
      </p:sp>
      <p:sp>
        <p:nvSpPr>
          <p:cNvPr id="23" name="step num 3"/>
          <p:cNvSpPr txBox="1"/>
          <p:nvPr/>
        </p:nvSpPr>
        <p:spPr>
          <a:xfrm>
            <a:off x="6995160" y="1664208"/>
            <a:ext cx="438912" cy="438912"/>
          </a:xfrm>
          <a:prstGeom prst="ellipse">
            <a:avLst/>
          </a:prstGeom>
          <a:solidFill>
            <a:srgbClr val="0A0B0D"/>
          </a:solidFill>
          <a:ln/>
        </p:spPr>
        <p:txBody>
          <a:bodyPr wrap="square" lIns="0" tIns="0" rIns="0" bIns="0" rtlCol="0" anchor="ctr"/>
          <a:lstStyle/>
          <a:p>
            <a:pPr algn="ctr" indent="0" marL="0">
              <a:buNone/>
            </a:pPr>
            <a:r>
              <a:rPr lang="en-US" sz="1300" dirty="0">
                <a:solidFill>
                  <a:srgbClr val="FFFFFF"/>
                </a:solidFill>
                <a:latin typeface="프리젠테이션 7 Bold" pitchFamily="34" charset="0"/>
                <a:ea typeface="프리젠테이션 7 Bold" pitchFamily="34" charset="-122"/>
                <a:cs typeface="프리젠테이션 7 Bold" pitchFamily="34" charset="-120"/>
              </a:rPr>
              <a:t>04</a:t>
            </a:r>
            <a:endParaRPr lang="en-US" sz="1300" dirty="0"/>
          </a:p>
        </p:txBody>
      </p:sp>
      <p:sp>
        <p:nvSpPr>
          <p:cNvPr id="24" name="step title 3"/>
          <p:cNvSpPr txBox="1"/>
          <p:nvPr/>
        </p:nvSpPr>
        <p:spPr>
          <a:xfrm>
            <a:off x="6995160" y="2212848"/>
            <a:ext cx="1499616" cy="502920"/>
          </a:xfrm>
          <a:prstGeom prst="rect">
            <a:avLst/>
          </a:prstGeom>
          <a:noFill/>
          <a:ln/>
        </p:spPr>
        <p:txBody>
          <a:bodyPr wrap="square" lIns="0" tIns="0" rIns="0" bIns="0" rtlCol="0" anchor="t"/>
          <a:lstStyle/>
          <a:p>
            <a:pPr indent="0" marL="0">
              <a:buNone/>
            </a:pPr>
            <a:r>
              <a:rPr lang="en-US" sz="1500" dirty="0">
                <a:solidFill>
                  <a:srgbClr val="0A0B0D"/>
                </a:solidFill>
                <a:latin typeface="프리젠테이션 7 Bold" pitchFamily="34" charset="0"/>
                <a:ea typeface="프리젠테이션 7 Bold" pitchFamily="34" charset="-122"/>
                <a:cs typeface="프리젠테이션 7 Bold" pitchFamily="34" charset="-120"/>
              </a:rPr>
              <a:t>Robustness check</a:t>
            </a:r>
            <a:endParaRPr lang="en-US" sz="1500" dirty="0"/>
          </a:p>
        </p:txBody>
      </p:sp>
      <p:sp>
        <p:nvSpPr>
          <p:cNvPr id="25" name="step bullets 3"/>
          <p:cNvSpPr txBox="1"/>
          <p:nvPr/>
        </p:nvSpPr>
        <p:spPr>
          <a:xfrm>
            <a:off x="6995160" y="2761488"/>
            <a:ext cx="1536192" cy="1051560"/>
          </a:xfrm>
          <a:prstGeom prst="rect">
            <a:avLst/>
          </a:prstGeom>
          <a:noFill/>
          <a:ln/>
        </p:spPr>
        <p:txBody>
          <a:bodyPr wrap="square" lIns="0" tIns="0" rIns="0" bIns="0" rtlCol="0" anchor="t"/>
          <a:lstStyle/>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Grid 250 m – 1 km</a:t>
            </a:r>
            <a:endParaRPr lang="en-US" sz="1150" dirty="0"/>
          </a:p>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Cut-off 10% vs. 20%</a:t>
            </a:r>
            <a:endParaRPr lang="en-US" sz="1150" dirty="0"/>
          </a:p>
          <a:p>
            <a:pPr marL="127000" indent="-127000">
              <a:spcAft>
                <a:spcPts val="300"/>
              </a:spcAft>
              <a:buSzPct val="100000"/>
              <a:buChar char="•"/>
            </a:pPr>
            <a:r>
              <a:rPr lang="en-US" sz="1150" dirty="0">
                <a:solidFill>
                  <a:srgbClr val="5B616E"/>
                </a:solidFill>
                <a:latin typeface="프리젠테이션 4 Regular" pitchFamily="34" charset="0"/>
                <a:ea typeface="프리젠테이션 4 Regular" pitchFamily="34" charset="-122"/>
                <a:cs typeface="프리젠테이션 4 Regular" pitchFamily="34" charset="-120"/>
              </a:rPr>
              <a:t>Overlap area &amp; shift</a:t>
            </a:r>
            <a:endParaRPr lang="en-US" sz="1150" dirty="0"/>
          </a:p>
        </p:txBody>
      </p:sp>
      <p:sp>
        <p:nvSpPr>
          <p:cNvPr id="26" name="step output 3"/>
          <p:cNvSpPr txBox="1"/>
          <p:nvPr/>
        </p:nvSpPr>
        <p:spPr>
          <a:xfrm>
            <a:off x="6995160" y="3703320"/>
            <a:ext cx="1536192" cy="292608"/>
          </a:xfrm>
          <a:prstGeom prst="rect">
            <a:avLst/>
          </a:prstGeom>
          <a:noFill/>
          <a:ln/>
        </p:spPr>
        <p:txBody>
          <a:bodyPr wrap="square" lIns="0" tIns="0" rIns="0" bIns="0" rtlCol="0" anchor="t"/>
          <a:lstStyle/>
          <a:p>
            <a:pPr indent="0" marL="0">
              <a:buNone/>
            </a:pPr>
            <a:r>
              <a:rPr lang="en-US" sz="1100" dirty="0">
                <a:solidFill>
                  <a:srgbClr val="0052FF"/>
                </a:solidFill>
                <a:latin typeface="프리젠테이션 7 Bold" pitchFamily="34" charset="0"/>
                <a:ea typeface="프리젠테이션 7 Bold" pitchFamily="34" charset="-122"/>
                <a:cs typeface="프리젠테이션 7 Bold" pitchFamily="34" charset="-120"/>
              </a:rPr>
              <a:t>→ </a:t>
            </a:r>
            <a:pPr indent="0" marL="0">
              <a:buNone/>
            </a:pPr>
            <a:r>
              <a:rPr lang="en-US" sz="1100" dirty="0">
                <a:solidFill>
                  <a:srgbClr val="0A0B0D"/>
                </a:solidFill>
                <a:latin typeface="프리젠테이션 4 Regular" pitchFamily="34" charset="0"/>
                <a:ea typeface="프리젠테이션 4 Regular" pitchFamily="34" charset="-122"/>
                <a:cs typeface="프리젠테이션 4 Regular" pitchFamily="34" charset="-120"/>
              </a:rPr>
              <a:t>Stable vs. fragile zones</a:t>
            </a:r>
            <a:endParaRPr lang="en-US" sz="1100" dirty="0"/>
          </a:p>
        </p:txBody>
      </p:sp>
      <p:sp>
        <p:nvSpPr>
          <p:cNvPr id="27" name="owner pill 3"/>
          <p:cNvSpPr txBox="1"/>
          <p:nvPr/>
        </p:nvSpPr>
        <p:spPr>
          <a:xfrm>
            <a:off x="6995160" y="4114800"/>
            <a:ext cx="1143000" cy="256032"/>
          </a:xfrm>
          <a:prstGeom prst="roundRect">
            <a:avLst>
              <a:gd name="adj" fmla="val 50000"/>
            </a:avLst>
          </a:prstGeom>
          <a:solidFill>
            <a:srgbClr val="FFFFFF"/>
          </a:solidFill>
          <a:ln/>
        </p:spPr>
        <p:txBody>
          <a:bodyPr wrap="square" lIns="0" tIns="0" rIns="0" bIns="0" rtlCol="0" anchor="ctr"/>
          <a:lstStyle/>
          <a:p>
            <a:pPr algn="ct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Owner · TBD</a:t>
            </a:r>
            <a:endParaRPr lang="en-US" sz="10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05 — AIS DATA OVERVIEW</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What is in the AIS track dataset</a:t>
            </a:r>
            <a:endParaRPr lang="en-US" sz="3600" dirty="0"/>
          </a:p>
        </p:txBody>
      </p:sp>
      <p:sp>
        <p:nvSpPr>
          <p:cNvPr id="4" name="fact tile 0"/>
          <p:cNvSpPr/>
          <p:nvPr/>
        </p:nvSpPr>
        <p:spPr>
          <a:xfrm>
            <a:off x="457200" y="1417320"/>
            <a:ext cx="1874520" cy="896112"/>
          </a:xfrm>
          <a:prstGeom prst="roundRect">
            <a:avLst>
              <a:gd name="adj" fmla="val 22449"/>
            </a:avLst>
          </a:prstGeom>
          <a:solidFill>
            <a:srgbClr val="EEF0F3"/>
          </a:solidFill>
          <a:ln/>
        </p:spPr>
      </p:sp>
      <p:sp>
        <p:nvSpPr>
          <p:cNvPr id="5" name="fact val 0"/>
          <p:cNvSpPr txBox="1"/>
          <p:nvPr/>
        </p:nvSpPr>
        <p:spPr>
          <a:xfrm>
            <a:off x="658368" y="1508760"/>
            <a:ext cx="1600200" cy="438912"/>
          </a:xfrm>
          <a:prstGeom prst="rect">
            <a:avLst/>
          </a:prstGeom>
          <a:noFill/>
          <a:ln/>
        </p:spPr>
        <p:txBody>
          <a:bodyPr wrap="square" lIns="0" tIns="0" rIns="0" bIns="0" rtlCol="0" anchor="ctr"/>
          <a:lstStyle/>
          <a:p>
            <a:pPr indent="0" marL="0">
              <a:buNone/>
            </a:pPr>
            <a:r>
              <a:rPr lang="en-US" sz="2200" dirty="0">
                <a:solidFill>
                  <a:srgbClr val="0A0B0D"/>
                </a:solidFill>
                <a:latin typeface="프리젠테이션 4 Regular" pitchFamily="34" charset="0"/>
                <a:ea typeface="프리젠테이션 4 Regular" pitchFamily="34" charset="-122"/>
                <a:cs typeface="프리젠테이션 4 Regular" pitchFamily="34" charset="-120"/>
              </a:rPr>
              <a:t>GeoPackage</a:t>
            </a:r>
            <a:endParaRPr lang="en-US" sz="2200" dirty="0"/>
          </a:p>
        </p:txBody>
      </p:sp>
      <p:sp>
        <p:nvSpPr>
          <p:cNvPr id="6" name="fact label 0"/>
          <p:cNvSpPr txBox="1"/>
          <p:nvPr/>
        </p:nvSpPr>
        <p:spPr>
          <a:xfrm>
            <a:off x="658368" y="1920240"/>
            <a:ext cx="1645920" cy="347472"/>
          </a:xfrm>
          <a:prstGeom prst="rect">
            <a:avLst/>
          </a:prstGeom>
          <a:noFill/>
          <a:ln/>
        </p:spPr>
        <p:txBody>
          <a:bodyPr wrap="square" lIns="0" tIns="0" rIns="0" bIns="0" rtlCol="0" anchor="t"/>
          <a:lstStyle/>
          <a:p>
            <a:pPr indent="0" marL="0">
              <a:buNone/>
            </a:pPr>
            <a:r>
              <a:rPr lang="en-US" sz="1000" dirty="0">
                <a:solidFill>
                  <a:srgbClr val="0A0B0D"/>
                </a:solidFill>
                <a:latin typeface="프리젠테이션 7 Bold" pitchFamily="34" charset="0"/>
                <a:ea typeface="프리젠테이션 7 Bold" pitchFamily="34" charset="-122"/>
                <a:cs typeface="프리젠테이션 7 Bold" pitchFamily="34" charset="-120"/>
              </a:rPr>
              <a:t>file format</a:t>
            </a:r>
            <a:endParaRPr lang="en-US" sz="1000" dirty="0"/>
          </a:p>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SQLite container (.gpkg)</a:t>
            </a:r>
            <a:endParaRPr lang="en-US" sz="1000" dirty="0"/>
          </a:p>
        </p:txBody>
      </p:sp>
      <p:sp>
        <p:nvSpPr>
          <p:cNvPr id="7" name="fact tile 1"/>
          <p:cNvSpPr/>
          <p:nvPr/>
        </p:nvSpPr>
        <p:spPr>
          <a:xfrm>
            <a:off x="2468880" y="1417320"/>
            <a:ext cx="1874520" cy="896112"/>
          </a:xfrm>
          <a:prstGeom prst="roundRect">
            <a:avLst>
              <a:gd name="adj" fmla="val 22449"/>
            </a:avLst>
          </a:prstGeom>
          <a:solidFill>
            <a:srgbClr val="EEF0F3"/>
          </a:solidFill>
          <a:ln/>
        </p:spPr>
      </p:sp>
      <p:sp>
        <p:nvSpPr>
          <p:cNvPr id="8" name="fact val 1"/>
          <p:cNvSpPr txBox="1"/>
          <p:nvPr/>
        </p:nvSpPr>
        <p:spPr>
          <a:xfrm>
            <a:off x="2670048" y="1508760"/>
            <a:ext cx="1600200" cy="438912"/>
          </a:xfrm>
          <a:prstGeom prst="rect">
            <a:avLst/>
          </a:prstGeom>
          <a:noFill/>
          <a:ln/>
        </p:spPr>
        <p:txBody>
          <a:bodyPr wrap="square" lIns="0" tIns="0" rIns="0" bIns="0" rtlCol="0" anchor="ctr"/>
          <a:lstStyle/>
          <a:p>
            <a:pPr indent="0" marL="0">
              <a:buNone/>
            </a:pPr>
            <a:r>
              <a:rPr lang="en-US" sz="2200" dirty="0">
                <a:solidFill>
                  <a:srgbClr val="0A0B0D"/>
                </a:solidFill>
                <a:latin typeface="프리젠테이션 4 Regular" pitchFamily="34" charset="0"/>
                <a:ea typeface="프리젠테이션 4 Regular" pitchFamily="34" charset="-122"/>
                <a:cs typeface="프리젠테이션 4 Regular" pitchFamily="34" charset="-120"/>
              </a:rPr>
              <a:t>1 layer</a:t>
            </a:r>
            <a:endParaRPr lang="en-US" sz="2200" dirty="0"/>
          </a:p>
        </p:txBody>
      </p:sp>
      <p:sp>
        <p:nvSpPr>
          <p:cNvPr id="9" name="fact label 1"/>
          <p:cNvSpPr txBox="1"/>
          <p:nvPr/>
        </p:nvSpPr>
        <p:spPr>
          <a:xfrm>
            <a:off x="2670048" y="1920240"/>
            <a:ext cx="1645920" cy="347472"/>
          </a:xfrm>
          <a:prstGeom prst="rect">
            <a:avLst/>
          </a:prstGeom>
          <a:noFill/>
          <a:ln/>
        </p:spPr>
        <p:txBody>
          <a:bodyPr wrap="square" lIns="0" tIns="0" rIns="0" bIns="0" rtlCol="0" anchor="t"/>
          <a:lstStyle/>
          <a:p>
            <a:pPr indent="0" marL="0">
              <a:buNone/>
            </a:pPr>
            <a:r>
              <a:rPr lang="en-US" sz="1000" dirty="0">
                <a:solidFill>
                  <a:srgbClr val="0A0B0D"/>
                </a:solidFill>
                <a:latin typeface="프리젠테이션 7 Bold" pitchFamily="34" charset="0"/>
                <a:ea typeface="프리젠테이션 7 Bold" pitchFamily="34" charset="-122"/>
                <a:cs typeface="프리젠테이션 7 Bold" pitchFamily="34" charset="-120"/>
              </a:rPr>
              <a:t>feature layer</a:t>
            </a:r>
            <a:endParaRPr lang="en-US" sz="1000" dirty="0"/>
          </a:p>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AISVesselTracks2024</a:t>
            </a:r>
            <a:endParaRPr lang="en-US" sz="1000" dirty="0"/>
          </a:p>
        </p:txBody>
      </p:sp>
      <p:sp>
        <p:nvSpPr>
          <p:cNvPr id="10" name="fact tile 2"/>
          <p:cNvSpPr/>
          <p:nvPr/>
        </p:nvSpPr>
        <p:spPr>
          <a:xfrm>
            <a:off x="457200" y="2441448"/>
            <a:ext cx="1874520" cy="896112"/>
          </a:xfrm>
          <a:prstGeom prst="roundRect">
            <a:avLst>
              <a:gd name="adj" fmla="val 22449"/>
            </a:avLst>
          </a:prstGeom>
          <a:solidFill>
            <a:srgbClr val="EEF0F3"/>
          </a:solidFill>
          <a:ln/>
        </p:spPr>
      </p:sp>
      <p:sp>
        <p:nvSpPr>
          <p:cNvPr id="11" name="fact val 2"/>
          <p:cNvSpPr txBox="1"/>
          <p:nvPr/>
        </p:nvSpPr>
        <p:spPr>
          <a:xfrm>
            <a:off x="658368" y="2532888"/>
            <a:ext cx="1600200" cy="438912"/>
          </a:xfrm>
          <a:prstGeom prst="rect">
            <a:avLst/>
          </a:prstGeom>
          <a:noFill/>
          <a:ln/>
        </p:spPr>
        <p:txBody>
          <a:bodyPr wrap="square" lIns="0" tIns="0" rIns="0" bIns="0" rtlCol="0" anchor="ctr"/>
          <a:lstStyle/>
          <a:p>
            <a:pPr indent="0" marL="0">
              <a:buNone/>
            </a:pPr>
            <a:r>
              <a:rPr lang="en-US" sz="2200" dirty="0">
                <a:solidFill>
                  <a:srgbClr val="0A0B0D"/>
                </a:solidFill>
                <a:latin typeface="프리젠테이션 4 Regular" pitchFamily="34" charset="0"/>
                <a:ea typeface="프리젠테이션 4 Regular" pitchFamily="34" charset="-122"/>
                <a:cs typeface="프리젠테이션 4 Regular" pitchFamily="34" charset="-120"/>
              </a:rPr>
              <a:t>11 fields</a:t>
            </a:r>
            <a:endParaRPr lang="en-US" sz="2200" dirty="0"/>
          </a:p>
        </p:txBody>
      </p:sp>
      <p:sp>
        <p:nvSpPr>
          <p:cNvPr id="12" name="fact label 2"/>
          <p:cNvSpPr txBox="1"/>
          <p:nvPr/>
        </p:nvSpPr>
        <p:spPr>
          <a:xfrm>
            <a:off x="658368" y="2944368"/>
            <a:ext cx="1645920" cy="347472"/>
          </a:xfrm>
          <a:prstGeom prst="rect">
            <a:avLst/>
          </a:prstGeom>
          <a:noFill/>
          <a:ln/>
        </p:spPr>
        <p:txBody>
          <a:bodyPr wrap="square" lIns="0" tIns="0" rIns="0" bIns="0" rtlCol="0" anchor="t"/>
          <a:lstStyle/>
          <a:p>
            <a:pPr indent="0" marL="0">
              <a:buNone/>
            </a:pPr>
            <a:r>
              <a:rPr lang="en-US" sz="1000" dirty="0">
                <a:solidFill>
                  <a:srgbClr val="0A0B0D"/>
                </a:solidFill>
                <a:latin typeface="프리젠테이션 7 Bold" pitchFamily="34" charset="0"/>
                <a:ea typeface="프리젠테이션 7 Bold" pitchFamily="34" charset="-122"/>
                <a:cs typeface="프리젠테이션 7 Bold" pitchFamily="34" charset="-120"/>
              </a:rPr>
              <a:t>per row</a:t>
            </a:r>
            <a:endParaRPr lang="en-US" sz="1000" dirty="0"/>
          </a:p>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10 attributes + Shape</a:t>
            </a:r>
            <a:endParaRPr lang="en-US" sz="1000" dirty="0"/>
          </a:p>
        </p:txBody>
      </p:sp>
      <p:sp>
        <p:nvSpPr>
          <p:cNvPr id="13" name="fact tile 3"/>
          <p:cNvSpPr/>
          <p:nvPr/>
        </p:nvSpPr>
        <p:spPr>
          <a:xfrm>
            <a:off x="2468880" y="2441448"/>
            <a:ext cx="1874520" cy="896112"/>
          </a:xfrm>
          <a:prstGeom prst="roundRect">
            <a:avLst>
              <a:gd name="adj" fmla="val 22449"/>
            </a:avLst>
          </a:prstGeom>
          <a:solidFill>
            <a:srgbClr val="EEF0F3"/>
          </a:solidFill>
          <a:ln/>
        </p:spPr>
      </p:sp>
      <p:sp>
        <p:nvSpPr>
          <p:cNvPr id="14" name="fact val 3"/>
          <p:cNvSpPr txBox="1"/>
          <p:nvPr/>
        </p:nvSpPr>
        <p:spPr>
          <a:xfrm>
            <a:off x="2670048" y="2532888"/>
            <a:ext cx="1600200" cy="438912"/>
          </a:xfrm>
          <a:prstGeom prst="rect">
            <a:avLst/>
          </a:prstGeom>
          <a:noFill/>
          <a:ln/>
        </p:spPr>
        <p:txBody>
          <a:bodyPr wrap="square" lIns="0" tIns="0" rIns="0" bIns="0" rtlCol="0" anchor="ctr"/>
          <a:lstStyle/>
          <a:p>
            <a:pPr indent="0" marL="0">
              <a:buNone/>
            </a:pPr>
            <a:r>
              <a:rPr lang="en-US" sz="2200" dirty="0">
                <a:solidFill>
                  <a:srgbClr val="0A0B0D"/>
                </a:solidFill>
                <a:latin typeface="프리젠테이션 4 Regular" pitchFamily="34" charset="0"/>
                <a:ea typeface="프리젠테이션 4 Regular" pitchFamily="34" charset="-122"/>
                <a:cs typeface="프리젠테이션 4 Regular" pitchFamily="34" charset="-120"/>
              </a:rPr>
              <a:t>EPSG:4269</a:t>
            </a:r>
            <a:endParaRPr lang="en-US" sz="2200" dirty="0"/>
          </a:p>
        </p:txBody>
      </p:sp>
      <p:sp>
        <p:nvSpPr>
          <p:cNvPr id="15" name="fact label 3"/>
          <p:cNvSpPr txBox="1"/>
          <p:nvPr/>
        </p:nvSpPr>
        <p:spPr>
          <a:xfrm>
            <a:off x="2670048" y="2944368"/>
            <a:ext cx="1645920" cy="347472"/>
          </a:xfrm>
          <a:prstGeom prst="rect">
            <a:avLst/>
          </a:prstGeom>
          <a:noFill/>
          <a:ln/>
        </p:spPr>
        <p:txBody>
          <a:bodyPr wrap="square" lIns="0" tIns="0" rIns="0" bIns="0" rtlCol="0" anchor="t"/>
          <a:lstStyle/>
          <a:p>
            <a:pPr indent="0" marL="0">
              <a:buNone/>
            </a:pPr>
            <a:r>
              <a:rPr lang="en-US" sz="1000" dirty="0">
                <a:solidFill>
                  <a:srgbClr val="0A0B0D"/>
                </a:solidFill>
                <a:latin typeface="프리젠테이션 7 Bold" pitchFamily="34" charset="0"/>
                <a:ea typeface="프리젠테이션 7 Bold" pitchFamily="34" charset="-122"/>
                <a:cs typeface="프리젠테이션 7 Bold" pitchFamily="34" charset="-120"/>
              </a:rPr>
              <a:t>coordinates</a:t>
            </a:r>
            <a:endParaRPr lang="en-US" sz="1000" dirty="0"/>
          </a:p>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NAD83 lon / lat</a:t>
            </a:r>
            <a:endParaRPr lang="en-US" sz="1000" dirty="0"/>
          </a:p>
        </p:txBody>
      </p:sp>
      <p:sp>
        <p:nvSpPr>
          <p:cNvPr id="16" name="vg h"/>
          <p:cNvSpPr txBox="1"/>
          <p:nvPr/>
        </p:nvSpPr>
        <p:spPr>
          <a:xfrm>
            <a:off x="457200" y="3547872"/>
            <a:ext cx="3931920" cy="256032"/>
          </a:xfrm>
          <a:prstGeom prst="rect">
            <a:avLst/>
          </a:prstGeom>
          <a:noFill/>
          <a:ln/>
        </p:spPr>
        <p:txBody>
          <a:bodyPr wrap="square" lIns="0" tIns="0" rIns="0" bIns="0" rtlCol="0" anchor="ctr"/>
          <a:lstStyle/>
          <a:p>
            <a:pPr indent="0" marL="0">
              <a:buNone/>
            </a:pPr>
            <a:r>
              <a:rPr lang="en-US" sz="1200" dirty="0">
                <a:solidFill>
                  <a:srgbClr val="0A0B0D"/>
                </a:solidFill>
                <a:latin typeface="프리젠테이션 7 Bold" pitchFamily="34" charset="0"/>
                <a:ea typeface="프리젠테이션 7 Bold" pitchFamily="34" charset="-122"/>
                <a:cs typeface="프리젠테이션 7 Bold" pitchFamily="34" charset="-120"/>
              </a:rPr>
              <a:t>VesselGroup — 8 groups observed in our area</a:t>
            </a:r>
            <a:endParaRPr lang="en-US" sz="1200" dirty="0"/>
          </a:p>
        </p:txBody>
      </p:sp>
      <p:sp>
        <p:nvSpPr>
          <p:cNvPr id="17" name="vg Cargo"/>
          <p:cNvSpPr txBox="1"/>
          <p:nvPr/>
        </p:nvSpPr>
        <p:spPr>
          <a:xfrm>
            <a:off x="457200" y="3895344"/>
            <a:ext cx="617220" cy="274320"/>
          </a:xfrm>
          <a:prstGeom prst="roundRect">
            <a:avLst>
              <a:gd name="adj" fmla="val 50000"/>
            </a:avLst>
          </a:prstGeom>
          <a:solidFill>
            <a:srgbClr val="0A0B0D"/>
          </a:solidFill>
          <a:ln/>
        </p:spPr>
        <p:txBody>
          <a:bodyPr wrap="square" lIns="0" tIns="0" rIns="0" bIns="0" rtlCol="0" anchor="ctr"/>
          <a:lstStyle/>
          <a:p>
            <a:pPr algn="ctr" indent="0" marL="0">
              <a:buNone/>
            </a:pPr>
            <a:r>
              <a:rPr lang="en-US" sz="1050" dirty="0">
                <a:solidFill>
                  <a:srgbClr val="FFFFFF"/>
                </a:solidFill>
                <a:latin typeface="프리젠테이션 7 Bold" pitchFamily="34" charset="0"/>
                <a:ea typeface="프리젠테이션 7 Bold" pitchFamily="34" charset="-122"/>
                <a:cs typeface="프리젠테이션 7 Bold" pitchFamily="34" charset="-120"/>
              </a:rPr>
              <a:t>Cargo</a:t>
            </a:r>
            <a:endParaRPr lang="en-US" sz="1050" dirty="0"/>
          </a:p>
        </p:txBody>
      </p:sp>
      <p:sp>
        <p:nvSpPr>
          <p:cNvPr id="18" name="vg Tanker"/>
          <p:cNvSpPr txBox="1"/>
          <p:nvPr/>
        </p:nvSpPr>
        <p:spPr>
          <a:xfrm>
            <a:off x="1147572" y="3895344"/>
            <a:ext cx="685800" cy="274320"/>
          </a:xfrm>
          <a:prstGeom prst="roundRect">
            <a:avLst>
              <a:gd name="adj" fmla="val 50000"/>
            </a:avLst>
          </a:prstGeom>
          <a:solidFill>
            <a:srgbClr val="0A0B0D"/>
          </a:solidFill>
          <a:ln/>
        </p:spPr>
        <p:txBody>
          <a:bodyPr wrap="square" lIns="0" tIns="0" rIns="0" bIns="0" rtlCol="0" anchor="ctr"/>
          <a:lstStyle/>
          <a:p>
            <a:pPr algn="ctr" indent="0" marL="0">
              <a:buNone/>
            </a:pPr>
            <a:r>
              <a:rPr lang="en-US" sz="1050" dirty="0">
                <a:solidFill>
                  <a:srgbClr val="FFFFFF"/>
                </a:solidFill>
                <a:latin typeface="프리젠테이션 7 Bold" pitchFamily="34" charset="0"/>
                <a:ea typeface="프리젠테이션 7 Bold" pitchFamily="34" charset="-122"/>
                <a:cs typeface="프리젠테이션 7 Bold" pitchFamily="34" charset="-120"/>
              </a:rPr>
              <a:t>Tanker</a:t>
            </a:r>
            <a:endParaRPr lang="en-US" sz="1050" dirty="0"/>
          </a:p>
        </p:txBody>
      </p:sp>
      <p:sp>
        <p:nvSpPr>
          <p:cNvPr id="19" name="vg Pleasure"/>
          <p:cNvSpPr txBox="1"/>
          <p:nvPr/>
        </p:nvSpPr>
        <p:spPr>
          <a:xfrm>
            <a:off x="1906524" y="3895344"/>
            <a:ext cx="822960" cy="274320"/>
          </a:xfrm>
          <a:prstGeom prst="roundRect">
            <a:avLst>
              <a:gd name="adj" fmla="val 50000"/>
            </a:avLst>
          </a:prstGeom>
          <a:solidFill>
            <a:srgbClr val="EEF0F3"/>
          </a:solidFill>
          <a:ln/>
        </p:spPr>
        <p:txBody>
          <a:bodyPr wrap="square" lIns="0" tIns="0" rIns="0" bIns="0" rtlCol="0" anchor="ctr"/>
          <a:lstStyle/>
          <a:p>
            <a:pPr algn="ct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Pleasure</a:t>
            </a:r>
            <a:endParaRPr lang="en-US" sz="1050" dirty="0"/>
          </a:p>
        </p:txBody>
      </p:sp>
      <p:sp>
        <p:nvSpPr>
          <p:cNvPr id="20" name="vg TugTow"/>
          <p:cNvSpPr txBox="1"/>
          <p:nvPr/>
        </p:nvSpPr>
        <p:spPr>
          <a:xfrm>
            <a:off x="2802636" y="3895344"/>
            <a:ext cx="685800" cy="274320"/>
          </a:xfrm>
          <a:prstGeom prst="roundRect">
            <a:avLst>
              <a:gd name="adj" fmla="val 50000"/>
            </a:avLst>
          </a:prstGeom>
          <a:solidFill>
            <a:srgbClr val="EEF0F3"/>
          </a:solidFill>
          <a:ln/>
        </p:spPr>
        <p:txBody>
          <a:bodyPr wrap="square" lIns="0" tIns="0" rIns="0" bIns="0" rtlCol="0" anchor="ctr"/>
          <a:lstStyle/>
          <a:p>
            <a:pPr algn="ct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TugTow</a:t>
            </a:r>
            <a:endParaRPr lang="en-US" sz="1050" dirty="0"/>
          </a:p>
        </p:txBody>
      </p:sp>
      <p:sp>
        <p:nvSpPr>
          <p:cNvPr id="21" name="vg Other"/>
          <p:cNvSpPr txBox="1"/>
          <p:nvPr/>
        </p:nvSpPr>
        <p:spPr>
          <a:xfrm>
            <a:off x="3561588" y="3895344"/>
            <a:ext cx="617220" cy="274320"/>
          </a:xfrm>
          <a:prstGeom prst="roundRect">
            <a:avLst>
              <a:gd name="adj" fmla="val 50000"/>
            </a:avLst>
          </a:prstGeom>
          <a:solidFill>
            <a:srgbClr val="EEF0F3"/>
          </a:solidFill>
          <a:ln/>
        </p:spPr>
        <p:txBody>
          <a:bodyPr wrap="square" lIns="0" tIns="0" rIns="0" bIns="0" rtlCol="0" anchor="ctr"/>
          <a:lstStyle/>
          <a:p>
            <a:pPr algn="ct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Other</a:t>
            </a:r>
            <a:endParaRPr lang="en-US" sz="1050" dirty="0"/>
          </a:p>
        </p:txBody>
      </p:sp>
      <p:sp>
        <p:nvSpPr>
          <p:cNvPr id="22" name="vg note"/>
          <p:cNvSpPr txBox="1"/>
          <p:nvPr/>
        </p:nvSpPr>
        <p:spPr>
          <a:xfrm>
            <a:off x="457200" y="4261104"/>
            <a:ext cx="3931920" cy="228600"/>
          </a:xfrm>
          <a:prstGeom prst="rect">
            <a:avLst/>
          </a:prstGeom>
          <a:noFill/>
          <a:ln/>
        </p:spPr>
        <p:txBody>
          <a:bodyPr wrap="square" lIns="0" tIns="0" rIns="0" bIns="0" rtlCol="0" anchor="ctr"/>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Dark = in scope · full mix on the next slide</a:t>
            </a:r>
            <a:endParaRPr lang="en-US" sz="1000" dirty="0"/>
          </a:p>
        </p:txBody>
      </p:sp>
      <p:sp>
        <p:nvSpPr>
          <p:cNvPr id="23" name="rows card"/>
          <p:cNvSpPr/>
          <p:nvPr/>
        </p:nvSpPr>
        <p:spPr>
          <a:xfrm>
            <a:off x="4572000" y="1417320"/>
            <a:ext cx="4114800" cy="3108960"/>
          </a:xfrm>
          <a:prstGeom prst="roundRect">
            <a:avLst>
              <a:gd name="adj" fmla="val 6471"/>
            </a:avLst>
          </a:prstGeom>
          <a:solidFill>
            <a:srgbClr val="0A0B0D"/>
          </a:solidFill>
          <a:ln/>
        </p:spPr>
      </p:sp>
      <p:sp>
        <p:nvSpPr>
          <p:cNvPr id="24" name="rows label"/>
          <p:cNvSpPr txBox="1"/>
          <p:nvPr/>
        </p:nvSpPr>
        <p:spPr>
          <a:xfrm>
            <a:off x="4846320" y="1645920"/>
            <a:ext cx="3200400" cy="256032"/>
          </a:xfrm>
          <a:prstGeom prst="rect">
            <a:avLst/>
          </a:prstGeom>
          <a:noFill/>
          <a:ln/>
        </p:spPr>
        <p:txBody>
          <a:bodyPr wrap="square" lIns="0" tIns="0" rIns="0" bIns="0" rtlCol="0" anchor="ctr"/>
          <a:lstStyle/>
          <a:p>
            <a:pPr indent="0" marL="0">
              <a:buNone/>
            </a:pPr>
            <a:r>
              <a:rPr lang="en-US" sz="1100" spc="150" kern="0" dirty="0">
                <a:solidFill>
                  <a:srgbClr val="7FA6FF"/>
                </a:solidFill>
                <a:latin typeface="프리젠테이션 7 Bold" pitchFamily="34" charset="0"/>
                <a:ea typeface="프리젠테이션 7 Bold" pitchFamily="34" charset="-122"/>
                <a:cs typeface="프리젠테이션 7 Bold" pitchFamily="34" charset="-120"/>
              </a:rPr>
              <a:t>HOW ROWS ARE FORMED</a:t>
            </a:r>
            <a:endParaRPr lang="en-US" sz="1100" dirty="0"/>
          </a:p>
        </p:txBody>
      </p:sp>
      <p:sp>
        <p:nvSpPr>
          <p:cNvPr id="25" name="rows headline"/>
          <p:cNvSpPr txBox="1"/>
          <p:nvPr/>
        </p:nvSpPr>
        <p:spPr>
          <a:xfrm>
            <a:off x="4846320" y="1965960"/>
            <a:ext cx="3566160" cy="502920"/>
          </a:xfrm>
          <a:prstGeom prst="rect">
            <a:avLst/>
          </a:prstGeom>
          <a:noFill/>
          <a:ln/>
        </p:spPr>
        <p:txBody>
          <a:bodyPr wrap="square" lIns="0" tIns="0" rIns="0" bIns="0" rtlCol="0" anchor="t"/>
          <a:lstStyle/>
          <a:p>
            <a:pPr indent="0" marL="0">
              <a:buNone/>
            </a:pPr>
            <a:r>
              <a:rPr lang="en-US" sz="1500" dirty="0">
                <a:solidFill>
                  <a:srgbClr val="FFFFFF"/>
                </a:solidFill>
                <a:latin typeface="프리젠테이션 4 Regular" pitchFamily="34" charset="0"/>
                <a:ea typeface="프리젠테이션 4 Regular" pitchFamily="34" charset="-122"/>
                <a:cs typeface="프리젠테이션 4 Regular" pitchFamily="34" charset="-120"/>
              </a:rPr>
              <a:t>1 row = 1 track interval. One vessel (MMSI) appears in many rows.</a:t>
            </a:r>
            <a:endParaRPr lang="en-US" sz="1500" dirty="0"/>
          </a:p>
        </p:txBody>
      </p:sp>
      <p:sp>
        <p:nvSpPr>
          <p:cNvPr id="26" name="mmsi chip"/>
          <p:cNvSpPr txBox="1"/>
          <p:nvPr/>
        </p:nvSpPr>
        <p:spPr>
          <a:xfrm>
            <a:off x="4846320" y="2679192"/>
            <a:ext cx="1143000" cy="256032"/>
          </a:xfrm>
          <a:prstGeom prst="roundRect">
            <a:avLst>
              <a:gd name="adj" fmla="val 50000"/>
            </a:avLst>
          </a:prstGeom>
          <a:solidFill>
            <a:srgbClr val="26292F"/>
          </a:solidFill>
          <a:ln/>
        </p:spPr>
        <p:txBody>
          <a:bodyPr wrap="square" lIns="0" tIns="0" rIns="0" bIns="0" rtlCol="0" anchor="ctr"/>
          <a:lstStyle/>
          <a:p>
            <a:pPr algn="ctr" indent="0" marL="0">
              <a:buNone/>
            </a:pPr>
            <a:r>
              <a:rPr lang="en-US" sz="1000" dirty="0">
                <a:solidFill>
                  <a:srgbClr val="FFFFFF"/>
                </a:solidFill>
                <a:latin typeface="프리젠테이션 4 Regular" pitchFamily="34" charset="0"/>
                <a:ea typeface="프리젠테이션 4 Regular" pitchFamily="34" charset="-122"/>
                <a:cs typeface="프리젠테이션 4 Regular" pitchFamily="34" charset="-120"/>
              </a:rPr>
              <a:t>MMSI 563156300</a:t>
            </a:r>
            <a:endParaRPr lang="en-US" sz="1000" dirty="0"/>
          </a:p>
        </p:txBody>
      </p:sp>
      <p:sp>
        <p:nvSpPr>
          <p:cNvPr id="27" name="timeline axis"/>
          <p:cNvSpPr/>
          <p:nvPr/>
        </p:nvSpPr>
        <p:spPr>
          <a:xfrm>
            <a:off x="4846320" y="3255264"/>
            <a:ext cx="3566160" cy="0"/>
          </a:xfrm>
          <a:prstGeom prst="line">
            <a:avLst/>
          </a:prstGeom>
          <a:noFill/>
          <a:ln w="12700">
            <a:solidFill>
              <a:srgbClr val="3A3F48"/>
            </a:solidFill>
            <a:prstDash val="dash"/>
          </a:ln>
        </p:spPr>
      </p:sp>
      <p:sp>
        <p:nvSpPr>
          <p:cNvPr id="28" name="segment 0"/>
          <p:cNvSpPr/>
          <p:nvPr/>
        </p:nvSpPr>
        <p:spPr>
          <a:xfrm>
            <a:off x="4846320" y="3136392"/>
            <a:ext cx="784555" cy="237744"/>
          </a:xfrm>
          <a:prstGeom prst="roundRect">
            <a:avLst>
              <a:gd name="adj" fmla="val 50000"/>
            </a:avLst>
          </a:prstGeom>
          <a:solidFill>
            <a:srgbClr val="1E3A8A"/>
          </a:solidFill>
          <a:ln/>
        </p:spPr>
      </p:sp>
      <p:sp>
        <p:nvSpPr>
          <p:cNvPr id="29" name="segment label 0"/>
          <p:cNvSpPr txBox="1"/>
          <p:nvPr/>
        </p:nvSpPr>
        <p:spPr>
          <a:xfrm>
            <a:off x="4846320" y="3429000"/>
            <a:ext cx="784555" cy="201168"/>
          </a:xfrm>
          <a:prstGeom prst="rect">
            <a:avLst/>
          </a:prstGeom>
          <a:noFill/>
          <a:ln/>
        </p:spPr>
        <p:txBody>
          <a:bodyPr wrap="square" lIns="0" tIns="0" rIns="0" bIns="0" rtlCol="0" anchor="ctr"/>
          <a:lstStyle/>
          <a:p>
            <a:pPr algn="ctr" indent="0" marL="0">
              <a:buNone/>
            </a:pPr>
            <a:r>
              <a:rPr lang="en-US" sz="1000" dirty="0">
                <a:solidFill>
                  <a:srgbClr val="8A919E"/>
                </a:solidFill>
                <a:latin typeface="프리젠테이션 4 Regular" pitchFamily="34" charset="0"/>
                <a:ea typeface="프리젠테이션 4 Regular" pitchFamily="34" charset="-122"/>
                <a:cs typeface="프리젠테이션 4 Regular" pitchFamily="34" charset="-120"/>
              </a:rPr>
              <a:t>row 1</a:t>
            </a:r>
            <a:endParaRPr lang="en-US" sz="1000" dirty="0"/>
          </a:p>
        </p:txBody>
      </p:sp>
      <p:sp>
        <p:nvSpPr>
          <p:cNvPr id="30" name="segment 1"/>
          <p:cNvSpPr/>
          <p:nvPr/>
        </p:nvSpPr>
        <p:spPr>
          <a:xfrm>
            <a:off x="5809183" y="3136392"/>
            <a:ext cx="677570" cy="237744"/>
          </a:xfrm>
          <a:prstGeom prst="roundRect">
            <a:avLst>
              <a:gd name="adj" fmla="val 50000"/>
            </a:avLst>
          </a:prstGeom>
          <a:solidFill>
            <a:srgbClr val="0052FF"/>
          </a:solidFill>
          <a:ln/>
        </p:spPr>
      </p:sp>
      <p:sp>
        <p:nvSpPr>
          <p:cNvPr id="31" name="segment label 1"/>
          <p:cNvSpPr txBox="1"/>
          <p:nvPr/>
        </p:nvSpPr>
        <p:spPr>
          <a:xfrm>
            <a:off x="5809183" y="3429000"/>
            <a:ext cx="677570" cy="201168"/>
          </a:xfrm>
          <a:prstGeom prst="rect">
            <a:avLst/>
          </a:prstGeom>
          <a:noFill/>
          <a:ln/>
        </p:spPr>
        <p:txBody>
          <a:bodyPr wrap="square" lIns="0" tIns="0" rIns="0" bIns="0" rtlCol="0" anchor="ctr"/>
          <a:lstStyle/>
          <a:p>
            <a:pPr algn="ctr" indent="0" marL="0">
              <a:buNone/>
            </a:pPr>
            <a:r>
              <a:rPr lang="en-US" sz="1000" dirty="0">
                <a:solidFill>
                  <a:srgbClr val="FFFFFF"/>
                </a:solidFill>
                <a:latin typeface="프리젠테이션 4 Regular" pitchFamily="34" charset="0"/>
                <a:ea typeface="프리젠테이션 4 Regular" pitchFamily="34" charset="-122"/>
                <a:cs typeface="프리젠테이션 4 Regular" pitchFamily="34" charset="-120"/>
              </a:rPr>
              <a:t>row 2</a:t>
            </a:r>
            <a:endParaRPr lang="en-US" sz="1000" dirty="0"/>
          </a:p>
        </p:txBody>
      </p:sp>
      <p:sp>
        <p:nvSpPr>
          <p:cNvPr id="32" name="segment 2"/>
          <p:cNvSpPr/>
          <p:nvPr/>
        </p:nvSpPr>
        <p:spPr>
          <a:xfrm>
            <a:off x="6736385" y="3136392"/>
            <a:ext cx="891540" cy="237744"/>
          </a:xfrm>
          <a:prstGeom prst="roundRect">
            <a:avLst>
              <a:gd name="adj" fmla="val 50000"/>
            </a:avLst>
          </a:prstGeom>
          <a:solidFill>
            <a:srgbClr val="1E3A8A"/>
          </a:solidFill>
          <a:ln/>
        </p:spPr>
      </p:sp>
      <p:sp>
        <p:nvSpPr>
          <p:cNvPr id="33" name="segment label 2"/>
          <p:cNvSpPr txBox="1"/>
          <p:nvPr/>
        </p:nvSpPr>
        <p:spPr>
          <a:xfrm>
            <a:off x="6736385" y="3429000"/>
            <a:ext cx="891540" cy="201168"/>
          </a:xfrm>
          <a:prstGeom prst="rect">
            <a:avLst/>
          </a:prstGeom>
          <a:noFill/>
          <a:ln/>
        </p:spPr>
        <p:txBody>
          <a:bodyPr wrap="square" lIns="0" tIns="0" rIns="0" bIns="0" rtlCol="0" anchor="ctr"/>
          <a:lstStyle/>
          <a:p>
            <a:pPr algn="ctr" indent="0" marL="0">
              <a:buNone/>
            </a:pPr>
            <a:r>
              <a:rPr lang="en-US" sz="1000" dirty="0">
                <a:solidFill>
                  <a:srgbClr val="8A919E"/>
                </a:solidFill>
                <a:latin typeface="프리젠테이션 4 Regular" pitchFamily="34" charset="0"/>
                <a:ea typeface="프리젠테이션 4 Regular" pitchFamily="34" charset="-122"/>
                <a:cs typeface="프리젠테이션 4 Regular" pitchFamily="34" charset="-120"/>
              </a:rPr>
              <a:t>row 3</a:t>
            </a:r>
            <a:endParaRPr lang="en-US" sz="1000" dirty="0"/>
          </a:p>
        </p:txBody>
      </p:sp>
      <p:sp>
        <p:nvSpPr>
          <p:cNvPr id="34" name="segment 3"/>
          <p:cNvSpPr/>
          <p:nvPr/>
        </p:nvSpPr>
        <p:spPr>
          <a:xfrm>
            <a:off x="7841894" y="3136392"/>
            <a:ext cx="570586" cy="237744"/>
          </a:xfrm>
          <a:prstGeom prst="roundRect">
            <a:avLst>
              <a:gd name="adj" fmla="val 50000"/>
            </a:avLst>
          </a:prstGeom>
          <a:solidFill>
            <a:srgbClr val="1E3A8A"/>
          </a:solidFill>
          <a:ln/>
        </p:spPr>
      </p:sp>
      <p:sp>
        <p:nvSpPr>
          <p:cNvPr id="35" name="segment label 3"/>
          <p:cNvSpPr txBox="1"/>
          <p:nvPr/>
        </p:nvSpPr>
        <p:spPr>
          <a:xfrm>
            <a:off x="7841894" y="3429000"/>
            <a:ext cx="570586" cy="201168"/>
          </a:xfrm>
          <a:prstGeom prst="rect">
            <a:avLst/>
          </a:prstGeom>
          <a:noFill/>
          <a:ln/>
        </p:spPr>
        <p:txBody>
          <a:bodyPr wrap="square" lIns="0" tIns="0" rIns="0" bIns="0" rtlCol="0" anchor="ctr"/>
          <a:lstStyle/>
          <a:p>
            <a:pPr algn="ctr" indent="0" marL="0">
              <a:buNone/>
            </a:pPr>
            <a:r>
              <a:rPr lang="en-US" sz="1000" dirty="0">
                <a:solidFill>
                  <a:srgbClr val="8A919E"/>
                </a:solidFill>
                <a:latin typeface="프리젠테이션 4 Regular" pitchFamily="34" charset="0"/>
                <a:ea typeface="프리젠테이션 4 Regular" pitchFamily="34" charset="-122"/>
                <a:cs typeface="프리젠테이션 4 Regular" pitchFamily="34" charset="-120"/>
              </a:rPr>
              <a:t>row 4</a:t>
            </a:r>
            <a:endParaRPr lang="en-US" sz="1000" dirty="0"/>
          </a:p>
        </p:txBody>
      </p:sp>
      <p:sp>
        <p:nvSpPr>
          <p:cNvPr id="36" name="gap label"/>
          <p:cNvSpPr txBox="1"/>
          <p:nvPr/>
        </p:nvSpPr>
        <p:spPr>
          <a:xfrm>
            <a:off x="5539435" y="2898648"/>
            <a:ext cx="384048" cy="182880"/>
          </a:xfrm>
          <a:prstGeom prst="rect">
            <a:avLst/>
          </a:prstGeom>
          <a:noFill/>
          <a:ln/>
        </p:spPr>
        <p:txBody>
          <a:bodyPr wrap="square" lIns="0" tIns="0" rIns="0" bIns="0" rtlCol="0" anchor="ctr"/>
          <a:lstStyle/>
          <a:p>
            <a:pPr algn="ctr" indent="0" marL="0">
              <a:buNone/>
            </a:pPr>
            <a:r>
              <a:rPr lang="en-US" sz="950" dirty="0">
                <a:solidFill>
                  <a:srgbClr val="CF202F"/>
                </a:solidFill>
                <a:latin typeface="프리젠테이션 4 Regular" pitchFamily="34" charset="0"/>
                <a:ea typeface="프리젠테이션 4 Regular" pitchFamily="34" charset="-122"/>
                <a:cs typeface="프리젠테이션 4 Regular" pitchFamily="34" charset="-120"/>
              </a:rPr>
              <a:t>gap</a:t>
            </a:r>
            <a:endParaRPr lang="en-US" sz="950" dirty="0"/>
          </a:p>
        </p:txBody>
      </p:sp>
      <p:sp>
        <p:nvSpPr>
          <p:cNvPr id="37" name="illustrative"/>
          <p:cNvSpPr txBox="1"/>
          <p:nvPr/>
        </p:nvSpPr>
        <p:spPr>
          <a:xfrm>
            <a:off x="6949440" y="2679192"/>
            <a:ext cx="1463040" cy="256032"/>
          </a:xfrm>
          <a:prstGeom prst="rect">
            <a:avLst/>
          </a:prstGeom>
          <a:noFill/>
          <a:ln/>
        </p:spPr>
        <p:txBody>
          <a:bodyPr wrap="square" lIns="0" tIns="0" rIns="0" bIns="0" rtlCol="0" anchor="ctr"/>
          <a:lstStyle/>
          <a:p>
            <a:pPr algn="r" indent="0" marL="0">
              <a:buNone/>
            </a:pPr>
            <a:r>
              <a:rPr lang="en-US" sz="950" dirty="0">
                <a:solidFill>
                  <a:srgbClr val="8A919E"/>
                </a:solidFill>
                <a:latin typeface="프리젠테이션 4 Regular" pitchFamily="34" charset="0"/>
                <a:ea typeface="프리젠테이션 4 Regular" pitchFamily="34" charset="-122"/>
                <a:cs typeface="프리젠테이션 4 Regular" pitchFamily="34" charset="-120"/>
              </a:rPr>
              <a:t>Illustrative timeline</a:t>
            </a:r>
            <a:endParaRPr lang="en-US" sz="950" dirty="0"/>
          </a:p>
        </p:txBody>
      </p:sp>
      <p:sp>
        <p:nvSpPr>
          <p:cNvPr id="38" name="rows rule"/>
          <p:cNvSpPr txBox="1"/>
          <p:nvPr/>
        </p:nvSpPr>
        <p:spPr>
          <a:xfrm>
            <a:off x="4846320" y="3749040"/>
            <a:ext cx="3566160" cy="640080"/>
          </a:xfrm>
          <a:prstGeom prst="rect">
            <a:avLst/>
          </a:prstGeom>
          <a:noFill/>
          <a:ln/>
        </p:spPr>
        <p:txBody>
          <a:bodyPr wrap="square" lIns="0" tIns="0" rIns="0" bIns="0" rtlCol="0" anchor="t"/>
          <a:lstStyle/>
          <a:p>
            <a:pPr indent="0" marL="0">
              <a:buNone/>
            </a:pPr>
            <a:r>
              <a:rPr lang="en-US" sz="1150" dirty="0">
                <a:solidFill>
                  <a:srgbClr val="C9CED6"/>
                </a:solidFill>
                <a:latin typeface="프리젠테이션 4 Regular" pitchFamily="34" charset="0"/>
                <a:ea typeface="프리젠테이션 4 Regular" pitchFamily="34" charset="-122"/>
                <a:cs typeface="프리젠테이션 4 Regular" pitchFamily="34" charset="-120"/>
              </a:rPr>
              <a:t>Raw AIS sampled to 1 min</a:t>
            </a:r>
            <a:endParaRPr lang="en-US" sz="1150" dirty="0"/>
          </a:p>
          <a:p>
            <a:pPr indent="0" marL="0">
              <a:buNone/>
            </a:pPr>
            <a:r>
              <a:rPr lang="en-US" sz="1150" dirty="0">
                <a:solidFill>
                  <a:srgbClr val="C9CED6"/>
                </a:solidFill>
                <a:latin typeface="프리젠테이션 4 Regular" pitchFamily="34" charset="0"/>
                <a:ea typeface="프리젠테이션 4 Regular" pitchFamily="34" charset="-122"/>
                <a:cs typeface="프리젠테이션 4 Regular" pitchFamily="34" charset="-120"/>
              </a:rPr>
              <a:t>→ new track when gap &gt; 30 min or &gt; 1 NM</a:t>
            </a:r>
            <a:endParaRPr lang="en-US" sz="1150" dirty="0"/>
          </a:p>
          <a:p>
            <a:pPr indent="0" marL="0">
              <a:buNone/>
            </a:pPr>
            <a:r>
              <a:rPr lang="en-US" sz="1150" dirty="0">
                <a:solidFill>
                  <a:srgbClr val="C9CED6"/>
                </a:solidFill>
                <a:latin typeface="프리젠테이션 4 Regular" pitchFamily="34" charset="0"/>
                <a:ea typeface="프리젠테이션 4 Regular" pitchFamily="34" charset="-122"/>
                <a:cs typeface="프리젠테이션 4 Regular" pitchFamily="34" charset="-120"/>
              </a:rPr>
              <a:t>→ built per month and per ocean basin</a:t>
            </a:r>
            <a:endParaRPr lang="en-US" sz="11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05 — AIS DATA OVERVIEW</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Who uses the study-area waters?</a:t>
            </a:r>
            <a:endParaRPr lang="en-US" sz="3600" dirty="0"/>
          </a:p>
        </p:txBody>
      </p:sp>
      <p:sp>
        <p:nvSpPr>
          <p:cNvPr id="4" name="lead"/>
          <p:cNvSpPr txBox="1"/>
          <p:nvPr/>
        </p:nvSpPr>
        <p:spPr>
          <a:xfrm>
            <a:off x="457200" y="1298448"/>
            <a:ext cx="8229600" cy="292608"/>
          </a:xfrm>
          <a:prstGeom prst="rect">
            <a:avLst/>
          </a:prstGeom>
          <a:noFill/>
          <a:ln/>
        </p:spPr>
        <p:txBody>
          <a:bodyPr wrap="square" lIns="0" tIns="0" rIns="0" bIns="0" rtlCol="0" anchor="ctr"/>
          <a:lstStyle/>
          <a:p>
            <a:pPr indent="0" marL="0">
              <a:buNone/>
            </a:pPr>
            <a:r>
              <a:rPr lang="en-US" sz="1500" dirty="0">
                <a:solidFill>
                  <a:srgbClr val="5B616E"/>
                </a:solidFill>
                <a:latin typeface="프리젠테이션 5 Medium" pitchFamily="34" charset="0"/>
                <a:ea typeface="프리젠테이션 5 Medium" pitchFamily="34" charset="-122"/>
                <a:cs typeface="프리젠테이션 5 Medium" pitchFamily="34" charset="-120"/>
              </a:rPr>
              <a:t>Cargo and tanker tracks are a focused study group within a mixed-use waterway</a:t>
            </a:r>
            <a:endParaRPr lang="en-US" sz="1500" dirty="0"/>
          </a:p>
        </p:txBody>
      </p:sp>
      <p:graphicFrame>
        <p:nvGraphicFramePr>
          <p:cNvPr id="5" name="vessel group doughnut" descr="Doughnut of 2024 AIS track rows by VesselGroup"/>
          <p:cNvGraphicFramePr/>
          <p:nvPr/>
        </p:nvGraphicFramePr>
        <p:xfrm>
          <a:off x="457200" y="1737360"/>
          <a:ext cx="2926080" cy="2926080"/>
        </p:xfrm>
        <a:graphic xmlns:a="http://schemas.openxmlformats.org/drawingml/2006/main">
          <a:graphicData uri="http://schemas.openxmlformats.org/drawingml/2006/chart">
            <c:chart xmlns:c="http://schemas.openxmlformats.org/drawingml/2006/chart" r:id="rId1"/>
          </a:graphicData>
        </a:graphic>
      </p:graphicFrame>
      <p:sp>
        <p:nvSpPr>
          <p:cNvPr id="6" name="doughnut center"/>
          <p:cNvSpPr txBox="1"/>
          <p:nvPr/>
        </p:nvSpPr>
        <p:spPr>
          <a:xfrm>
            <a:off x="1188720" y="2880360"/>
            <a:ext cx="1463040" cy="640080"/>
          </a:xfrm>
          <a:prstGeom prst="rect">
            <a:avLst/>
          </a:prstGeom>
          <a:noFill/>
          <a:ln/>
        </p:spPr>
        <p:txBody>
          <a:bodyPr wrap="square" lIns="0" tIns="0" rIns="0" bIns="0" rtlCol="0" anchor="ctr"/>
          <a:lstStyle/>
          <a:p>
            <a:pPr algn="ctr" indent="0" marL="0">
              <a:buNone/>
            </a:pPr>
            <a:r>
              <a:rPr lang="en-US" sz="2400" dirty="0">
                <a:solidFill>
                  <a:srgbClr val="0A0B0D"/>
                </a:solidFill>
                <a:latin typeface="프리젠테이션 3 Light" pitchFamily="34" charset="0"/>
                <a:ea typeface="프리젠테이션 3 Light" pitchFamily="34" charset="-122"/>
                <a:cs typeface="프리젠테이션 3 Light" pitchFamily="34" charset="-120"/>
              </a:rPr>
              <a:t>92,927</a:t>
            </a:r>
            <a:endParaRPr lang="en-US" sz="2400" dirty="0"/>
          </a:p>
          <a:p>
            <a:pPr algn="ct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track rows</a:t>
            </a:r>
            <a:endParaRPr lang="en-US" sz="2400" dirty="0"/>
          </a:p>
        </p:txBody>
      </p:sp>
      <p:graphicFrame>
        <p:nvGraphicFramePr>
          <p:cNvPr id="8" name="vessel group table"/>
          <p:cNvGraphicFramePr>
            <a:graphicFrameLocks noGrp="1"/>
          </p:cNvGraphicFramePr>
          <p:nvPr>
            <p:extLst>
              <p:ext uri="{D42A27DB-BD31-4B8C-83A1-F6EECF244321}">
                <p14:modId xmlns:p14="http://schemas.microsoft.com/office/powerpoint/2010/main" val="1579011935"/>
              </p:ext>
            </p:extLst>
          </p:nvPr>
        </p:nvGraphicFramePr>
        <p:xfrm>
          <a:off x="3794760" y="1719072"/>
          <a:ext cx="4892040" cy="914400"/>
        </p:xfrm>
        <a:graphic>
          <a:graphicData uri="http://schemas.openxmlformats.org/drawingml/2006/table">
            <a:tbl>
              <a:tblPr/>
              <a:tblGrid>
                <a:gridCol w="1874520"/>
                <a:gridCol w="1005840"/>
                <a:gridCol w="822960"/>
                <a:gridCol w="1188720"/>
              </a:tblGrid>
              <a:tr h="224028">
                <a:tc>
                  <a:txBody>
                    <a:bodyPr/>
                    <a:lstStyle/>
                    <a:p>
                      <a:pPr algn="l" indent="0" marL="0">
                        <a:buNone/>
                      </a:pPr>
                      <a:r>
                        <a:rPr lang="en-US" sz="1000" dirty="0">
                          <a:solidFill>
                            <a:srgbClr val="5B616E"/>
                          </a:solidFill>
                          <a:latin typeface="프리젠테이션 7 Bold" pitchFamily="34" charset="0"/>
                          <a:ea typeface="프리젠테이션 7 Bold" pitchFamily="34" charset="-122"/>
                          <a:cs typeface="프리젠테이션 7 Bold" pitchFamily="34" charset="-120"/>
                        </a:rPr>
                        <a:t>VesselGroup</a:t>
                      </a:r>
                      <a:endParaRPr lang="en-US" sz="100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12700" cap="flat" cmpd="sng" algn="ctr">
                      <a:solidFill>
                        <a:srgbClr val="0A0B0D"/>
                      </a:solidFill>
                      <a:prstDash val="solid"/>
                      <a:round/>
                      <a:headEnd type="none" w="med" len="med"/>
                      <a:tailEnd type="none" w="med" len="med"/>
                    </a:lnB>
                  </a:tcPr>
                </a:tc>
                <a:tc>
                  <a:txBody>
                    <a:bodyPr/>
                    <a:lstStyle/>
                    <a:p>
                      <a:pPr algn="r" indent="0" marL="0">
                        <a:buNone/>
                      </a:pPr>
                      <a:r>
                        <a:rPr lang="en-US" sz="1000" dirty="0">
                          <a:solidFill>
                            <a:srgbClr val="5B616E"/>
                          </a:solidFill>
                          <a:latin typeface="프리젠테이션 7 Bold" pitchFamily="34" charset="0"/>
                          <a:ea typeface="프리젠테이션 7 Bold" pitchFamily="34" charset="-122"/>
                          <a:cs typeface="프리젠테이션 7 Bold" pitchFamily="34" charset="-120"/>
                        </a:rPr>
                        <a:t>Track rows</a:t>
                      </a:r>
                      <a:endParaRPr lang="en-US" sz="100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12700" cap="flat" cmpd="sng" algn="ctr">
                      <a:solidFill>
                        <a:srgbClr val="0A0B0D"/>
                      </a:solidFill>
                      <a:prstDash val="solid"/>
                      <a:round/>
                      <a:headEnd type="none" w="med" len="med"/>
                      <a:tailEnd type="none" w="med" len="med"/>
                    </a:lnB>
                  </a:tcPr>
                </a:tc>
                <a:tc>
                  <a:txBody>
                    <a:bodyPr/>
                    <a:lstStyle/>
                    <a:p>
                      <a:pPr algn="r" indent="0" marL="0">
                        <a:buNone/>
                      </a:pPr>
                      <a:r>
                        <a:rPr lang="en-US" sz="1000" dirty="0">
                          <a:solidFill>
                            <a:srgbClr val="5B616E"/>
                          </a:solidFill>
                          <a:latin typeface="프리젠테이션 7 Bold" pitchFamily="34" charset="0"/>
                          <a:ea typeface="프리젠테이션 7 Bold" pitchFamily="34" charset="-122"/>
                          <a:cs typeface="프리젠테이션 7 Bold" pitchFamily="34" charset="-120"/>
                        </a:rPr>
                        <a:t>Share</a:t>
                      </a:r>
                      <a:endParaRPr lang="en-US" sz="100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12700" cap="flat" cmpd="sng" algn="ctr">
                      <a:solidFill>
                        <a:srgbClr val="0A0B0D"/>
                      </a:solidFill>
                      <a:prstDash val="solid"/>
                      <a:round/>
                      <a:headEnd type="none" w="med" len="med"/>
                      <a:tailEnd type="none" w="med" len="med"/>
                    </a:lnB>
                  </a:tcPr>
                </a:tc>
                <a:tc>
                  <a:txBody>
                    <a:bodyPr/>
                    <a:lstStyle/>
                    <a:p>
                      <a:pPr algn="r" indent="0" marL="0">
                        <a:buNone/>
                      </a:pPr>
                      <a:r>
                        <a:rPr lang="en-US" sz="1000" dirty="0">
                          <a:solidFill>
                            <a:srgbClr val="5B616E"/>
                          </a:solidFill>
                          <a:latin typeface="프리젠테이션 7 Bold" pitchFamily="34" charset="0"/>
                          <a:ea typeface="프리젠테이션 7 Bold" pitchFamily="34" charset="-122"/>
                          <a:cs typeface="프리젠테이션 7 Bold" pitchFamily="34" charset="-120"/>
                        </a:rPr>
                        <a:t>Distinct MMSI</a:t>
                      </a:r>
                      <a:endParaRPr lang="en-US" sz="100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12700" cap="flat" cmpd="sng" algn="ctr">
                      <a:solidFill>
                        <a:srgbClr val="0A0B0D"/>
                      </a:solidFill>
                      <a:prstDash val="solid"/>
                      <a:round/>
                      <a:headEnd type="none" w="med" len="med"/>
                      <a:tailEnd type="none" w="med" len="med"/>
                    </a:lnB>
                  </a:tcPr>
                </a:tc>
              </a:tr>
              <a:tr h="224028">
                <a:tc>
                  <a:txBody>
                    <a:bodyPr/>
                    <a:lstStyle/>
                    <a:p>
                      <a:pPr indent="0" marL="0">
                        <a:buNone/>
                      </a:pPr>
                      <a:r>
                        <a:rPr lang="en-US" sz="1050" dirty="0">
                          <a:solidFill>
                            <a:srgbClr val="D5D9E0"/>
                          </a:solidFill>
                          <a:latin typeface="프리젠테이션 4 Regular" pitchFamily="34" charset="0"/>
                          <a:ea typeface="프리젠테이션 4 Regular" pitchFamily="34" charset="-122"/>
                          <a:cs typeface="프리젠테이션 4 Regular" pitchFamily="34" charset="-120"/>
                        </a:rPr>
                        <a:t>■ </a:t>
                      </a:r>
                      <a:pP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Pleasure Craft/Sailing</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40,666</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43.76%</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4,713</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24028">
                <a:tc>
                  <a:txBody>
                    <a:bodyPr/>
                    <a:lstStyle/>
                    <a:p>
                      <a:pPr indent="0" marL="0">
                        <a:buNone/>
                      </a:pPr>
                      <a:r>
                        <a:rPr lang="en-US" sz="1050" dirty="0">
                          <a:solidFill>
                            <a:srgbClr val="B8BEC8"/>
                          </a:solidFill>
                          <a:latin typeface="프리젠테이션 4 Regular" pitchFamily="34" charset="0"/>
                          <a:ea typeface="프리젠테이션 4 Regular" pitchFamily="34" charset="-122"/>
                          <a:cs typeface="프리젠테이션 4 Regular" pitchFamily="34" charset="-120"/>
                        </a:rPr>
                        <a:t>■ </a:t>
                      </a:r>
                      <a:pP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Other</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15,920</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17.13%</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453</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24028">
                <a:tc>
                  <a:txBody>
                    <a:bodyPr/>
                    <a:lstStyle/>
                    <a:p>
                      <a:pPr indent="0" marL="0">
                        <a:buNone/>
                      </a:pPr>
                      <a:r>
                        <a:rPr lang="en-US" sz="1050" dirty="0">
                          <a:solidFill>
                            <a:srgbClr val="9AA1AD"/>
                          </a:solidFill>
                          <a:latin typeface="프리젠테이션 4 Regular" pitchFamily="34" charset="0"/>
                          <a:ea typeface="프리젠테이션 4 Regular" pitchFamily="34" charset="-122"/>
                          <a:cs typeface="프리젠테이션 4 Regular" pitchFamily="34" charset="-120"/>
                        </a:rPr>
                        <a:t>■ </a:t>
                      </a:r>
                      <a:pP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TugTow</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11,825</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12.73%</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321</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24028">
                <a:tc>
                  <a:txBody>
                    <a:bodyPr/>
                    <a:lstStyle/>
                    <a:p>
                      <a:pPr indent="0" marL="0">
                        <a:buNone/>
                      </a:pPr>
                      <a:r>
                        <a:rPr lang="en-US" sz="1050" dirty="0">
                          <a:solidFill>
                            <a:srgbClr val="0052FF"/>
                          </a:solidFill>
                          <a:latin typeface="프리젠테이션 4 Regular" pitchFamily="34" charset="0"/>
                          <a:ea typeface="프리젠테이션 4 Regular" pitchFamily="34" charset="-122"/>
                          <a:cs typeface="프리젠테이션 4 Regular" pitchFamily="34" charset="-120"/>
                        </a:rPr>
                        <a:t>■ </a:t>
                      </a:r>
                      <a:pPr indent="0" marL="0">
                        <a:buNone/>
                      </a:pPr>
                      <a:r>
                        <a:rPr lang="en-US" sz="1050" dirty="0">
                          <a:solidFill>
                            <a:srgbClr val="0052FF"/>
                          </a:solidFill>
                          <a:latin typeface="프리젠테이션 7 Bold" pitchFamily="34" charset="0"/>
                          <a:ea typeface="프리젠테이션 7 Bold" pitchFamily="34" charset="-122"/>
                          <a:cs typeface="프리젠테이션 7 Bold" pitchFamily="34" charset="-120"/>
                        </a:rPr>
                        <a:t>Cargo</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052FF"/>
                          </a:solidFill>
                          <a:latin typeface="프리젠테이션 7 Bold" pitchFamily="34" charset="0"/>
                          <a:ea typeface="프리젠테이션 7 Bold" pitchFamily="34" charset="-122"/>
                          <a:cs typeface="프리젠테이션 7 Bold" pitchFamily="34" charset="-120"/>
                        </a:rPr>
                        <a:t>10,311</a:t>
                      </a:r>
                      <a:endParaRPr lang="en-US" sz="105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052FF"/>
                          </a:solidFill>
                          <a:latin typeface="프리젠테이션 7 Bold" pitchFamily="34" charset="0"/>
                          <a:ea typeface="프리젠테이션 7 Bold" pitchFamily="34" charset="-122"/>
                          <a:cs typeface="프리젠테이션 7 Bold" pitchFamily="34" charset="-120"/>
                        </a:rPr>
                        <a:t>11.10%</a:t>
                      </a:r>
                      <a:endParaRPr lang="en-US" sz="105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052FF"/>
                          </a:solidFill>
                          <a:latin typeface="프리젠테이션 7 Bold" pitchFamily="34" charset="0"/>
                          <a:ea typeface="프리젠테이션 7 Bold" pitchFamily="34" charset="-122"/>
                          <a:cs typeface="프리젠테이션 7 Bold" pitchFamily="34" charset="-120"/>
                        </a:rPr>
                        <a:t>1,865</a:t>
                      </a:r>
                      <a:endParaRPr lang="en-US" sz="105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24028">
                <a:tc>
                  <a:txBody>
                    <a:bodyPr/>
                    <a:lstStyle/>
                    <a:p>
                      <a:pPr indent="0" marL="0">
                        <a:buNone/>
                      </a:pPr>
                      <a:r>
                        <a:rPr lang="en-US" sz="1050" dirty="0">
                          <a:solidFill>
                            <a:srgbClr val="C9CED6"/>
                          </a:solidFill>
                          <a:latin typeface="프리젠테이션 4 Regular" pitchFamily="34" charset="0"/>
                          <a:ea typeface="프리젠테이션 4 Regular" pitchFamily="34" charset="-122"/>
                          <a:cs typeface="프리젠테이션 4 Regular" pitchFamily="34" charset="-120"/>
                        </a:rPr>
                        <a:t>■ </a:t>
                      </a:r>
                      <a:pP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Fishing</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7,018</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7.55%</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306</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24028">
                <a:tc>
                  <a:txBody>
                    <a:bodyPr/>
                    <a:lstStyle/>
                    <a:p>
                      <a:pPr indent="0" marL="0">
                        <a:buNone/>
                      </a:pPr>
                      <a:r>
                        <a:rPr lang="en-US" sz="1050" dirty="0">
                          <a:solidFill>
                            <a:srgbClr val="7C8492"/>
                          </a:solidFill>
                          <a:latin typeface="프리젠테이션 4 Regular" pitchFamily="34" charset="0"/>
                          <a:ea typeface="프리젠테이션 4 Regular" pitchFamily="34" charset="-122"/>
                          <a:cs typeface="프리젠테이션 4 Regular" pitchFamily="34" charset="-120"/>
                        </a:rPr>
                        <a:t>■ </a:t>
                      </a:r>
                      <a:pP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Passenger</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5,654</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6.08%</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99</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24028">
                <a:tc>
                  <a:txBody>
                    <a:bodyPr/>
                    <a:lstStyle/>
                    <a:p>
                      <a:pPr indent="0" marL="0">
                        <a:buNone/>
                      </a:pPr>
                      <a:r>
                        <a:rPr lang="en-US" sz="1050" dirty="0">
                          <a:solidFill>
                            <a:srgbClr val="C9CED6"/>
                          </a:solidFill>
                          <a:latin typeface="프리젠테이션 4 Regular" pitchFamily="34" charset="0"/>
                          <a:ea typeface="프리젠테이션 4 Regular" pitchFamily="34" charset="-122"/>
                          <a:cs typeface="프리젠테이션 4 Regular" pitchFamily="34" charset="-120"/>
                        </a:rPr>
                        <a:t>■ </a:t>
                      </a:r>
                      <a:pP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Not Available</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901</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0.97%</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98</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24028">
                <a:tc>
                  <a:txBody>
                    <a:bodyPr/>
                    <a:lstStyle/>
                    <a:p>
                      <a:pP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 </a:t>
                      </a:r>
                      <a:pPr indent="0" marL="0">
                        <a:buNone/>
                      </a:pPr>
                      <a:r>
                        <a:rPr lang="en-US" sz="1050" dirty="0">
                          <a:solidFill>
                            <a:srgbClr val="0052FF"/>
                          </a:solidFill>
                          <a:latin typeface="프리젠테이션 7 Bold" pitchFamily="34" charset="0"/>
                          <a:ea typeface="프리젠테이션 7 Bold" pitchFamily="34" charset="-122"/>
                          <a:cs typeface="프리젠테이션 7 Bold" pitchFamily="34" charset="-120"/>
                        </a:rPr>
                        <a:t>Tanker</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052FF"/>
                          </a:solidFill>
                          <a:latin typeface="프리젠테이션 7 Bold" pitchFamily="34" charset="0"/>
                          <a:ea typeface="프리젠테이션 7 Bold" pitchFamily="34" charset="-122"/>
                          <a:cs typeface="프리젠테이션 7 Bold" pitchFamily="34" charset="-120"/>
                        </a:rPr>
                        <a:t>632</a:t>
                      </a:r>
                      <a:endParaRPr lang="en-US" sz="105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052FF"/>
                          </a:solidFill>
                          <a:latin typeface="프리젠테이션 7 Bold" pitchFamily="34" charset="0"/>
                          <a:ea typeface="프리젠테이션 7 Bold" pitchFamily="34" charset="-122"/>
                          <a:cs typeface="프리젠테이션 7 Bold" pitchFamily="34" charset="-120"/>
                        </a:rPr>
                        <a:t>0.68%</a:t>
                      </a:r>
                      <a:endParaRPr lang="en-US" sz="105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052FF"/>
                          </a:solidFill>
                          <a:latin typeface="프리젠테이션 7 Bold" pitchFamily="34" charset="0"/>
                          <a:ea typeface="프리젠테이션 7 Bold" pitchFamily="34" charset="-122"/>
                          <a:cs typeface="프리젠테이션 7 Bold" pitchFamily="34" charset="-120"/>
                        </a:rPr>
                        <a:t>138</a:t>
                      </a:r>
                      <a:endParaRPr lang="en-US" sz="105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24028">
                <a:tc>
                  <a:txBody>
                    <a:bodyPr/>
                    <a:lstStyle/>
                    <a:p>
                      <a:pPr indent="0" marL="0">
                        <a:buNone/>
                      </a:pPr>
                      <a:r>
                        <a:rPr lang="en-US" sz="1050" dirty="0">
                          <a:solidFill>
                            <a:srgbClr val="0A0B0D"/>
                          </a:solidFill>
                          <a:latin typeface="프리젠테이션 7 Bold" pitchFamily="34" charset="0"/>
                          <a:ea typeface="프리젠테이션 7 Bold" pitchFamily="34" charset="-122"/>
                          <a:cs typeface="프리젠테이션 7 Bold" pitchFamily="34" charset="-120"/>
                        </a:rPr>
                        <a:t>Total</a:t>
                      </a:r>
                      <a:endParaRPr lang="en-US" sz="105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7 Bold" pitchFamily="34" charset="0"/>
                          <a:ea typeface="프리젠테이션 7 Bold" pitchFamily="34" charset="-122"/>
                          <a:cs typeface="프리젠테이션 7 Bold" pitchFamily="34" charset="-120"/>
                        </a:rPr>
                        <a:t>92,927</a:t>
                      </a:r>
                      <a:endParaRPr lang="en-US" sz="105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0A0B0D"/>
                          </a:solidFill>
                          <a:latin typeface="프리젠테이션 7 Bold" pitchFamily="34" charset="0"/>
                          <a:ea typeface="프리젠테이션 7 Bold" pitchFamily="34" charset="-122"/>
                          <a:cs typeface="프리젠테이션 7 Bold" pitchFamily="34" charset="-120"/>
                        </a:rPr>
                        <a:t>100%</a:t>
                      </a:r>
                      <a:endParaRPr lang="en-US" sz="1050" dirty="0">
                        <a:latin typeface="프리젠테이션 7 Bold" charset="0"/>
                        <a:ea typeface="프리젠테이션 7 Bold" charset="0"/>
                        <a:cs typeface="프리젠테이션 7 Bold"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algn="r" indent="0" marL="0">
                        <a:buNone/>
                      </a:pPr>
                      <a:r>
                        <a:rPr lang="en-US" sz="1050" dirty="0">
                          <a:solidFill>
                            <a:srgbClr val="8A919E"/>
                          </a:solidFill>
                          <a:latin typeface="프리젠테이션 4 Regular" pitchFamily="34" charset="0"/>
                          <a:ea typeface="프리젠테이션 4 Regular" pitchFamily="34" charset="-122"/>
                          <a:cs typeface="프리젠테이션 4 Regular" pitchFamily="34" charset="-120"/>
                        </a:rPr>
                        <a:t>—</a:t>
                      </a:r>
                      <a:endParaRPr lang="en-US" sz="1050" dirty="0">
                        <a:latin typeface="프리젠테이션 4 Regular" charset="0"/>
                        <a:ea typeface="프리젠테이션 4 Regular" charset="0"/>
                        <a:cs typeface="프리젠테이션 4 Regular" charset="0"/>
                      </a:endParaRPr>
                    </a:p>
                  </a:txBody>
                  <a:tcPr marL="36576" marR="36576" marT="36576" marB="36576"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bl>
          </a:graphicData>
        </a:graphic>
      </p:graphicFrame>
      <p:sp>
        <p:nvSpPr>
          <p:cNvPr id="8" name="focus card"/>
          <p:cNvSpPr/>
          <p:nvPr/>
        </p:nvSpPr>
        <p:spPr>
          <a:xfrm>
            <a:off x="3794760" y="4041648"/>
            <a:ext cx="4892040" cy="566928"/>
          </a:xfrm>
          <a:prstGeom prst="roundRect">
            <a:avLst>
              <a:gd name="adj" fmla="val 35484"/>
            </a:avLst>
          </a:prstGeom>
          <a:solidFill>
            <a:srgbClr val="EEF0F3"/>
          </a:solidFill>
          <a:ln/>
        </p:spPr>
      </p:sp>
      <p:sp>
        <p:nvSpPr>
          <p:cNvPr id="9" name="focus text"/>
          <p:cNvSpPr txBox="1"/>
          <p:nvPr/>
        </p:nvSpPr>
        <p:spPr>
          <a:xfrm>
            <a:off x="3950208" y="4078224"/>
            <a:ext cx="4617720" cy="493776"/>
          </a:xfrm>
          <a:prstGeom prst="rect">
            <a:avLst/>
          </a:prstGeom>
          <a:noFill/>
          <a:ln/>
        </p:spPr>
        <p:txBody>
          <a:bodyPr wrap="square" lIns="0" tIns="0" rIns="0" bIns="0" rtlCol="0" anchor="ctr"/>
          <a:lstStyle/>
          <a:p>
            <a:pPr indent="0" marL="0">
              <a:buNone/>
            </a:pPr>
            <a:r>
              <a:rPr lang="en-US" sz="1000" dirty="0">
                <a:solidFill>
                  <a:srgbClr val="0A0B0D"/>
                </a:solidFill>
                <a:latin typeface="프리젠테이션 7 Bold" pitchFamily="34" charset="0"/>
                <a:ea typeface="프리젠테이션 7 Bold" pitchFamily="34" charset="-122"/>
                <a:cs typeface="프리젠테이션 7 Bold" pitchFamily="34" charset="-120"/>
              </a:rPr>
              <a:t>Why Cargo &amp; Tanker?  </a:t>
            </a:r>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A question-driven scope — our RQs compare these two commercial groups, not because they dominate traffic. “Cargo” is a broad AIS label, not bulk carriers only.</a:t>
            </a:r>
            <a:endParaRPr lang="en-US" sz="1000" dirty="0"/>
          </a:p>
        </p:txBody>
      </p:sp>
      <p:sp>
        <p:nvSpPr>
          <p:cNvPr id="10" name="chart note"/>
          <p:cNvSpPr txBox="1"/>
          <p:nvPr/>
        </p:nvSpPr>
        <p:spPr>
          <a:xfrm>
            <a:off x="457200" y="4626864"/>
            <a:ext cx="8229600" cy="146304"/>
          </a:xfrm>
          <a:prstGeom prst="rect">
            <a:avLst/>
          </a:prstGeom>
          <a:noFill/>
          <a:ln/>
        </p:spPr>
        <p:txBody>
          <a:bodyPr wrap="square" lIns="0" tIns="0" rIns="0" bIns="0" rtlCol="0" anchor="ctr"/>
          <a:lstStyle/>
          <a:p>
            <a:pPr indent="0" marL="0">
              <a:buNone/>
            </a:pPr>
            <a:r>
              <a:rPr lang="en-US" sz="850" dirty="0">
                <a:solidFill>
                  <a:srgbClr val="8A919E"/>
                </a:solidFill>
                <a:latin typeface="프리젠테이션 4 Regular" pitchFamily="34" charset="0"/>
                <a:ea typeface="프리젠테이션 4 Regular" pitchFamily="34" charset="-122"/>
                <a:cs typeface="프리젠테이션 4 Regular" pitchFamily="34" charset="-120"/>
              </a:rPr>
              <a:t>Tracks intersecting the provisional rectangle (EPSG:4269), 2024 · shares by track row, not unique vessel or port call · MMSI counted within each group</a:t>
            </a:r>
            <a:endParaRPr lang="en-US" sz="8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05 — AIS DATA OVERVIEW</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Inside the GeoPackage file</a:t>
            </a:r>
            <a:endParaRPr lang="en-US" sz="3600" dirty="0"/>
          </a:p>
        </p:txBody>
      </p:sp>
      <p:sp>
        <p:nvSpPr>
          <p:cNvPr id="4" name="gpkg container"/>
          <p:cNvSpPr/>
          <p:nvPr/>
        </p:nvSpPr>
        <p:spPr>
          <a:xfrm>
            <a:off x="457200" y="1371600"/>
            <a:ext cx="8229600" cy="1783080"/>
          </a:xfrm>
          <a:prstGeom prst="roundRect">
            <a:avLst>
              <a:gd name="adj" fmla="val 11282"/>
            </a:avLst>
          </a:prstGeom>
          <a:solidFill>
            <a:srgbClr val="0A0B0D"/>
          </a:solidFill>
          <a:ln/>
        </p:spPr>
      </p:sp>
      <p:sp>
        <p:nvSpPr>
          <p:cNvPr id="5" name="gpkg title"/>
          <p:cNvSpPr txBox="1"/>
          <p:nvPr/>
        </p:nvSpPr>
        <p:spPr>
          <a:xfrm>
            <a:off x="685800" y="1499616"/>
            <a:ext cx="5486400" cy="274320"/>
          </a:xfrm>
          <a:prstGeom prst="rect">
            <a:avLst/>
          </a:prstGeom>
          <a:noFill/>
          <a:ln/>
        </p:spPr>
        <p:txBody>
          <a:bodyPr wrap="square" lIns="0" tIns="0" rIns="0" bIns="0" rtlCol="0" anchor="ctr"/>
          <a:lstStyle/>
          <a:p>
            <a:pPr indent="0" marL="0">
              <a:buNone/>
            </a:pPr>
            <a:r>
              <a:rPr lang="en-US" sz="1200" dirty="0">
                <a:solidFill>
                  <a:srgbClr val="FFFFFF"/>
                </a:solidFill>
                <a:latin typeface="프리젠테이션 7 Bold" pitchFamily="34" charset="0"/>
                <a:ea typeface="프리젠테이션 7 Bold" pitchFamily="34" charset="-122"/>
                <a:cs typeface="프리젠테이션 7 Bold" pitchFamily="34" charset="-120"/>
              </a:rPr>
              <a:t>AISVesselTracks2024.gpkg</a:t>
            </a:r>
            <a:pPr indent="0" marL="0">
              <a:buNone/>
            </a:pPr>
            <a:r>
              <a:rPr lang="en-US" sz="1200" dirty="0">
                <a:solidFill>
                  <a:srgbClr val="8A919E"/>
                </a:solidFill>
                <a:latin typeface="프리젠테이션 4 Regular" pitchFamily="34" charset="0"/>
                <a:ea typeface="프리젠테이션 4 Regular" pitchFamily="34" charset="-122"/>
                <a:cs typeface="프리젠테이션 4 Regular" pitchFamily="34" charset="-120"/>
              </a:rPr>
              <a:t>   SQLite container</a:t>
            </a:r>
            <a:endParaRPr lang="en-US" sz="1200" dirty="0"/>
          </a:p>
        </p:txBody>
      </p:sp>
      <p:sp>
        <p:nvSpPr>
          <p:cNvPr id="6" name="sub card 0"/>
          <p:cNvSpPr/>
          <p:nvPr/>
        </p:nvSpPr>
        <p:spPr>
          <a:xfrm>
            <a:off x="640080" y="1874520"/>
            <a:ext cx="2514600" cy="1097280"/>
          </a:xfrm>
          <a:prstGeom prst="roundRect">
            <a:avLst>
              <a:gd name="adj" fmla="val 18333"/>
            </a:avLst>
          </a:prstGeom>
          <a:solidFill>
            <a:srgbClr val="1B1D22"/>
          </a:solidFill>
          <a:ln/>
        </p:spPr>
      </p:sp>
      <p:sp>
        <p:nvSpPr>
          <p:cNvPr id="7" name="sub t 0"/>
          <p:cNvSpPr txBox="1"/>
          <p:nvPr/>
        </p:nvSpPr>
        <p:spPr>
          <a:xfrm>
            <a:off x="822960" y="1993392"/>
            <a:ext cx="2148840" cy="256032"/>
          </a:xfrm>
          <a:prstGeom prst="rect">
            <a:avLst/>
          </a:prstGeom>
          <a:noFill/>
          <a:ln/>
        </p:spPr>
        <p:txBody>
          <a:bodyPr wrap="square" lIns="0" tIns="0" rIns="0" bIns="0" rtlCol="0" anchor="ctr"/>
          <a:lstStyle/>
          <a:p>
            <a:pPr indent="0" marL="0">
              <a:buNone/>
            </a:pPr>
            <a:r>
              <a:rPr lang="en-US" sz="1300" dirty="0">
                <a:solidFill>
                  <a:srgbClr val="FFFFFF"/>
                </a:solidFill>
                <a:latin typeface="프리젠테이션 7 Bold" pitchFamily="34" charset="0"/>
                <a:ea typeface="프리젠테이션 7 Bold" pitchFamily="34" charset="-122"/>
                <a:cs typeface="프리젠테이션 7 Bold" pitchFamily="34" charset="-120"/>
              </a:rPr>
              <a:t>Spatial index</a:t>
            </a:r>
            <a:endParaRPr lang="en-US" sz="1300" dirty="0"/>
          </a:p>
        </p:txBody>
      </p:sp>
      <p:sp>
        <p:nvSpPr>
          <p:cNvPr id="8" name="sub c 0"/>
          <p:cNvSpPr txBox="1"/>
          <p:nvPr/>
        </p:nvSpPr>
        <p:spPr>
          <a:xfrm>
            <a:off x="822960" y="2267712"/>
            <a:ext cx="2148840" cy="219456"/>
          </a:xfrm>
          <a:prstGeom prst="rect">
            <a:avLst/>
          </a:prstGeom>
          <a:noFill/>
          <a:ln/>
        </p:spPr>
        <p:txBody>
          <a:bodyPr wrap="square" lIns="0" tIns="0" rIns="0" bIns="0" rtlCol="0" anchor="ctr"/>
          <a:lstStyle/>
          <a:p>
            <a:pPr indent="0" marL="0">
              <a:buNone/>
            </a:pPr>
            <a:r>
              <a:rPr lang="en-US" sz="950" dirty="0">
                <a:solidFill>
                  <a:srgbClr val="7FA6FF"/>
                </a:solidFill>
                <a:latin typeface="프리젠테이션 4 Regular" pitchFamily="34" charset="0"/>
                <a:ea typeface="프리젠테이션 4 Regular" pitchFamily="34" charset="-122"/>
                <a:cs typeface="프리젠테이션 4 Regular" pitchFamily="34" charset="-120"/>
              </a:rPr>
              <a:t>rtree_AISVesselTracks2024_Shape</a:t>
            </a:r>
            <a:endParaRPr lang="en-US" sz="950" dirty="0"/>
          </a:p>
        </p:txBody>
      </p:sp>
      <p:sp>
        <p:nvSpPr>
          <p:cNvPr id="9" name="sub d 0"/>
          <p:cNvSpPr txBox="1"/>
          <p:nvPr/>
        </p:nvSpPr>
        <p:spPr>
          <a:xfrm>
            <a:off x="822960" y="2514600"/>
            <a:ext cx="2148840" cy="384048"/>
          </a:xfrm>
          <a:prstGeom prst="rect">
            <a:avLst/>
          </a:prstGeom>
          <a:noFill/>
          <a:ln/>
        </p:spPr>
        <p:txBody>
          <a:bodyPr wrap="square" lIns="0" tIns="0" rIns="0" bIns="0" rtlCol="0" anchor="t"/>
          <a:lstStyle/>
          <a:p>
            <a:pPr indent="0" marL="0">
              <a:buNone/>
            </a:pPr>
            <a:r>
              <a:rPr lang="en-US" sz="1050" dirty="0">
                <a:solidFill>
                  <a:srgbClr val="B8BEC8"/>
                </a:solidFill>
                <a:latin typeface="프리젠테이션 4 Regular" pitchFamily="34" charset="0"/>
                <a:ea typeface="프리젠테이션 4 Regular" pitchFamily="34" charset="-122"/>
                <a:cs typeface="프리젠테이션 4 Regular" pitchFamily="34" charset="-120"/>
              </a:rPr>
              <a:t>Bounding box of every track → fast candidate lookup</a:t>
            </a:r>
            <a:endParaRPr lang="en-US" sz="1050" dirty="0"/>
          </a:p>
        </p:txBody>
      </p:sp>
      <p:sp>
        <p:nvSpPr>
          <p:cNvPr id="10" name="sub card 1"/>
          <p:cNvSpPr/>
          <p:nvPr/>
        </p:nvSpPr>
        <p:spPr>
          <a:xfrm>
            <a:off x="3337560" y="1874520"/>
            <a:ext cx="2514600" cy="1097280"/>
          </a:xfrm>
          <a:prstGeom prst="roundRect">
            <a:avLst>
              <a:gd name="adj" fmla="val 18333"/>
            </a:avLst>
          </a:prstGeom>
          <a:solidFill>
            <a:srgbClr val="1B1D22"/>
          </a:solidFill>
          <a:ln/>
        </p:spPr>
      </p:sp>
      <p:sp>
        <p:nvSpPr>
          <p:cNvPr id="11" name="sub t 1"/>
          <p:cNvSpPr txBox="1"/>
          <p:nvPr/>
        </p:nvSpPr>
        <p:spPr>
          <a:xfrm>
            <a:off x="3520440" y="1993392"/>
            <a:ext cx="2148840" cy="256032"/>
          </a:xfrm>
          <a:prstGeom prst="rect">
            <a:avLst/>
          </a:prstGeom>
          <a:noFill/>
          <a:ln/>
        </p:spPr>
        <p:txBody>
          <a:bodyPr wrap="square" lIns="0" tIns="0" rIns="0" bIns="0" rtlCol="0" anchor="ctr"/>
          <a:lstStyle/>
          <a:p>
            <a:pPr indent="0" marL="0">
              <a:buNone/>
            </a:pPr>
            <a:r>
              <a:rPr lang="en-US" sz="1300" dirty="0">
                <a:solidFill>
                  <a:srgbClr val="FFFFFF"/>
                </a:solidFill>
                <a:latin typeface="프리젠테이션 7 Bold" pitchFamily="34" charset="0"/>
                <a:ea typeface="프리젠테이션 7 Bold" pitchFamily="34" charset="-122"/>
                <a:cs typeface="프리젠테이션 7 Bold" pitchFamily="34" charset="-120"/>
              </a:rPr>
              <a:t>Feature layer</a:t>
            </a:r>
            <a:endParaRPr lang="en-US" sz="1300" dirty="0"/>
          </a:p>
        </p:txBody>
      </p:sp>
      <p:sp>
        <p:nvSpPr>
          <p:cNvPr id="12" name="sub c 1"/>
          <p:cNvSpPr txBox="1"/>
          <p:nvPr/>
        </p:nvSpPr>
        <p:spPr>
          <a:xfrm>
            <a:off x="3520440" y="2267712"/>
            <a:ext cx="2148840" cy="219456"/>
          </a:xfrm>
          <a:prstGeom prst="rect">
            <a:avLst/>
          </a:prstGeom>
          <a:noFill/>
          <a:ln/>
        </p:spPr>
        <p:txBody>
          <a:bodyPr wrap="square" lIns="0" tIns="0" rIns="0" bIns="0" rtlCol="0" anchor="ctr"/>
          <a:lstStyle/>
          <a:p>
            <a:pPr indent="0" marL="0">
              <a:buNone/>
            </a:pPr>
            <a:r>
              <a:rPr lang="en-US" sz="950" dirty="0">
                <a:solidFill>
                  <a:srgbClr val="7FA6FF"/>
                </a:solidFill>
                <a:latin typeface="프리젠테이션 4 Regular" pitchFamily="34" charset="0"/>
                <a:ea typeface="프리젠테이션 4 Regular" pitchFamily="34" charset="-122"/>
                <a:cs typeface="프리젠테이션 4 Regular" pitchFamily="34" charset="-120"/>
              </a:rPr>
              <a:t>AISVesselTracks2024</a:t>
            </a:r>
            <a:endParaRPr lang="en-US" sz="950" dirty="0"/>
          </a:p>
        </p:txBody>
      </p:sp>
      <p:sp>
        <p:nvSpPr>
          <p:cNvPr id="13" name="sub d 1"/>
          <p:cNvSpPr txBox="1"/>
          <p:nvPr/>
        </p:nvSpPr>
        <p:spPr>
          <a:xfrm>
            <a:off x="3520440" y="2514600"/>
            <a:ext cx="2148840" cy="384048"/>
          </a:xfrm>
          <a:prstGeom prst="rect">
            <a:avLst/>
          </a:prstGeom>
          <a:noFill/>
          <a:ln/>
        </p:spPr>
        <p:txBody>
          <a:bodyPr wrap="square" lIns="0" tIns="0" rIns="0" bIns="0" rtlCol="0" anchor="t"/>
          <a:lstStyle/>
          <a:p>
            <a:pPr indent="0" marL="0">
              <a:buNone/>
            </a:pPr>
            <a:r>
              <a:rPr lang="en-US" sz="1050" dirty="0">
                <a:solidFill>
                  <a:srgbClr val="B8BEC8"/>
                </a:solidFill>
                <a:latin typeface="프리젠테이션 4 Regular" pitchFamily="34" charset="0"/>
                <a:ea typeface="프리젠테이션 4 Regular" pitchFamily="34" charset="-122"/>
                <a:cs typeface="프리젠테이션 4 Regular" pitchFamily="34" charset="-120"/>
              </a:rPr>
              <a:t>10 attributes + Shape (MULTILINESTRING) per row</a:t>
            </a:r>
            <a:endParaRPr lang="en-US" sz="1050" dirty="0"/>
          </a:p>
        </p:txBody>
      </p:sp>
      <p:sp>
        <p:nvSpPr>
          <p:cNvPr id="14" name="sub card 2"/>
          <p:cNvSpPr/>
          <p:nvPr/>
        </p:nvSpPr>
        <p:spPr>
          <a:xfrm>
            <a:off x="6035040" y="1874520"/>
            <a:ext cx="2514600" cy="1097280"/>
          </a:xfrm>
          <a:prstGeom prst="roundRect">
            <a:avLst>
              <a:gd name="adj" fmla="val 18333"/>
            </a:avLst>
          </a:prstGeom>
          <a:solidFill>
            <a:srgbClr val="1B1D22"/>
          </a:solidFill>
          <a:ln/>
        </p:spPr>
      </p:sp>
      <p:sp>
        <p:nvSpPr>
          <p:cNvPr id="15" name="sub t 2"/>
          <p:cNvSpPr txBox="1"/>
          <p:nvPr/>
        </p:nvSpPr>
        <p:spPr>
          <a:xfrm>
            <a:off x="6217920" y="1993392"/>
            <a:ext cx="2148840" cy="256032"/>
          </a:xfrm>
          <a:prstGeom prst="rect">
            <a:avLst/>
          </a:prstGeom>
          <a:noFill/>
          <a:ln/>
        </p:spPr>
        <p:txBody>
          <a:bodyPr wrap="square" lIns="0" tIns="0" rIns="0" bIns="0" rtlCol="0" anchor="ctr"/>
          <a:lstStyle/>
          <a:p>
            <a:pPr indent="0" marL="0">
              <a:buNone/>
            </a:pPr>
            <a:r>
              <a:rPr lang="en-US" sz="1300" dirty="0">
                <a:solidFill>
                  <a:srgbClr val="FFFFFF"/>
                </a:solidFill>
                <a:latin typeface="프리젠테이션 7 Bold" pitchFamily="34" charset="0"/>
                <a:ea typeface="프리젠테이션 7 Bold" pitchFamily="34" charset="-122"/>
                <a:cs typeface="프리젠테이션 7 Bold" pitchFamily="34" charset="-120"/>
              </a:rPr>
              <a:t>Metadata tables</a:t>
            </a:r>
            <a:endParaRPr lang="en-US" sz="1300" dirty="0"/>
          </a:p>
        </p:txBody>
      </p:sp>
      <p:sp>
        <p:nvSpPr>
          <p:cNvPr id="16" name="sub c 2"/>
          <p:cNvSpPr txBox="1"/>
          <p:nvPr/>
        </p:nvSpPr>
        <p:spPr>
          <a:xfrm>
            <a:off x="6217920" y="2267712"/>
            <a:ext cx="2148840" cy="219456"/>
          </a:xfrm>
          <a:prstGeom prst="rect">
            <a:avLst/>
          </a:prstGeom>
          <a:noFill/>
          <a:ln/>
        </p:spPr>
        <p:txBody>
          <a:bodyPr wrap="square" lIns="0" tIns="0" rIns="0" bIns="0" rtlCol="0" anchor="ctr"/>
          <a:lstStyle/>
          <a:p>
            <a:pPr indent="0" marL="0">
              <a:buNone/>
            </a:pPr>
            <a:r>
              <a:rPr lang="en-US" sz="950" dirty="0">
                <a:solidFill>
                  <a:srgbClr val="7FA6FF"/>
                </a:solidFill>
                <a:latin typeface="프리젠테이션 4 Regular" pitchFamily="34" charset="0"/>
                <a:ea typeface="프리젠테이션 4 Regular" pitchFamily="34" charset="-122"/>
                <a:cs typeface="프리젠테이션 4 Regular" pitchFamily="34" charset="-120"/>
              </a:rPr>
              <a:t>gpkg_contents · gpkg_spatial_ref_sys</a:t>
            </a:r>
            <a:endParaRPr lang="en-US" sz="950" dirty="0"/>
          </a:p>
        </p:txBody>
      </p:sp>
      <p:sp>
        <p:nvSpPr>
          <p:cNvPr id="17" name="sub d 2"/>
          <p:cNvSpPr txBox="1"/>
          <p:nvPr/>
        </p:nvSpPr>
        <p:spPr>
          <a:xfrm>
            <a:off x="6217920" y="2514600"/>
            <a:ext cx="2148840" cy="384048"/>
          </a:xfrm>
          <a:prstGeom prst="rect">
            <a:avLst/>
          </a:prstGeom>
          <a:noFill/>
          <a:ln/>
        </p:spPr>
        <p:txBody>
          <a:bodyPr wrap="square" lIns="0" tIns="0" rIns="0" bIns="0" rtlCol="0" anchor="t"/>
          <a:lstStyle/>
          <a:p>
            <a:pPr indent="0" marL="0">
              <a:buNone/>
            </a:pPr>
            <a:r>
              <a:rPr lang="en-US" sz="1050" dirty="0">
                <a:solidFill>
                  <a:srgbClr val="B8BEC8"/>
                </a:solidFill>
                <a:latin typeface="프리젠테이션 4 Regular" pitchFamily="34" charset="0"/>
                <a:ea typeface="프리젠테이션 4 Regular" pitchFamily="34" charset="-122"/>
                <a:cs typeface="프리젠테이션 4 Regular" pitchFamily="34" charset="-120"/>
              </a:rPr>
              <a:t>Layer description and CRS: EPSG:4269</a:t>
            </a:r>
            <a:endParaRPr lang="en-US" sz="1050" dirty="0"/>
          </a:p>
        </p:txBody>
      </p:sp>
      <p:sp>
        <p:nvSpPr>
          <p:cNvPr id="18" name="pipe step 0"/>
          <p:cNvSpPr/>
          <p:nvPr/>
        </p:nvSpPr>
        <p:spPr>
          <a:xfrm>
            <a:off x="457200" y="3520440"/>
            <a:ext cx="1481328" cy="914400"/>
          </a:xfrm>
          <a:prstGeom prst="roundRect">
            <a:avLst>
              <a:gd name="adj" fmla="val 22000"/>
            </a:avLst>
          </a:prstGeom>
          <a:solidFill>
            <a:srgbClr val="EEF0F3"/>
          </a:solidFill>
          <a:ln/>
        </p:spPr>
      </p:sp>
      <p:sp>
        <p:nvSpPr>
          <p:cNvPr id="19" name="pipe num 0"/>
          <p:cNvSpPr txBox="1"/>
          <p:nvPr/>
        </p:nvSpPr>
        <p:spPr>
          <a:xfrm>
            <a:off x="594360" y="3648456"/>
            <a:ext cx="274320" cy="274320"/>
          </a:xfrm>
          <a:prstGeom prst="ellipse">
            <a:avLst/>
          </a:prstGeom>
          <a:solidFill>
            <a:srgbClr val="0052FF"/>
          </a:solidFill>
          <a:ln/>
        </p:spPr>
        <p:txBody>
          <a:bodyPr wrap="square" lIns="0" tIns="0" rIns="0" bIns="0" rtlCol="0" anchor="ctr"/>
          <a:lstStyle/>
          <a:p>
            <a:pPr algn="ctr" indent="0" marL="0">
              <a:buNone/>
            </a:pPr>
            <a:r>
              <a:rPr lang="en-US" sz="1050" dirty="0">
                <a:solidFill>
                  <a:srgbClr val="FFFFFF"/>
                </a:solidFill>
                <a:latin typeface="프리젠테이션 7 Bold" pitchFamily="34" charset="0"/>
                <a:ea typeface="프리젠테이션 7 Bold" pitchFamily="34" charset="-122"/>
                <a:cs typeface="프리젠테이션 7 Bold" pitchFamily="34" charset="-120"/>
              </a:rPr>
              <a:t>1</a:t>
            </a:r>
            <a:endParaRPr lang="en-US" sz="1050" dirty="0"/>
          </a:p>
        </p:txBody>
      </p:sp>
      <p:sp>
        <p:nvSpPr>
          <p:cNvPr id="20" name="pipe t 0"/>
          <p:cNvSpPr txBox="1"/>
          <p:nvPr/>
        </p:nvSpPr>
        <p:spPr>
          <a:xfrm>
            <a:off x="932688" y="3648456"/>
            <a:ext cx="932688" cy="274320"/>
          </a:xfrm>
          <a:prstGeom prst="rect">
            <a:avLst/>
          </a:prstGeom>
          <a:noFill/>
          <a:ln/>
        </p:spPr>
        <p:txBody>
          <a:bodyPr wrap="square" lIns="0" tIns="0" rIns="0" bIns="0" rtlCol="0" anchor="ctr"/>
          <a:lstStyle/>
          <a:p>
            <a:pPr indent="0" marL="0">
              <a:buNone/>
            </a:pPr>
            <a:r>
              <a:rPr lang="en-US" sz="1150" dirty="0">
                <a:solidFill>
                  <a:srgbClr val="0A0B0D"/>
                </a:solidFill>
                <a:latin typeface="프리젠테이션 7 Bold" pitchFamily="34" charset="0"/>
                <a:ea typeface="프리젠테이션 7 Bold" pitchFamily="34" charset="-122"/>
                <a:cs typeface="프리젠테이션 7 Bold" pitchFamily="34" charset="-120"/>
              </a:rPr>
              <a:t>BBox lookup</a:t>
            </a:r>
            <a:endParaRPr lang="en-US" sz="1150" dirty="0"/>
          </a:p>
        </p:txBody>
      </p:sp>
      <p:sp>
        <p:nvSpPr>
          <p:cNvPr id="21" name="pipe d 0"/>
          <p:cNvSpPr txBox="1"/>
          <p:nvPr/>
        </p:nvSpPr>
        <p:spPr>
          <a:xfrm>
            <a:off x="594360" y="3995928"/>
            <a:ext cx="1225296" cy="384048"/>
          </a:xfrm>
          <a:prstGeom prst="rect">
            <a:avLst/>
          </a:prstGeom>
          <a:noFill/>
          <a:ln/>
        </p:spPr>
        <p:txBody>
          <a:bodyPr wrap="square" lIns="0" tIns="0" rIns="0" bIns="0" rtlCol="0" anchor="t"/>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RTree returns candidate tracks</a:t>
            </a:r>
            <a:endParaRPr lang="en-US" sz="1000" dirty="0"/>
          </a:p>
        </p:txBody>
      </p:sp>
      <p:sp>
        <p:nvSpPr>
          <p:cNvPr id="22" name="pipe arrow 0"/>
          <p:cNvSpPr/>
          <p:nvPr/>
        </p:nvSpPr>
        <p:spPr>
          <a:xfrm>
            <a:off x="1965960" y="3977640"/>
            <a:ext cx="150876" cy="0"/>
          </a:xfrm>
          <a:prstGeom prst="line">
            <a:avLst/>
          </a:prstGeom>
          <a:noFill/>
          <a:ln w="15875">
            <a:solidFill>
              <a:srgbClr val="8A919E"/>
            </a:solidFill>
            <a:prstDash val="solid"/>
            <a:tailEnd type="triangle"/>
          </a:ln>
        </p:spPr>
      </p:sp>
      <p:sp>
        <p:nvSpPr>
          <p:cNvPr id="23" name="pipe step 1"/>
          <p:cNvSpPr/>
          <p:nvPr/>
        </p:nvSpPr>
        <p:spPr>
          <a:xfrm>
            <a:off x="2144268" y="3520440"/>
            <a:ext cx="1481328" cy="914400"/>
          </a:xfrm>
          <a:prstGeom prst="roundRect">
            <a:avLst>
              <a:gd name="adj" fmla="val 22000"/>
            </a:avLst>
          </a:prstGeom>
          <a:solidFill>
            <a:srgbClr val="EEF0F3"/>
          </a:solidFill>
          <a:ln/>
        </p:spPr>
      </p:sp>
      <p:sp>
        <p:nvSpPr>
          <p:cNvPr id="24" name="pipe num 1"/>
          <p:cNvSpPr txBox="1"/>
          <p:nvPr/>
        </p:nvSpPr>
        <p:spPr>
          <a:xfrm>
            <a:off x="2281428" y="3648456"/>
            <a:ext cx="274320" cy="274320"/>
          </a:xfrm>
          <a:prstGeom prst="ellipse">
            <a:avLst/>
          </a:prstGeom>
          <a:solidFill>
            <a:srgbClr val="0052FF"/>
          </a:solidFill>
          <a:ln/>
        </p:spPr>
        <p:txBody>
          <a:bodyPr wrap="square" lIns="0" tIns="0" rIns="0" bIns="0" rtlCol="0" anchor="ctr"/>
          <a:lstStyle/>
          <a:p>
            <a:pPr algn="ctr" indent="0" marL="0">
              <a:buNone/>
            </a:pPr>
            <a:r>
              <a:rPr lang="en-US" sz="1050" dirty="0">
                <a:solidFill>
                  <a:srgbClr val="FFFFFF"/>
                </a:solidFill>
                <a:latin typeface="프리젠테이션 7 Bold" pitchFamily="34" charset="0"/>
                <a:ea typeface="프리젠테이션 7 Bold" pitchFamily="34" charset="-122"/>
                <a:cs typeface="프리젠테이션 7 Bold" pitchFamily="34" charset="-120"/>
              </a:rPr>
              <a:t>2</a:t>
            </a:r>
            <a:endParaRPr lang="en-US" sz="1050" dirty="0"/>
          </a:p>
        </p:txBody>
      </p:sp>
      <p:sp>
        <p:nvSpPr>
          <p:cNvPr id="25" name="pipe t 1"/>
          <p:cNvSpPr txBox="1"/>
          <p:nvPr/>
        </p:nvSpPr>
        <p:spPr>
          <a:xfrm>
            <a:off x="2619756" y="3648456"/>
            <a:ext cx="932688" cy="274320"/>
          </a:xfrm>
          <a:prstGeom prst="rect">
            <a:avLst/>
          </a:prstGeom>
          <a:noFill/>
          <a:ln/>
        </p:spPr>
        <p:txBody>
          <a:bodyPr wrap="square" lIns="0" tIns="0" rIns="0" bIns="0" rtlCol="0" anchor="ctr"/>
          <a:lstStyle/>
          <a:p>
            <a:pPr indent="0" marL="0">
              <a:buNone/>
            </a:pPr>
            <a:r>
              <a:rPr lang="en-US" sz="1150" dirty="0">
                <a:solidFill>
                  <a:srgbClr val="0A0B0D"/>
                </a:solidFill>
                <a:latin typeface="프리젠테이션 7 Bold" pitchFamily="34" charset="0"/>
                <a:ea typeface="프리젠테이션 7 Bold" pitchFamily="34" charset="-122"/>
                <a:cs typeface="프리젠테이션 7 Bold" pitchFamily="34" charset="-120"/>
              </a:rPr>
              <a:t>Exact intersect</a:t>
            </a:r>
            <a:endParaRPr lang="en-US" sz="1150" dirty="0"/>
          </a:p>
        </p:txBody>
      </p:sp>
      <p:sp>
        <p:nvSpPr>
          <p:cNvPr id="26" name="pipe d 1"/>
          <p:cNvSpPr txBox="1"/>
          <p:nvPr/>
        </p:nvSpPr>
        <p:spPr>
          <a:xfrm>
            <a:off x="2281428" y="3995928"/>
            <a:ext cx="1225296" cy="384048"/>
          </a:xfrm>
          <a:prstGeom prst="rect">
            <a:avLst/>
          </a:prstGeom>
          <a:noFill/>
          <a:ln/>
        </p:spPr>
        <p:txBody>
          <a:bodyPr wrap="square" lIns="0" tIns="0" rIns="0" bIns="0" rtlCol="0" anchor="t"/>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Drop bbox-only false positives</a:t>
            </a:r>
            <a:endParaRPr lang="en-US" sz="1000" dirty="0"/>
          </a:p>
        </p:txBody>
      </p:sp>
      <p:sp>
        <p:nvSpPr>
          <p:cNvPr id="27" name="pipe arrow 1"/>
          <p:cNvSpPr/>
          <p:nvPr/>
        </p:nvSpPr>
        <p:spPr>
          <a:xfrm>
            <a:off x="3653028" y="3977640"/>
            <a:ext cx="150876" cy="0"/>
          </a:xfrm>
          <a:prstGeom prst="line">
            <a:avLst/>
          </a:prstGeom>
          <a:noFill/>
          <a:ln w="15875">
            <a:solidFill>
              <a:srgbClr val="8A919E"/>
            </a:solidFill>
            <a:prstDash val="solid"/>
            <a:tailEnd type="triangle"/>
          </a:ln>
        </p:spPr>
      </p:sp>
      <p:sp>
        <p:nvSpPr>
          <p:cNvPr id="28" name="pipe step 2"/>
          <p:cNvSpPr/>
          <p:nvPr/>
        </p:nvSpPr>
        <p:spPr>
          <a:xfrm>
            <a:off x="3831336" y="3520440"/>
            <a:ext cx="1481328" cy="914400"/>
          </a:xfrm>
          <a:prstGeom prst="roundRect">
            <a:avLst>
              <a:gd name="adj" fmla="val 22000"/>
            </a:avLst>
          </a:prstGeom>
          <a:solidFill>
            <a:srgbClr val="EEF0F3"/>
          </a:solidFill>
          <a:ln/>
        </p:spPr>
      </p:sp>
      <p:sp>
        <p:nvSpPr>
          <p:cNvPr id="29" name="pipe num 2"/>
          <p:cNvSpPr txBox="1"/>
          <p:nvPr/>
        </p:nvSpPr>
        <p:spPr>
          <a:xfrm>
            <a:off x="3968496" y="3648456"/>
            <a:ext cx="274320" cy="274320"/>
          </a:xfrm>
          <a:prstGeom prst="ellipse">
            <a:avLst/>
          </a:prstGeom>
          <a:solidFill>
            <a:srgbClr val="0052FF"/>
          </a:solidFill>
          <a:ln/>
        </p:spPr>
        <p:txBody>
          <a:bodyPr wrap="square" lIns="0" tIns="0" rIns="0" bIns="0" rtlCol="0" anchor="ctr"/>
          <a:lstStyle/>
          <a:p>
            <a:pPr algn="ctr" indent="0" marL="0">
              <a:buNone/>
            </a:pPr>
            <a:r>
              <a:rPr lang="en-US" sz="1050" dirty="0">
                <a:solidFill>
                  <a:srgbClr val="FFFFFF"/>
                </a:solidFill>
                <a:latin typeface="프리젠테이션 7 Bold" pitchFamily="34" charset="0"/>
                <a:ea typeface="프리젠테이션 7 Bold" pitchFamily="34" charset="-122"/>
                <a:cs typeface="프리젠테이션 7 Bold" pitchFamily="34" charset="-120"/>
              </a:rPr>
              <a:t>3</a:t>
            </a:r>
            <a:endParaRPr lang="en-US" sz="1050" dirty="0"/>
          </a:p>
        </p:txBody>
      </p:sp>
      <p:sp>
        <p:nvSpPr>
          <p:cNvPr id="30" name="pipe t 2"/>
          <p:cNvSpPr txBox="1"/>
          <p:nvPr/>
        </p:nvSpPr>
        <p:spPr>
          <a:xfrm>
            <a:off x="4306824" y="3648456"/>
            <a:ext cx="932688" cy="274320"/>
          </a:xfrm>
          <a:prstGeom prst="rect">
            <a:avLst/>
          </a:prstGeom>
          <a:noFill/>
          <a:ln/>
        </p:spPr>
        <p:txBody>
          <a:bodyPr wrap="square" lIns="0" tIns="0" rIns="0" bIns="0" rtlCol="0" anchor="ctr"/>
          <a:lstStyle/>
          <a:p>
            <a:pPr indent="0" marL="0">
              <a:buNone/>
            </a:pPr>
            <a:r>
              <a:rPr lang="en-US" sz="1150" dirty="0">
                <a:solidFill>
                  <a:srgbClr val="0A0B0D"/>
                </a:solidFill>
                <a:latin typeface="프리젠테이션 7 Bold" pitchFamily="34" charset="0"/>
                <a:ea typeface="프리젠테이션 7 Bold" pitchFamily="34" charset="-122"/>
                <a:cs typeface="프리젠테이션 7 Bold" pitchFamily="34" charset="-120"/>
              </a:rPr>
              <a:t>Cargo &amp; Tanker</a:t>
            </a:r>
            <a:endParaRPr lang="en-US" sz="1150" dirty="0"/>
          </a:p>
        </p:txBody>
      </p:sp>
      <p:sp>
        <p:nvSpPr>
          <p:cNvPr id="31" name="pipe d 2"/>
          <p:cNvSpPr txBox="1"/>
          <p:nvPr/>
        </p:nvSpPr>
        <p:spPr>
          <a:xfrm>
            <a:off x="3968496" y="3995928"/>
            <a:ext cx="1225296" cy="384048"/>
          </a:xfrm>
          <a:prstGeom prst="rect">
            <a:avLst/>
          </a:prstGeom>
          <a:noFill/>
          <a:ln/>
        </p:spPr>
        <p:txBody>
          <a:bodyPr wrap="square" lIns="0" tIns="0" rIns="0" bIns="0" rtlCol="0" anchor="t"/>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Filter on VesselGroup</a:t>
            </a:r>
            <a:endParaRPr lang="en-US" sz="1000" dirty="0"/>
          </a:p>
        </p:txBody>
      </p:sp>
      <p:sp>
        <p:nvSpPr>
          <p:cNvPr id="32" name="pipe arrow 2"/>
          <p:cNvSpPr/>
          <p:nvPr/>
        </p:nvSpPr>
        <p:spPr>
          <a:xfrm>
            <a:off x="5340096" y="3977640"/>
            <a:ext cx="150876" cy="0"/>
          </a:xfrm>
          <a:prstGeom prst="line">
            <a:avLst/>
          </a:prstGeom>
          <a:noFill/>
          <a:ln w="15875">
            <a:solidFill>
              <a:srgbClr val="8A919E"/>
            </a:solidFill>
            <a:prstDash val="solid"/>
            <a:tailEnd type="triangle"/>
          </a:ln>
        </p:spPr>
      </p:sp>
      <p:sp>
        <p:nvSpPr>
          <p:cNvPr id="33" name="pipe step 3"/>
          <p:cNvSpPr/>
          <p:nvPr/>
        </p:nvSpPr>
        <p:spPr>
          <a:xfrm>
            <a:off x="5518404" y="3520440"/>
            <a:ext cx="1481328" cy="914400"/>
          </a:xfrm>
          <a:prstGeom prst="roundRect">
            <a:avLst>
              <a:gd name="adj" fmla="val 22000"/>
            </a:avLst>
          </a:prstGeom>
          <a:solidFill>
            <a:srgbClr val="EEF0F3"/>
          </a:solidFill>
          <a:ln/>
        </p:spPr>
      </p:sp>
      <p:sp>
        <p:nvSpPr>
          <p:cNvPr id="34" name="pipe num 3"/>
          <p:cNvSpPr txBox="1"/>
          <p:nvPr/>
        </p:nvSpPr>
        <p:spPr>
          <a:xfrm>
            <a:off x="5655564" y="3648456"/>
            <a:ext cx="274320" cy="274320"/>
          </a:xfrm>
          <a:prstGeom prst="ellipse">
            <a:avLst/>
          </a:prstGeom>
          <a:solidFill>
            <a:srgbClr val="0052FF"/>
          </a:solidFill>
          <a:ln/>
        </p:spPr>
        <p:txBody>
          <a:bodyPr wrap="square" lIns="0" tIns="0" rIns="0" bIns="0" rtlCol="0" anchor="ctr"/>
          <a:lstStyle/>
          <a:p>
            <a:pPr algn="ctr" indent="0" marL="0">
              <a:buNone/>
            </a:pPr>
            <a:r>
              <a:rPr lang="en-US" sz="1050" dirty="0">
                <a:solidFill>
                  <a:srgbClr val="FFFFFF"/>
                </a:solidFill>
                <a:latin typeface="프리젠테이션 7 Bold" pitchFamily="34" charset="0"/>
                <a:ea typeface="프리젠테이션 7 Bold" pitchFamily="34" charset="-122"/>
                <a:cs typeface="프리젠테이션 7 Bold" pitchFamily="34" charset="-120"/>
              </a:rPr>
              <a:t>4</a:t>
            </a:r>
            <a:endParaRPr lang="en-US" sz="1050" dirty="0"/>
          </a:p>
        </p:txBody>
      </p:sp>
      <p:sp>
        <p:nvSpPr>
          <p:cNvPr id="35" name="pipe t 3"/>
          <p:cNvSpPr txBox="1"/>
          <p:nvPr/>
        </p:nvSpPr>
        <p:spPr>
          <a:xfrm>
            <a:off x="5993892" y="3648456"/>
            <a:ext cx="932688" cy="274320"/>
          </a:xfrm>
          <a:prstGeom prst="rect">
            <a:avLst/>
          </a:prstGeom>
          <a:noFill/>
          <a:ln/>
        </p:spPr>
        <p:txBody>
          <a:bodyPr wrap="square" lIns="0" tIns="0" rIns="0" bIns="0" rtlCol="0" anchor="ctr"/>
          <a:lstStyle/>
          <a:p>
            <a:pPr indent="0" marL="0">
              <a:buNone/>
            </a:pPr>
            <a:r>
              <a:rPr lang="en-US" sz="1150" dirty="0">
                <a:solidFill>
                  <a:srgbClr val="0A0B0D"/>
                </a:solidFill>
                <a:latin typeface="프리젠테이션 7 Bold" pitchFamily="34" charset="0"/>
                <a:ea typeface="프리젠테이션 7 Bold" pitchFamily="34" charset="-122"/>
                <a:cs typeface="프리젠테이션 7 Bold" pitchFamily="34" charset="-120"/>
              </a:rPr>
              <a:t>pandas chunks</a:t>
            </a:r>
            <a:endParaRPr lang="en-US" sz="1150" dirty="0"/>
          </a:p>
        </p:txBody>
      </p:sp>
      <p:sp>
        <p:nvSpPr>
          <p:cNvPr id="36" name="pipe d 3"/>
          <p:cNvSpPr txBox="1"/>
          <p:nvPr/>
        </p:nvSpPr>
        <p:spPr>
          <a:xfrm>
            <a:off x="5655564" y="3995928"/>
            <a:ext cx="1225296" cy="384048"/>
          </a:xfrm>
          <a:prstGeom prst="rect">
            <a:avLst/>
          </a:prstGeom>
          <a:noFill/>
          <a:ln/>
        </p:spPr>
        <p:txBody>
          <a:bodyPr wrap="square" lIns="0" tIns="0" rIns="0" bIns="0" rtlCol="0" anchor="t"/>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Read 100k rows at a time</a:t>
            </a:r>
            <a:endParaRPr lang="en-US" sz="1000" dirty="0"/>
          </a:p>
        </p:txBody>
      </p:sp>
      <p:sp>
        <p:nvSpPr>
          <p:cNvPr id="37" name="pipe arrow 3"/>
          <p:cNvSpPr/>
          <p:nvPr/>
        </p:nvSpPr>
        <p:spPr>
          <a:xfrm>
            <a:off x="7027164" y="3977640"/>
            <a:ext cx="150876" cy="0"/>
          </a:xfrm>
          <a:prstGeom prst="line">
            <a:avLst/>
          </a:prstGeom>
          <a:noFill/>
          <a:ln w="15875">
            <a:solidFill>
              <a:srgbClr val="8A919E"/>
            </a:solidFill>
            <a:prstDash val="solid"/>
            <a:tailEnd type="triangle"/>
          </a:ln>
        </p:spPr>
      </p:sp>
      <p:sp>
        <p:nvSpPr>
          <p:cNvPr id="38" name="pipe step 4"/>
          <p:cNvSpPr/>
          <p:nvPr/>
        </p:nvSpPr>
        <p:spPr>
          <a:xfrm>
            <a:off x="7205472" y="3520440"/>
            <a:ext cx="1481328" cy="914400"/>
          </a:xfrm>
          <a:prstGeom prst="roundRect">
            <a:avLst>
              <a:gd name="adj" fmla="val 22000"/>
            </a:avLst>
          </a:prstGeom>
          <a:solidFill>
            <a:srgbClr val="EEF0F3"/>
          </a:solidFill>
          <a:ln/>
        </p:spPr>
      </p:sp>
      <p:sp>
        <p:nvSpPr>
          <p:cNvPr id="39" name="pipe num 4"/>
          <p:cNvSpPr txBox="1"/>
          <p:nvPr/>
        </p:nvSpPr>
        <p:spPr>
          <a:xfrm>
            <a:off x="7342632" y="3648456"/>
            <a:ext cx="274320" cy="274320"/>
          </a:xfrm>
          <a:prstGeom prst="ellipse">
            <a:avLst/>
          </a:prstGeom>
          <a:solidFill>
            <a:srgbClr val="0052FF"/>
          </a:solidFill>
          <a:ln/>
        </p:spPr>
        <p:txBody>
          <a:bodyPr wrap="square" lIns="0" tIns="0" rIns="0" bIns="0" rtlCol="0" anchor="ctr"/>
          <a:lstStyle/>
          <a:p>
            <a:pPr algn="ctr" indent="0" marL="0">
              <a:buNone/>
            </a:pPr>
            <a:r>
              <a:rPr lang="en-US" sz="1050" dirty="0">
                <a:solidFill>
                  <a:srgbClr val="FFFFFF"/>
                </a:solidFill>
                <a:latin typeface="프리젠테이션 7 Bold" pitchFamily="34" charset="0"/>
                <a:ea typeface="프리젠테이션 7 Bold" pitchFamily="34" charset="-122"/>
                <a:cs typeface="프리젠테이션 7 Bold" pitchFamily="34" charset="-120"/>
              </a:rPr>
              <a:t>5</a:t>
            </a:r>
            <a:endParaRPr lang="en-US" sz="1050" dirty="0"/>
          </a:p>
        </p:txBody>
      </p:sp>
      <p:sp>
        <p:nvSpPr>
          <p:cNvPr id="40" name="pipe t 4"/>
          <p:cNvSpPr txBox="1"/>
          <p:nvPr/>
        </p:nvSpPr>
        <p:spPr>
          <a:xfrm>
            <a:off x="7680960" y="3648456"/>
            <a:ext cx="932688" cy="274320"/>
          </a:xfrm>
          <a:prstGeom prst="rect">
            <a:avLst/>
          </a:prstGeom>
          <a:noFill/>
          <a:ln/>
        </p:spPr>
        <p:txBody>
          <a:bodyPr wrap="square" lIns="0" tIns="0" rIns="0" bIns="0" rtlCol="0" anchor="ctr"/>
          <a:lstStyle/>
          <a:p>
            <a:pPr indent="0" marL="0">
              <a:buNone/>
            </a:pPr>
            <a:r>
              <a:rPr lang="en-US" sz="1150" dirty="0">
                <a:solidFill>
                  <a:srgbClr val="0A0B0D"/>
                </a:solidFill>
                <a:latin typeface="프리젠테이션 7 Bold" pitchFamily="34" charset="0"/>
                <a:ea typeface="프리젠테이션 7 Bold" pitchFamily="34" charset="-122"/>
                <a:cs typeface="프리젠테이션 7 Bold" pitchFamily="34" charset="-120"/>
              </a:rPr>
              <a:t>CSV + Shape_WKT</a:t>
            </a:r>
            <a:endParaRPr lang="en-US" sz="1150" dirty="0"/>
          </a:p>
        </p:txBody>
      </p:sp>
      <p:sp>
        <p:nvSpPr>
          <p:cNvPr id="41" name="pipe d 4"/>
          <p:cNvSpPr txBox="1"/>
          <p:nvPr/>
        </p:nvSpPr>
        <p:spPr>
          <a:xfrm>
            <a:off x="7342632" y="3995928"/>
            <a:ext cx="1225296" cy="384048"/>
          </a:xfrm>
          <a:prstGeom prst="rect">
            <a:avLst/>
          </a:prstGeom>
          <a:noFill/>
          <a:ln/>
        </p:spPr>
        <p:txBody>
          <a:bodyPr wrap="square" lIns="0" tIns="0" rIns="0" bIns="0" rtlCol="0" anchor="t"/>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Binary geometry → WKT text</a:t>
            </a:r>
            <a:endParaRPr lang="en-US" sz="1000" dirty="0"/>
          </a:p>
        </p:txBody>
      </p:sp>
      <p:sp>
        <p:nvSpPr>
          <p:cNvPr id="42" name="link 0"/>
          <p:cNvSpPr/>
          <p:nvPr/>
        </p:nvSpPr>
        <p:spPr>
          <a:xfrm>
            <a:off x="1197864" y="3172968"/>
            <a:ext cx="0" cy="329184"/>
          </a:xfrm>
          <a:prstGeom prst="line">
            <a:avLst/>
          </a:prstGeom>
          <a:noFill/>
          <a:ln w="19050">
            <a:solidFill>
              <a:srgbClr val="0052FF"/>
            </a:solidFill>
            <a:prstDash val="dash"/>
            <a:tailEnd type="triangle"/>
          </a:ln>
        </p:spPr>
      </p:sp>
      <p:sp>
        <p:nvSpPr>
          <p:cNvPr id="43" name="link 1"/>
          <p:cNvSpPr/>
          <p:nvPr/>
        </p:nvSpPr>
        <p:spPr>
          <a:xfrm>
            <a:off x="4572000" y="3172968"/>
            <a:ext cx="0" cy="329184"/>
          </a:xfrm>
          <a:prstGeom prst="line">
            <a:avLst/>
          </a:prstGeom>
          <a:noFill/>
          <a:ln w="19050">
            <a:solidFill>
              <a:srgbClr val="0052FF"/>
            </a:solidFill>
            <a:prstDash val="dash"/>
            <a:tailEnd type="triangle"/>
          </a:ln>
        </p:spPr>
      </p:sp>
      <p:sp>
        <p:nvSpPr>
          <p:cNvPr id="44" name="link 2"/>
          <p:cNvSpPr/>
          <p:nvPr/>
        </p:nvSpPr>
        <p:spPr>
          <a:xfrm>
            <a:off x="7946136" y="3172968"/>
            <a:ext cx="0" cy="329184"/>
          </a:xfrm>
          <a:prstGeom prst="line">
            <a:avLst/>
          </a:prstGeom>
          <a:noFill/>
          <a:ln w="19050">
            <a:solidFill>
              <a:srgbClr val="0052FF"/>
            </a:solidFill>
            <a:prstDash val="dash"/>
            <a:tailEnd type="triangle"/>
          </a:ln>
        </p:spPr>
      </p:sp>
      <p:sp>
        <p:nvSpPr>
          <p:cNvPr id="45" name="link legend"/>
          <p:cNvSpPr txBox="1"/>
          <p:nvPr/>
        </p:nvSpPr>
        <p:spPr>
          <a:xfrm>
            <a:off x="457200" y="4507992"/>
            <a:ext cx="5486400" cy="201168"/>
          </a:xfrm>
          <a:prstGeom prst="rect">
            <a:avLst/>
          </a:prstGeom>
          <a:noFill/>
          <a:ln/>
        </p:spPr>
        <p:txBody>
          <a:bodyPr wrap="square" lIns="0" tIns="0" rIns="0" bIns="0" rtlCol="0" anchor="ctr"/>
          <a:lstStyle/>
          <a:p>
            <a:pPr indent="0" marL="0">
              <a:buNone/>
            </a:pPr>
            <a:r>
              <a:rPr lang="en-US" sz="950" dirty="0">
                <a:solidFill>
                  <a:srgbClr val="8A919E"/>
                </a:solidFill>
                <a:latin typeface="프리젠테이션 4 Regular" pitchFamily="34" charset="0"/>
                <a:ea typeface="프리젠테이션 4 Regular" pitchFamily="34" charset="-122"/>
                <a:cs typeface="프리젠테이션 4 Regular" pitchFamily="34" charset="-120"/>
              </a:rPr>
              <a:t>Blue dashed arrows: which part of the file each step relies on</a:t>
            </a:r>
            <a:endParaRPr lang="en-US" sz="9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05 — AIS DATA OVERVIEW</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Structure of raw data — one row, one line</a:t>
            </a:r>
            <a:endParaRPr lang="en-US" sz="3600" dirty="0"/>
          </a:p>
        </p:txBody>
      </p:sp>
      <p:graphicFrame>
        <p:nvGraphicFramePr>
          <p:cNvPr id="10" name="field table"/>
          <p:cNvGraphicFramePr>
            <a:graphicFrameLocks noGrp="1"/>
          </p:cNvGraphicFramePr>
          <p:nvPr>
            <p:extLst>
              <p:ext uri="{D42A27DB-BD31-4B8C-83A1-F6EECF244321}">
                <p14:modId xmlns:p14="http://schemas.microsoft.com/office/powerpoint/2010/main" val="1579011935"/>
              </p:ext>
            </p:extLst>
          </p:nvPr>
        </p:nvGraphicFramePr>
        <p:xfrm>
          <a:off x="457200" y="1371600"/>
          <a:ext cx="5303520" cy="914400"/>
        </p:xfrm>
        <a:graphic>
          <a:graphicData uri="http://schemas.openxmlformats.org/drawingml/2006/table">
            <a:tbl>
              <a:tblPr/>
              <a:tblGrid>
                <a:gridCol w="1261872"/>
                <a:gridCol w="978408"/>
                <a:gridCol w="1143000"/>
                <a:gridCol w="1188720"/>
                <a:gridCol w="731520"/>
              </a:tblGrid>
              <a:tr h="265176">
                <a:tc>
                  <a:txBody>
                    <a:bodyPr/>
                    <a:lstStyle/>
                    <a:p>
                      <a:pPr indent="0" marL="0">
                        <a:buNone/>
                      </a:pPr>
                      <a:r>
                        <a:rPr lang="en-US" sz="1000" dirty="0">
                          <a:solidFill>
                            <a:srgbClr val="5B616E"/>
                          </a:solidFill>
                          <a:latin typeface="프리젠테이션 7 Bold" pitchFamily="34" charset="0"/>
                          <a:ea typeface="프리젠테이션 7 Bold" pitchFamily="34" charset="-122"/>
                          <a:cs typeface="프리젠테이션 7 Bold" pitchFamily="34" charset="-120"/>
                        </a:rPr>
                        <a:t>Field</a:t>
                      </a:r>
                      <a:endParaRPr lang="en-US" sz="100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0A0B0D"/>
                      </a:solidFill>
                      <a:prstDash val="solid"/>
                      <a:round/>
                      <a:headEnd type="none" w="med" len="med"/>
                      <a:tailEnd type="none" w="med" len="med"/>
                    </a:lnB>
                    <a:solidFill>
                      <a:srgbClr val="FFFFFF"/>
                    </a:solidFill>
                  </a:tcPr>
                </a:tc>
                <a:tc>
                  <a:txBody>
                    <a:bodyPr/>
                    <a:lstStyle/>
                    <a:p>
                      <a:pPr indent="0" marL="0">
                        <a:buNone/>
                      </a:pPr>
                      <a:r>
                        <a:rPr lang="en-US" sz="1000" dirty="0">
                          <a:solidFill>
                            <a:srgbClr val="5B616E"/>
                          </a:solidFill>
                          <a:latin typeface="프리젠테이션 7 Bold" pitchFamily="34" charset="0"/>
                          <a:ea typeface="프리젠테이션 7 Bold" pitchFamily="34" charset="-122"/>
                          <a:cs typeface="프리젠테이션 7 Bold" pitchFamily="34" charset="-120"/>
                        </a:rPr>
                        <a:t>Type</a:t>
                      </a:r>
                      <a:endParaRPr lang="en-US" sz="100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0A0B0D"/>
                      </a:solidFill>
                      <a:prstDash val="solid"/>
                      <a:round/>
                      <a:headEnd type="none" w="med" len="med"/>
                      <a:tailEnd type="none" w="med" len="med"/>
                    </a:lnB>
                    <a:solidFill>
                      <a:srgbClr val="FFFFFF"/>
                    </a:solidFill>
                  </a:tcPr>
                </a:tc>
                <a:tc>
                  <a:txBody>
                    <a:bodyPr/>
                    <a:lstStyle/>
                    <a:p>
                      <a:pPr indent="0" marL="0">
                        <a:buNone/>
                      </a:pPr>
                      <a:r>
                        <a:rPr lang="en-US" sz="1000" dirty="0">
                          <a:solidFill>
                            <a:srgbClr val="0052FF"/>
                          </a:solidFill>
                          <a:latin typeface="프리젠테이션 7 Bold" pitchFamily="34" charset="0"/>
                          <a:ea typeface="프리젠테이션 7 Bold" pitchFamily="34" charset="-122"/>
                          <a:cs typeface="프리젠테이션 7 Bold" pitchFamily="34" charset="-120"/>
                        </a:rPr>
                        <a:t>Example row</a:t>
                      </a:r>
                      <a:endParaRPr lang="en-US" sz="100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0A0B0D"/>
                      </a:solidFill>
                      <a:prstDash val="solid"/>
                      <a:round/>
                      <a:headEnd type="none" w="med" len="med"/>
                      <a:tailEnd type="none" w="med" len="med"/>
                    </a:lnB>
                    <a:solidFill>
                      <a:srgbClr val="FFFFFF"/>
                    </a:solidFill>
                  </a:tcPr>
                </a:tc>
                <a:tc>
                  <a:txBody>
                    <a:bodyPr/>
                    <a:lstStyle/>
                    <a:p>
                      <a:pPr indent="0" marL="0">
                        <a:buNone/>
                      </a:pPr>
                      <a:r>
                        <a:rPr lang="en-US" sz="1000" dirty="0">
                          <a:solidFill>
                            <a:srgbClr val="5B616E"/>
                          </a:solidFill>
                          <a:latin typeface="프리젠테이션 7 Bold" pitchFamily="34" charset="0"/>
                          <a:ea typeface="프리젠테이션 7 Bold" pitchFamily="34" charset="-122"/>
                          <a:cs typeface="프리젠테이션 7 Bold" pitchFamily="34" charset="-120"/>
                        </a:rPr>
                        <a:t>Meaning</a:t>
                      </a:r>
                      <a:endParaRPr lang="en-US" sz="100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0A0B0D"/>
                      </a:solidFill>
                      <a:prstDash val="solid"/>
                      <a:round/>
                      <a:headEnd type="none" w="med" len="med"/>
                      <a:tailEnd type="none" w="med" len="med"/>
                    </a:lnB>
                    <a:solidFill>
                      <a:srgbClr val="FFFFFF"/>
                    </a:solidFill>
                  </a:tcPr>
                </a:tc>
                <a:tc>
                  <a:txBody>
                    <a:bodyPr/>
                    <a:lstStyle/>
                    <a:p>
                      <a:pPr indent="0" marL="0">
                        <a:buNone/>
                      </a:pPr>
                      <a:r>
                        <a:rPr lang="en-US" sz="1000" dirty="0">
                          <a:solidFill>
                            <a:srgbClr val="5B616E"/>
                          </a:solidFill>
                          <a:latin typeface="프리젠테이션 7 Bold" pitchFamily="34" charset="0"/>
                          <a:ea typeface="프리젠테이션 7 Bold" pitchFamily="34" charset="-122"/>
                          <a:cs typeface="프리젠테이션 7 Bold" pitchFamily="34" charset="-120"/>
                        </a:rPr>
                        <a:t>Use</a:t>
                      </a:r>
                      <a:endParaRPr lang="en-US" sz="100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12700" cap="flat" cmpd="sng" algn="ctr">
                      <a:solidFill>
                        <a:srgbClr val="0A0B0D"/>
                      </a:solidFill>
                      <a:prstDash val="solid"/>
                      <a:round/>
                      <a:headEnd type="none" w="med" len="med"/>
                      <a:tailEnd type="none" w="med" len="med"/>
                    </a:lnB>
                    <a:solidFill>
                      <a:srgbClr val="FFFFFF"/>
                    </a:solidFill>
                  </a:tcPr>
                </a:tc>
              </a:tr>
              <a:tr h="265176">
                <a:tc>
                  <a:txBody>
                    <a:bodyPr/>
                    <a:lstStyle/>
                    <a:p>
                      <a:pPr indent="0" marL="0">
                        <a:buNone/>
                      </a:pPr>
                      <a:r>
                        <a:rPr lang="en-US" sz="950" dirty="0">
                          <a:solidFill>
                            <a:srgbClr val="0A0B0D"/>
                          </a:solidFill>
                          <a:latin typeface="프리젠테이션 7 Bold" pitchFamily="34" charset="0"/>
                          <a:ea typeface="프리젠테이션 7 Bold" pitchFamily="34" charset="-122"/>
                          <a:cs typeface="프리젠테이션 7 Bold" pitchFamily="34" charset="-120"/>
                        </a:rPr>
                        <a:t>Shape</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MultiLineString</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A0B0D"/>
                          </a:solidFill>
                          <a:latin typeface="프리젠테이션 5 Medium" pitchFamily="34" charset="0"/>
                          <a:ea typeface="프리젠테이션 5 Medium" pitchFamily="34" charset="-122"/>
                          <a:cs typeface="프리젠테이션 5 Medium" pitchFamily="34" charset="-120"/>
                        </a:rPr>
                        <a:t>1 line · 470 points</a:t>
                      </a:r>
                      <a:endParaRPr lang="en-US" sz="950" dirty="0">
                        <a:latin typeface="프리젠테이션 5 Medium" charset="0"/>
                        <a:ea typeface="프리젠테이션 5 Medium" charset="0"/>
                        <a:cs typeface="프리젠테이션 5 Medium"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solidFill>
                      <a:srgbClr val="F2F5FF"/>
                    </a:solidFill>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Track linework</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052FF"/>
                          </a:solidFill>
                          <a:latin typeface="프리젠테이션 7 Bold" pitchFamily="34" charset="0"/>
                          <a:ea typeface="프리젠테이션 7 Bold" pitchFamily="34" charset="-122"/>
                          <a:cs typeface="프리젠테이션 7 Bold" pitchFamily="34" charset="-120"/>
                        </a:rPr>
                        <a:t>CORE</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65176">
                <a:tc>
                  <a:txBody>
                    <a:bodyPr/>
                    <a:lstStyle/>
                    <a:p>
                      <a:pPr indent="0" marL="0">
                        <a:buNone/>
                      </a:pPr>
                      <a:r>
                        <a:rPr lang="en-US" sz="950" dirty="0">
                          <a:solidFill>
                            <a:srgbClr val="0A0B0D"/>
                          </a:solidFill>
                          <a:latin typeface="프리젠테이션 7 Bold" pitchFamily="34" charset="0"/>
                          <a:ea typeface="프리젠테이션 7 Bold" pitchFamily="34" charset="-122"/>
                          <a:cs typeface="프리젠테이션 7 Bold" pitchFamily="34" charset="-120"/>
                        </a:rPr>
                        <a:t>MMSI</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Medium int</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A0B0D"/>
                          </a:solidFill>
                          <a:latin typeface="프리젠테이션 5 Medium" pitchFamily="34" charset="0"/>
                          <a:ea typeface="프리젠테이션 5 Medium" pitchFamily="34" charset="-122"/>
                          <a:cs typeface="프리젠테이션 5 Medium" pitchFamily="34" charset="-120"/>
                        </a:rPr>
                        <a:t>563156300</a:t>
                      </a:r>
                      <a:endParaRPr lang="en-US" sz="950" dirty="0">
                        <a:latin typeface="프리젠테이션 5 Medium" charset="0"/>
                        <a:ea typeface="프리젠테이션 5 Medium" charset="0"/>
                        <a:cs typeface="프리젠테이션 5 Medium"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solidFill>
                      <a:srgbClr val="F2F5FF"/>
                    </a:solidFill>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Vessel ID, repeats</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052FF"/>
                          </a:solidFill>
                          <a:latin typeface="프리젠테이션 7 Bold" pitchFamily="34" charset="0"/>
                          <a:ea typeface="프리젠테이션 7 Bold" pitchFamily="34" charset="-122"/>
                          <a:cs typeface="프리젠테이션 7 Bold" pitchFamily="34" charset="-120"/>
                        </a:rPr>
                        <a:t>CORE</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65176">
                <a:tc>
                  <a:txBody>
                    <a:bodyPr/>
                    <a:lstStyle/>
                    <a:p>
                      <a:pPr indent="0" marL="0">
                        <a:buNone/>
                      </a:pPr>
                      <a:r>
                        <a:rPr lang="en-US" sz="950" dirty="0">
                          <a:solidFill>
                            <a:srgbClr val="0A0B0D"/>
                          </a:solidFill>
                          <a:latin typeface="프리젠테이션 7 Bold" pitchFamily="34" charset="0"/>
                          <a:ea typeface="프리젠테이션 7 Bold" pitchFamily="34" charset="-122"/>
                          <a:cs typeface="프리젠테이션 7 Bold" pitchFamily="34" charset="-120"/>
                        </a:rPr>
                        <a:t>TrackStartTime</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Date/time</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A0B0D"/>
                          </a:solidFill>
                          <a:latin typeface="프리젠테이션 5 Medium" pitchFamily="34" charset="0"/>
                          <a:ea typeface="프리젠테이션 5 Medium" pitchFamily="34" charset="-122"/>
                          <a:cs typeface="프리젠테이션 5 Medium" pitchFamily="34" charset="-120"/>
                        </a:rPr>
                        <a:t>2024-01-01 00:02</a:t>
                      </a:r>
                      <a:endParaRPr lang="en-US" sz="950" dirty="0">
                        <a:latin typeface="프리젠테이션 5 Medium" charset="0"/>
                        <a:ea typeface="프리젠테이션 5 Medium" charset="0"/>
                        <a:cs typeface="프리젠테이션 5 Medium"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solidFill>
                      <a:srgbClr val="F2F5FF"/>
                    </a:solidFill>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Interval start</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052FF"/>
                          </a:solidFill>
                          <a:latin typeface="프리젠테이션 7 Bold" pitchFamily="34" charset="0"/>
                          <a:ea typeface="프리젠테이션 7 Bold" pitchFamily="34" charset="-122"/>
                          <a:cs typeface="프리젠테이션 7 Bold" pitchFamily="34" charset="-120"/>
                        </a:rPr>
                        <a:t>CORE</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65176">
                <a:tc>
                  <a:txBody>
                    <a:bodyPr/>
                    <a:lstStyle/>
                    <a:p>
                      <a:pPr indent="0" marL="0">
                        <a:buNone/>
                      </a:pPr>
                      <a:r>
                        <a:rPr lang="en-US" sz="950" dirty="0">
                          <a:solidFill>
                            <a:srgbClr val="0A0B0D"/>
                          </a:solidFill>
                          <a:latin typeface="프리젠테이션 7 Bold" pitchFamily="34" charset="0"/>
                          <a:ea typeface="프리젠테이션 7 Bold" pitchFamily="34" charset="-122"/>
                          <a:cs typeface="프리젠테이션 7 Bold" pitchFamily="34" charset="-120"/>
                        </a:rPr>
                        <a:t>TrackEndTime</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Date/time</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A0B0D"/>
                          </a:solidFill>
                          <a:latin typeface="프리젠테이션 5 Medium" pitchFamily="34" charset="0"/>
                          <a:ea typeface="프리젠테이션 5 Medium" pitchFamily="34" charset="-122"/>
                          <a:cs typeface="프리젠테이션 5 Medium" pitchFamily="34" charset="-120"/>
                        </a:rPr>
                        <a:t>2024-01-06 19:59</a:t>
                      </a:r>
                      <a:endParaRPr lang="en-US" sz="950" dirty="0">
                        <a:latin typeface="프리젠테이션 5 Medium" charset="0"/>
                        <a:ea typeface="프리젠테이션 5 Medium" charset="0"/>
                        <a:cs typeface="프리젠테이션 5 Medium"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solidFill>
                      <a:srgbClr val="F2F5FF"/>
                    </a:solidFill>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Interval end</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052FF"/>
                          </a:solidFill>
                          <a:latin typeface="프리젠테이션 7 Bold" pitchFamily="34" charset="0"/>
                          <a:ea typeface="프리젠테이션 7 Bold" pitchFamily="34" charset="-122"/>
                          <a:cs typeface="프리젠테이션 7 Bold" pitchFamily="34" charset="-120"/>
                        </a:rPr>
                        <a:t>CORE</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65176">
                <a:tc>
                  <a:txBody>
                    <a:bodyPr/>
                    <a:lstStyle/>
                    <a:p>
                      <a:pPr indent="0" marL="0">
                        <a:buNone/>
                      </a:pPr>
                      <a:r>
                        <a:rPr lang="en-US" sz="950" dirty="0">
                          <a:solidFill>
                            <a:srgbClr val="0A0B0D"/>
                          </a:solidFill>
                          <a:latin typeface="프리젠테이션 7 Bold" pitchFamily="34" charset="0"/>
                          <a:ea typeface="프리젠테이션 7 Bold" pitchFamily="34" charset="-122"/>
                          <a:cs typeface="프리젠테이션 7 Bold" pitchFamily="34" charset="-120"/>
                        </a:rPr>
                        <a:t>VesselGroup</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Text (25)</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A0B0D"/>
                          </a:solidFill>
                          <a:latin typeface="프리젠테이션 5 Medium" pitchFamily="34" charset="0"/>
                          <a:ea typeface="프리젠테이션 5 Medium" pitchFamily="34" charset="-122"/>
                          <a:cs typeface="프리젠테이션 5 Medium" pitchFamily="34" charset="-120"/>
                        </a:rPr>
                        <a:t>Cargo</a:t>
                      </a:r>
                      <a:endParaRPr lang="en-US" sz="950" dirty="0">
                        <a:latin typeface="프리젠테이션 5 Medium" charset="0"/>
                        <a:ea typeface="프리젠테이션 5 Medium" charset="0"/>
                        <a:cs typeface="프리젠테이션 5 Medium"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solidFill>
                      <a:srgbClr val="F2F5FF"/>
                    </a:solidFill>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Broad category</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052FF"/>
                          </a:solidFill>
                          <a:latin typeface="프리젠테이션 7 Bold" pitchFamily="34" charset="0"/>
                          <a:ea typeface="프리젠테이션 7 Bold" pitchFamily="34" charset="-122"/>
                          <a:cs typeface="프리젠테이션 7 Bold" pitchFamily="34" charset="-120"/>
                        </a:rPr>
                        <a:t>CORE</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65176">
                <a:tc>
                  <a:txBody>
                    <a:bodyPr/>
                    <a:lstStyle/>
                    <a:p>
                      <a:pPr indent="0" marL="0">
                        <a:buNone/>
                      </a:pPr>
                      <a:r>
                        <a:rPr lang="en-US" sz="950" dirty="0">
                          <a:solidFill>
                            <a:srgbClr val="0A0B0D"/>
                          </a:solidFill>
                          <a:latin typeface="프리젠테이션 7 Bold" pitchFamily="34" charset="0"/>
                          <a:ea typeface="프리젠테이션 7 Bold" pitchFamily="34" charset="-122"/>
                          <a:cs typeface="프리젠테이션 7 Bold" pitchFamily="34" charset="-120"/>
                        </a:rPr>
                        <a:t>VesselType</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Medium int</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A0B0D"/>
                          </a:solidFill>
                          <a:latin typeface="프리젠테이션 5 Medium" pitchFamily="34" charset="0"/>
                          <a:ea typeface="프리젠테이션 5 Medium" pitchFamily="34" charset="-122"/>
                          <a:cs typeface="프리젠테이션 5 Medium" pitchFamily="34" charset="-120"/>
                        </a:rPr>
                        <a:t>70</a:t>
                      </a:r>
                      <a:endParaRPr lang="en-US" sz="950" dirty="0">
                        <a:latin typeface="프리젠테이션 5 Medium" charset="0"/>
                        <a:ea typeface="프리젠테이션 5 Medium" charset="0"/>
                        <a:cs typeface="프리젠테이션 5 Medium"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solidFill>
                      <a:srgbClr val="F2F5FF"/>
                    </a:solidFill>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Code (codebook)</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7 Bold" pitchFamily="34" charset="0"/>
                          <a:ea typeface="프리젠테이션 7 Bold" pitchFamily="34" charset="-122"/>
                          <a:cs typeface="프리젠테이션 7 Bold" pitchFamily="34" charset="-120"/>
                        </a:rPr>
                        <a:t>SUPPORT</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65176">
                <a:tc>
                  <a:txBody>
                    <a:bodyPr/>
                    <a:lstStyle/>
                    <a:p>
                      <a:pPr indent="0" marL="0">
                        <a:buNone/>
                      </a:pPr>
                      <a:r>
                        <a:rPr lang="en-US" sz="950" dirty="0">
                          <a:solidFill>
                            <a:srgbClr val="0A0B0D"/>
                          </a:solidFill>
                          <a:latin typeface="프리젠테이션 7 Bold" pitchFamily="34" charset="0"/>
                          <a:ea typeface="프리젠테이션 7 Bold" pitchFamily="34" charset="-122"/>
                          <a:cs typeface="프리젠테이션 7 Bold" pitchFamily="34" charset="-120"/>
                        </a:rPr>
                        <a:t>Length · Width · Draft</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Double</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A0B0D"/>
                          </a:solidFill>
                          <a:latin typeface="프리젠테이션 5 Medium" pitchFamily="34" charset="0"/>
                          <a:ea typeface="프리젠테이션 5 Medium" pitchFamily="34" charset="-122"/>
                          <a:cs typeface="프리젠테이션 5 Medium" pitchFamily="34" charset="-120"/>
                        </a:rPr>
                        <a:t>229 · 38 · 14.8</a:t>
                      </a:r>
                      <a:endParaRPr lang="en-US" sz="950" dirty="0">
                        <a:latin typeface="프리젠테이션 5 Medium" charset="0"/>
                        <a:ea typeface="프리젠테이션 5 Medium" charset="0"/>
                        <a:cs typeface="프리젠테이션 5 Medium"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solidFill>
                      <a:srgbClr val="F2F5FF"/>
                    </a:solidFill>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Dimensions</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7 Bold" pitchFamily="34" charset="0"/>
                          <a:ea typeface="프리젠테이션 7 Bold" pitchFamily="34" charset="-122"/>
                          <a:cs typeface="프리젠테이션 7 Bold" pitchFamily="34" charset="-120"/>
                        </a:rPr>
                        <a:t>SUPPORT</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65176">
                <a:tc>
                  <a:txBody>
                    <a:bodyPr/>
                    <a:lstStyle/>
                    <a:p>
                      <a:pPr indent="0" marL="0">
                        <a:buNone/>
                      </a:pPr>
                      <a:r>
                        <a:rPr lang="en-US" sz="950" dirty="0">
                          <a:solidFill>
                            <a:srgbClr val="0A0B0D"/>
                          </a:solidFill>
                          <a:latin typeface="프리젠테이션 7 Bold" pitchFamily="34" charset="0"/>
                          <a:ea typeface="프리젠테이션 7 Bold" pitchFamily="34" charset="-122"/>
                          <a:cs typeface="프리젠테이션 7 Bold" pitchFamily="34" charset="-120"/>
                        </a:rPr>
                        <a:t>DurationMinutes</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Medium int</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A0B0D"/>
                          </a:solidFill>
                          <a:latin typeface="프리젠테이션 5 Medium" pitchFamily="34" charset="0"/>
                          <a:ea typeface="프리젠테이션 5 Medium" pitchFamily="34" charset="-122"/>
                          <a:cs typeface="프리젠테이션 5 Medium" pitchFamily="34" charset="-120"/>
                        </a:rPr>
                        <a:t>8,397</a:t>
                      </a:r>
                      <a:endParaRPr lang="en-US" sz="950" dirty="0">
                        <a:latin typeface="프리젠테이션 5 Medium" charset="0"/>
                        <a:ea typeface="프리젠테이션 5 Medium" charset="0"/>
                        <a:cs typeface="프리젠테이션 5 Medium"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solidFill>
                      <a:srgbClr val="F2F5FF"/>
                    </a:solidFill>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Track duration</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7 Bold" pitchFamily="34" charset="0"/>
                          <a:ea typeface="프리젠테이션 7 Bold" pitchFamily="34" charset="-122"/>
                          <a:cs typeface="프리젠테이션 7 Bold" pitchFamily="34" charset="-120"/>
                        </a:rPr>
                        <a:t>SUPPORT</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r h="265176">
                <a:tc>
                  <a:txBody>
                    <a:bodyPr/>
                    <a:lstStyle/>
                    <a:p>
                      <a:pPr indent="0" marL="0">
                        <a:buNone/>
                      </a:pPr>
                      <a:r>
                        <a:rPr lang="en-US" sz="950" dirty="0">
                          <a:solidFill>
                            <a:srgbClr val="0A0B0D"/>
                          </a:solidFill>
                          <a:latin typeface="프리젠테이션 7 Bold" pitchFamily="34" charset="0"/>
                          <a:ea typeface="프리젠테이션 7 Bold" pitchFamily="34" charset="-122"/>
                          <a:cs typeface="프리젠테이션 7 Bold" pitchFamily="34" charset="-120"/>
                        </a:rPr>
                        <a:t>OBJECTID</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Integer</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0A0B0D"/>
                          </a:solidFill>
                          <a:latin typeface="프리젠테이션 5 Medium" pitchFamily="34" charset="0"/>
                          <a:ea typeface="프리젠테이션 5 Medium" pitchFamily="34" charset="-122"/>
                          <a:cs typeface="프리젠테이션 5 Medium" pitchFamily="34" charset="-120"/>
                        </a:rPr>
                        <a:t>50958</a:t>
                      </a:r>
                      <a:endParaRPr lang="en-US" sz="950" dirty="0">
                        <a:latin typeface="프리젠테이션 5 Medium" charset="0"/>
                        <a:ea typeface="프리젠테이션 5 Medium" charset="0"/>
                        <a:cs typeface="프리젠테이션 5 Medium"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solidFill>
                      <a:srgbClr val="F2F5FF"/>
                    </a:solidFill>
                  </a:tcPr>
                </a:tc>
                <a:tc>
                  <a:txBody>
                    <a:bodyPr/>
                    <a:lstStyle/>
                    <a:p>
                      <a:pPr indent="0" marL="0">
                        <a:buNone/>
                      </a:pPr>
                      <a:r>
                        <a:rPr lang="en-US" sz="950" dirty="0">
                          <a:solidFill>
                            <a:srgbClr val="5B616E"/>
                          </a:solidFill>
                          <a:latin typeface="프리젠테이션 4 Regular" pitchFamily="34" charset="0"/>
                          <a:ea typeface="프리젠테이션 4 Regular" pitchFamily="34" charset="-122"/>
                          <a:cs typeface="프리젠테이션 4 Regular" pitchFamily="34" charset="-120"/>
                        </a:rPr>
                        <a:t>Row ID (index)</a:t>
                      </a:r>
                      <a:endParaRPr lang="en-US" sz="950" dirty="0">
                        <a:latin typeface="프리젠테이션 4 Regular" charset="0"/>
                        <a:ea typeface="프리젠테이션 4 Regular" charset="0"/>
                        <a:cs typeface="프리젠테이션 4 Regular"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c>
                  <a:txBody>
                    <a:bodyPr/>
                    <a:lstStyle/>
                    <a:p>
                      <a:pPr indent="0" marL="0">
                        <a:buNone/>
                      </a:pPr>
                      <a:r>
                        <a:rPr lang="en-US" sz="950" dirty="0">
                          <a:solidFill>
                            <a:srgbClr val="CF202F"/>
                          </a:solidFill>
                          <a:latin typeface="프리젠테이션 7 Bold" pitchFamily="34" charset="0"/>
                          <a:ea typeface="프리젠테이션 7 Bold" pitchFamily="34" charset="-122"/>
                          <a:cs typeface="프리젠테이션 7 Bold" pitchFamily="34" charset="-120"/>
                        </a:rPr>
                        <a:t>DROP</a:t>
                      </a:r>
                      <a:endParaRPr lang="en-US" sz="950" dirty="0">
                        <a:latin typeface="프리젠테이션 7 Bold" charset="0"/>
                        <a:ea typeface="프리젠테이션 7 Bold" charset="0"/>
                        <a:cs typeface="프리젠테이션 7 Bold" charset="0"/>
                      </a:endParaRPr>
                    </a:p>
                  </a:txBody>
                  <a:tcPr marL="45720" marR="45720" marT="45720" marB="45720" anchor="ctr">
                    <a:lnL w="0" cap="flat" cmpd="sng" algn="ctr">
                      <a:noFill/>
                    </a:lnL>
                    <a:lnR w="0" cap="flat" cmpd="sng" algn="ctr">
                      <a:noFill/>
                    </a:lnR>
                    <a:lnT w="0" cap="flat" cmpd="sng" algn="ctr">
                      <a:noFill/>
                    </a:lnT>
                    <a:lnB w="9525" cap="flat" cmpd="sng" algn="ctr">
                      <a:solidFill>
                        <a:srgbClr val="DEE1E6"/>
                      </a:solidFill>
                      <a:prstDash val="solid"/>
                      <a:round/>
                      <a:headEnd type="none" w="med" len="med"/>
                      <a:tailEnd type="none" w="med" len="med"/>
                    </a:lnB>
                  </a:tcPr>
                </a:tc>
              </a:tr>
            </a:tbl>
          </a:graphicData>
        </a:graphic>
      </p:graphicFrame>
      <p:sp>
        <p:nvSpPr>
          <p:cNvPr id="5" name="table note"/>
          <p:cNvSpPr txBox="1"/>
          <p:nvPr/>
        </p:nvSpPr>
        <p:spPr>
          <a:xfrm>
            <a:off x="457200" y="4160520"/>
            <a:ext cx="5303520" cy="201168"/>
          </a:xfrm>
          <a:prstGeom prst="rect">
            <a:avLst/>
          </a:prstGeom>
          <a:noFill/>
          <a:ln/>
        </p:spPr>
        <p:txBody>
          <a:bodyPr wrap="square" lIns="0" tIns="0" rIns="0" bIns="0" rtlCol="0" anchor="ctr"/>
          <a:lstStyle/>
          <a:p>
            <a:pPr indent="0" marL="0">
              <a:buNone/>
            </a:pPr>
            <a:r>
              <a:rPr lang="en-US" sz="950" dirty="0">
                <a:solidFill>
                  <a:srgbClr val="8A919E"/>
                </a:solidFill>
                <a:latin typeface="프리젠테이션 4 Regular" pitchFamily="34" charset="0"/>
                <a:ea typeface="프리젠테이션 4 Regular" pitchFamily="34" charset="-122"/>
                <a:cs typeface="프리젠테이션 4 Regular" pitchFamily="34" charset="-120"/>
              </a:rPr>
              <a:t>Example row = OBJECTID 50958 from example_trace.csv · 11 fields in total</a:t>
            </a:r>
            <a:endParaRPr lang="en-US" sz="950" dirty="0"/>
          </a:p>
        </p:txBody>
      </p:sp>
      <p:pic>
        <p:nvPicPr>
          <p:cNvPr id="6" name="example track map" descr="Example cargo AIS track near Norfolk, OBJECTID 50958">    </p:cNvPr>
          <p:cNvPicPr>
            <a:picLocks noChangeAspect="1"/>
          </p:cNvPicPr>
          <p:nvPr/>
        </p:nvPicPr>
        <p:blipFill>
          <a:blip r:embed="rId1"/>
          <a:stretch>
            <a:fillRect/>
          </a:stretch>
        </p:blipFill>
        <p:spPr>
          <a:xfrm>
            <a:off x="5943600" y="1325880"/>
            <a:ext cx="2743200" cy="2426677"/>
          </a:xfrm>
          <a:prstGeom prst="rect">
            <a:avLst/>
          </a:prstGeom>
        </p:spPr>
      </p:pic>
      <p:sp>
        <p:nvSpPr>
          <p:cNvPr id="7" name="row caption card"/>
          <p:cNvSpPr/>
          <p:nvPr/>
        </p:nvSpPr>
        <p:spPr>
          <a:xfrm>
            <a:off x="5943600" y="3825709"/>
            <a:ext cx="2743200" cy="685800"/>
          </a:xfrm>
          <a:prstGeom prst="roundRect">
            <a:avLst>
              <a:gd name="adj" fmla="val 29333"/>
            </a:avLst>
          </a:prstGeom>
          <a:solidFill>
            <a:srgbClr val="0A0B0D"/>
          </a:solidFill>
          <a:ln/>
        </p:spPr>
      </p:sp>
      <p:sp>
        <p:nvSpPr>
          <p:cNvPr id="8" name="row caption"/>
          <p:cNvSpPr txBox="1"/>
          <p:nvPr/>
        </p:nvSpPr>
        <p:spPr>
          <a:xfrm>
            <a:off x="6126480" y="3880573"/>
            <a:ext cx="2423160" cy="576072"/>
          </a:xfrm>
          <a:prstGeom prst="rect">
            <a:avLst/>
          </a:prstGeom>
          <a:noFill/>
          <a:ln/>
        </p:spPr>
        <p:txBody>
          <a:bodyPr wrap="square" lIns="0" tIns="0" rIns="0" bIns="0" rtlCol="0" anchor="ctr"/>
          <a:lstStyle/>
          <a:p>
            <a:pPr indent="0" marL="0">
              <a:buNone/>
            </a:pPr>
            <a:r>
              <a:rPr lang="en-US" sz="1050" dirty="0">
                <a:solidFill>
                  <a:srgbClr val="FFFFFF"/>
                </a:solidFill>
                <a:latin typeface="프리젠테이션 4 Regular" pitchFamily="34" charset="0"/>
                <a:ea typeface="프리젠테이션 4 Regular" pitchFamily="34" charset="-122"/>
                <a:cs typeface="프리젠테이션 4 Regular" pitchFamily="34" charset="-120"/>
              </a:rPr>
              <a:t>MMSI 563156300 · </a:t>
            </a:r>
            <a:pPr indent="0" marL="0">
              <a:buNone/>
            </a:pPr>
            <a:r>
              <a:rPr lang="en-US" sz="1050" dirty="0">
                <a:solidFill>
                  <a:srgbClr val="7FA6FF"/>
                </a:solidFill>
                <a:latin typeface="프리젠테이션 7 Bold" pitchFamily="34" charset="0"/>
                <a:ea typeface="프리젠테이션 7 Bold" pitchFamily="34" charset="-122"/>
                <a:cs typeface="프리젠테이션 7 Bold" pitchFamily="34" charset="-120"/>
              </a:rPr>
              <a:t>Cargo</a:t>
            </a:r>
            <a:endParaRPr lang="en-US" sz="1050" dirty="0"/>
          </a:p>
          <a:p>
            <a:pPr indent="0" marL="0">
              <a:buNone/>
            </a:pPr>
            <a:r>
              <a:rPr lang="en-US" sz="1050" dirty="0">
                <a:solidFill>
                  <a:srgbClr val="B8BEC8"/>
                </a:solidFill>
                <a:latin typeface="프리젠테이션 4 Regular" pitchFamily="34" charset="0"/>
                <a:ea typeface="프리젠테이션 4 Regular" pitchFamily="34" charset="-122"/>
                <a:cs typeface="프리젠테이션 4 Regular" pitchFamily="34" charset="-120"/>
              </a:rPr>
              <a:t>Jan 1 → Jan 6, 2024 (UTC) · 8,397 min</a:t>
            </a:r>
            <a:endParaRPr lang="en-US" sz="10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05 — AIS DATA OVERVIEW</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First-pass extract — Hampton Roads</a:t>
            </a:r>
            <a:endParaRPr lang="en-US" sz="3600" dirty="0"/>
          </a:p>
        </p:txBody>
      </p:sp>
      <p:pic>
        <p:nvPicPr>
          <p:cNvPr id="4" name="bbox map" descr="First-pass bounding rectangle from 77.0W to 75.5W and 36.3N to 37.5N">    </p:cNvPr>
          <p:cNvPicPr>
            <a:picLocks noChangeAspect="1"/>
          </p:cNvPicPr>
          <p:nvPr/>
        </p:nvPicPr>
        <p:blipFill>
          <a:blip r:embed="rId1"/>
          <a:stretch>
            <a:fillRect/>
          </a:stretch>
        </p:blipFill>
        <p:spPr>
          <a:xfrm>
            <a:off x="411480" y="1371600"/>
            <a:ext cx="3429000" cy="3017520"/>
          </a:xfrm>
          <a:prstGeom prst="rect">
            <a:avLst/>
          </a:prstGeom>
        </p:spPr>
      </p:pic>
      <p:sp>
        <p:nvSpPr>
          <p:cNvPr id="5" name="big rows"/>
          <p:cNvSpPr txBox="1"/>
          <p:nvPr/>
        </p:nvSpPr>
        <p:spPr>
          <a:xfrm>
            <a:off x="4206240" y="1325880"/>
            <a:ext cx="2377440" cy="640080"/>
          </a:xfrm>
          <a:prstGeom prst="rect">
            <a:avLst/>
          </a:prstGeom>
          <a:noFill/>
          <a:ln/>
        </p:spPr>
        <p:txBody>
          <a:bodyPr wrap="square" lIns="0" tIns="0" rIns="0" bIns="0" rtlCol="0" anchor="ctr"/>
          <a:lstStyle/>
          <a:p>
            <a:pPr indent="0" marL="0">
              <a:buNone/>
            </a:pPr>
            <a:r>
              <a:rPr lang="en-US" sz="4400" dirty="0">
                <a:solidFill>
                  <a:srgbClr val="0A0B0D"/>
                </a:solidFill>
                <a:latin typeface="프리젠테이션 4 Regular" pitchFamily="34" charset="0"/>
                <a:ea typeface="프리젠테이션 4 Regular" pitchFamily="34" charset="-122"/>
                <a:cs typeface="프리젠테이션 4 Regular" pitchFamily="34" charset="-120"/>
              </a:rPr>
              <a:t>10,943</a:t>
            </a:r>
            <a:endParaRPr lang="en-US" sz="4400" dirty="0"/>
          </a:p>
        </p:txBody>
      </p:sp>
      <p:sp>
        <p:nvSpPr>
          <p:cNvPr id="6" name="big rows label"/>
          <p:cNvSpPr txBox="1"/>
          <p:nvPr/>
        </p:nvSpPr>
        <p:spPr>
          <a:xfrm>
            <a:off x="6172200" y="1417320"/>
            <a:ext cx="1463040" cy="457200"/>
          </a:xfrm>
          <a:prstGeom prst="rect">
            <a:avLst/>
          </a:prstGeom>
          <a:noFill/>
          <a:ln/>
        </p:spPr>
        <p:txBody>
          <a:bodyPr wrap="square" lIns="0" tIns="0" rIns="0" bIns="0" rtlCol="0" anchor="ctr"/>
          <a:lstStyle/>
          <a:p>
            <a:pPr indent="0" marL="0">
              <a:buNone/>
            </a:pPr>
            <a:r>
              <a:rPr lang="en-US" sz="1100" dirty="0">
                <a:solidFill>
                  <a:srgbClr val="0A0B0D"/>
                </a:solidFill>
                <a:latin typeface="프리젠테이션 7 Bold" pitchFamily="34" charset="0"/>
                <a:ea typeface="프리젠테이션 7 Bold" pitchFamily="34" charset="-122"/>
                <a:cs typeface="프리젠테이션 7 Bold" pitchFamily="34" charset="-120"/>
              </a:rPr>
              <a:t>Cargo + Tanker rows</a:t>
            </a:r>
            <a:endParaRPr lang="en-US" sz="1100" dirty="0"/>
          </a:p>
          <a:p>
            <a:pPr indent="0" marL="0">
              <a:buNone/>
            </a:pPr>
            <a:r>
              <a:rPr lang="en-US" sz="1100" dirty="0">
                <a:solidFill>
                  <a:srgbClr val="5B616E"/>
                </a:solidFill>
                <a:latin typeface="프리젠테이션 4 Regular" pitchFamily="34" charset="0"/>
                <a:ea typeface="프리젠테이션 4 Regular" pitchFamily="34" charset="-122"/>
                <a:cs typeface="프리젠테이션 4 Regular" pitchFamily="34" charset="-120"/>
              </a:rPr>
              <a:t>11.8% of 92,927 in area</a:t>
            </a:r>
            <a:endParaRPr lang="en-US" sz="1100" dirty="0"/>
          </a:p>
        </p:txBody>
      </p:sp>
      <p:sp>
        <p:nvSpPr>
          <p:cNvPr id="7" name="csv size"/>
          <p:cNvSpPr txBox="1"/>
          <p:nvPr/>
        </p:nvSpPr>
        <p:spPr>
          <a:xfrm>
            <a:off x="7635240" y="1490472"/>
            <a:ext cx="1051560" cy="310896"/>
          </a:xfrm>
          <a:prstGeom prst="roundRect">
            <a:avLst>
              <a:gd name="adj" fmla="val 50000"/>
            </a:avLst>
          </a:prstGeom>
          <a:solidFill>
            <a:srgbClr val="EEF0F3"/>
          </a:solidFill>
          <a:ln/>
        </p:spPr>
        <p:txBody>
          <a:bodyPr wrap="square" lIns="0" tIns="0" rIns="0" bIns="0" rtlCol="0" anchor="ctr"/>
          <a:lstStyle/>
          <a:p>
            <a:pPr algn="ctr" indent="0" marL="0">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CSV ≈ 373 MB</a:t>
            </a:r>
            <a:endParaRPr lang="en-US" sz="1050" dirty="0"/>
          </a:p>
        </p:txBody>
      </p:sp>
      <p:sp>
        <p:nvSpPr>
          <p:cNvPr id="8" name="bar tanker"/>
          <p:cNvSpPr/>
          <p:nvPr/>
        </p:nvSpPr>
        <p:spPr>
          <a:xfrm>
            <a:off x="4206240" y="2148840"/>
            <a:ext cx="4480560" cy="274320"/>
          </a:xfrm>
          <a:prstGeom prst="roundRect">
            <a:avLst>
              <a:gd name="adj" fmla="val 50000"/>
            </a:avLst>
          </a:prstGeom>
          <a:solidFill>
            <a:srgbClr val="0A0B0D"/>
          </a:solidFill>
          <a:ln/>
        </p:spPr>
      </p:sp>
      <p:sp>
        <p:nvSpPr>
          <p:cNvPr id="9" name="bar cargo"/>
          <p:cNvSpPr/>
          <p:nvPr/>
        </p:nvSpPr>
        <p:spPr>
          <a:xfrm>
            <a:off x="4206240" y="2148840"/>
            <a:ext cx="4221791" cy="274320"/>
          </a:xfrm>
          <a:prstGeom prst="roundRect">
            <a:avLst>
              <a:gd name="adj" fmla="val 50000"/>
            </a:avLst>
          </a:prstGeom>
          <a:solidFill>
            <a:srgbClr val="0052FF"/>
          </a:solidFill>
          <a:ln/>
        </p:spPr>
      </p:sp>
      <p:sp>
        <p:nvSpPr>
          <p:cNvPr id="10" name="bar cargo label"/>
          <p:cNvSpPr txBox="1"/>
          <p:nvPr/>
        </p:nvSpPr>
        <p:spPr>
          <a:xfrm>
            <a:off x="4343400" y="2148840"/>
            <a:ext cx="1828800" cy="274320"/>
          </a:xfrm>
          <a:prstGeom prst="rect">
            <a:avLst/>
          </a:prstGeom>
          <a:noFill/>
          <a:ln/>
        </p:spPr>
        <p:txBody>
          <a:bodyPr wrap="square" lIns="0" tIns="0" rIns="0" bIns="0" rtlCol="0" anchor="ctr"/>
          <a:lstStyle/>
          <a:p>
            <a:pPr indent="0" marL="0">
              <a:buNone/>
            </a:pPr>
            <a:r>
              <a:rPr lang="en-US" sz="1050" dirty="0">
                <a:solidFill>
                  <a:srgbClr val="FFFFFF"/>
                </a:solidFill>
                <a:latin typeface="프리젠테이션 7 Bold" pitchFamily="34" charset="0"/>
                <a:ea typeface="프리젠테이션 7 Bold" pitchFamily="34" charset="-122"/>
                <a:cs typeface="프리젠테이션 7 Bold" pitchFamily="34" charset="-120"/>
              </a:rPr>
              <a:t>Cargo 94.2%</a:t>
            </a:r>
            <a:endParaRPr lang="en-US" sz="1050" dirty="0"/>
          </a:p>
        </p:txBody>
      </p:sp>
      <p:sp>
        <p:nvSpPr>
          <p:cNvPr id="11" name="bar tanker label"/>
          <p:cNvSpPr txBox="1"/>
          <p:nvPr/>
        </p:nvSpPr>
        <p:spPr>
          <a:xfrm>
            <a:off x="7223760" y="2478024"/>
            <a:ext cx="1463040" cy="201168"/>
          </a:xfrm>
          <a:prstGeom prst="rect">
            <a:avLst/>
          </a:prstGeom>
          <a:noFill/>
          <a:ln/>
        </p:spPr>
        <p:txBody>
          <a:bodyPr wrap="square" lIns="0" tIns="0" rIns="0" bIns="0" rtlCol="0" anchor="ctr"/>
          <a:lstStyle/>
          <a:p>
            <a:pPr algn="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Tanker 5.8% of rows</a:t>
            </a:r>
            <a:endParaRPr lang="en-US" sz="1000" dirty="0"/>
          </a:p>
        </p:txBody>
      </p:sp>
      <p:sp>
        <p:nvSpPr>
          <p:cNvPr id="12" name="group tile 0"/>
          <p:cNvSpPr/>
          <p:nvPr/>
        </p:nvSpPr>
        <p:spPr>
          <a:xfrm>
            <a:off x="4206240" y="2633472"/>
            <a:ext cx="2194560" cy="960120"/>
          </a:xfrm>
          <a:prstGeom prst="roundRect">
            <a:avLst>
              <a:gd name="adj" fmla="val 20952"/>
            </a:avLst>
          </a:prstGeom>
          <a:solidFill>
            <a:srgbClr val="EEF0F3"/>
          </a:solidFill>
          <a:ln/>
        </p:spPr>
      </p:sp>
      <p:sp>
        <p:nvSpPr>
          <p:cNvPr id="13" name="gt name 0"/>
          <p:cNvSpPr txBox="1"/>
          <p:nvPr/>
        </p:nvSpPr>
        <p:spPr>
          <a:xfrm>
            <a:off x="4389120" y="2724912"/>
            <a:ext cx="1371600" cy="201168"/>
          </a:xfrm>
          <a:prstGeom prst="rect">
            <a:avLst/>
          </a:prstGeom>
          <a:noFill/>
          <a:ln/>
        </p:spPr>
        <p:txBody>
          <a:bodyPr wrap="square" lIns="0" tIns="0" rIns="0" bIns="0" rtlCol="0" anchor="ctr"/>
          <a:lstStyle/>
          <a:p>
            <a:pPr indent="0" marL="0">
              <a:buNone/>
            </a:pPr>
            <a:r>
              <a:rPr lang="en-US" sz="1000" spc="120" kern="0" dirty="0">
                <a:solidFill>
                  <a:srgbClr val="0052FF"/>
                </a:solidFill>
                <a:latin typeface="프리젠테이션 7 Bold" pitchFamily="34" charset="0"/>
                <a:ea typeface="프리젠테이션 7 Bold" pitchFamily="34" charset="-122"/>
                <a:cs typeface="프리젠테이션 7 Bold" pitchFamily="34" charset="-120"/>
              </a:rPr>
              <a:t>CARGO</a:t>
            </a:r>
            <a:endParaRPr lang="en-US" sz="1000" dirty="0"/>
          </a:p>
        </p:txBody>
      </p:sp>
      <p:sp>
        <p:nvSpPr>
          <p:cNvPr id="14" name="gt val 0"/>
          <p:cNvSpPr txBox="1"/>
          <p:nvPr/>
        </p:nvSpPr>
        <p:spPr>
          <a:xfrm>
            <a:off x="4389120" y="2926080"/>
            <a:ext cx="1920240" cy="365760"/>
          </a:xfrm>
          <a:prstGeom prst="rect">
            <a:avLst/>
          </a:prstGeom>
          <a:noFill/>
          <a:ln/>
        </p:spPr>
        <p:txBody>
          <a:bodyPr wrap="square" lIns="0" tIns="0" rIns="0" bIns="0" rtlCol="0" anchor="ctr"/>
          <a:lstStyle/>
          <a:p>
            <a:pPr indent="0" marL="0">
              <a:buNone/>
            </a:pPr>
            <a:r>
              <a:rPr lang="en-US" sz="2400" dirty="0">
                <a:solidFill>
                  <a:srgbClr val="0A0B0D"/>
                </a:solidFill>
                <a:latin typeface="프리젠테이션 4 Regular" pitchFamily="34" charset="0"/>
                <a:ea typeface="프리젠테이션 4 Regular" pitchFamily="34" charset="-122"/>
                <a:cs typeface="프리젠테이션 4 Regular" pitchFamily="34" charset="-120"/>
              </a:rPr>
              <a:t>1,865</a:t>
            </a:r>
            <a:pP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  vessels (MMSI)</a:t>
            </a:r>
            <a:endParaRPr lang="en-US" sz="2400" dirty="0"/>
          </a:p>
        </p:txBody>
      </p:sp>
      <p:sp>
        <p:nvSpPr>
          <p:cNvPr id="15" name="gt sub 0"/>
          <p:cNvSpPr txBox="1"/>
          <p:nvPr/>
        </p:nvSpPr>
        <p:spPr>
          <a:xfrm>
            <a:off x="4389120" y="3291840"/>
            <a:ext cx="1920240" cy="228600"/>
          </a:xfrm>
          <a:prstGeom prst="rect">
            <a:avLst/>
          </a:prstGeom>
          <a:noFill/>
          <a:ln/>
        </p:spPr>
        <p:txBody>
          <a:bodyPr wrap="square" lIns="0" tIns="0" rIns="0" bIns="0" rtlCol="0" anchor="ctr"/>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10,311 rows · ≈5.5 rows / vessel</a:t>
            </a:r>
            <a:endParaRPr lang="en-US" sz="1000" dirty="0"/>
          </a:p>
        </p:txBody>
      </p:sp>
      <p:sp>
        <p:nvSpPr>
          <p:cNvPr id="16" name="group tile 1"/>
          <p:cNvSpPr/>
          <p:nvPr/>
        </p:nvSpPr>
        <p:spPr>
          <a:xfrm>
            <a:off x="6492240" y="2633472"/>
            <a:ext cx="2194560" cy="960120"/>
          </a:xfrm>
          <a:prstGeom prst="roundRect">
            <a:avLst>
              <a:gd name="adj" fmla="val 20952"/>
            </a:avLst>
          </a:prstGeom>
          <a:solidFill>
            <a:srgbClr val="EEF0F3"/>
          </a:solidFill>
          <a:ln/>
        </p:spPr>
      </p:sp>
      <p:sp>
        <p:nvSpPr>
          <p:cNvPr id="17" name="gt name 1"/>
          <p:cNvSpPr txBox="1"/>
          <p:nvPr/>
        </p:nvSpPr>
        <p:spPr>
          <a:xfrm>
            <a:off x="6675120" y="2724912"/>
            <a:ext cx="1371600" cy="201168"/>
          </a:xfrm>
          <a:prstGeom prst="rect">
            <a:avLst/>
          </a:prstGeom>
          <a:noFill/>
          <a:ln/>
        </p:spPr>
        <p:txBody>
          <a:bodyPr wrap="square" lIns="0" tIns="0" rIns="0" bIns="0" rtlCol="0" anchor="ctr"/>
          <a:lstStyle/>
          <a:p>
            <a:pPr indent="0" marL="0">
              <a:buNone/>
            </a:pPr>
            <a:r>
              <a:rPr lang="en-US" sz="1000" spc="120" kern="0" dirty="0">
                <a:solidFill>
                  <a:srgbClr val="0A0B0D"/>
                </a:solidFill>
                <a:latin typeface="프리젠테이션 7 Bold" pitchFamily="34" charset="0"/>
                <a:ea typeface="프리젠테이션 7 Bold" pitchFamily="34" charset="-122"/>
                <a:cs typeface="프리젠테이션 7 Bold" pitchFamily="34" charset="-120"/>
              </a:rPr>
              <a:t>TANKER</a:t>
            </a:r>
            <a:endParaRPr lang="en-US" sz="1000" dirty="0"/>
          </a:p>
        </p:txBody>
      </p:sp>
      <p:sp>
        <p:nvSpPr>
          <p:cNvPr id="18" name="gt val 1"/>
          <p:cNvSpPr txBox="1"/>
          <p:nvPr/>
        </p:nvSpPr>
        <p:spPr>
          <a:xfrm>
            <a:off x="6675120" y="2926080"/>
            <a:ext cx="1920240" cy="365760"/>
          </a:xfrm>
          <a:prstGeom prst="rect">
            <a:avLst/>
          </a:prstGeom>
          <a:noFill/>
          <a:ln/>
        </p:spPr>
        <p:txBody>
          <a:bodyPr wrap="square" lIns="0" tIns="0" rIns="0" bIns="0" rtlCol="0" anchor="ctr"/>
          <a:lstStyle/>
          <a:p>
            <a:pPr indent="0" marL="0">
              <a:buNone/>
            </a:pPr>
            <a:r>
              <a:rPr lang="en-US" sz="2400" dirty="0">
                <a:solidFill>
                  <a:srgbClr val="0A0B0D"/>
                </a:solidFill>
                <a:latin typeface="프리젠테이션 4 Regular" pitchFamily="34" charset="0"/>
                <a:ea typeface="프리젠테이션 4 Regular" pitchFamily="34" charset="-122"/>
                <a:cs typeface="프리젠테이션 4 Regular" pitchFamily="34" charset="-120"/>
              </a:rPr>
              <a:t>138</a:t>
            </a:r>
            <a:pP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  vessels (MMSI)</a:t>
            </a:r>
            <a:endParaRPr lang="en-US" sz="2400" dirty="0"/>
          </a:p>
        </p:txBody>
      </p:sp>
      <p:sp>
        <p:nvSpPr>
          <p:cNvPr id="19" name="gt sub 1"/>
          <p:cNvSpPr txBox="1"/>
          <p:nvPr/>
        </p:nvSpPr>
        <p:spPr>
          <a:xfrm>
            <a:off x="6675120" y="3291840"/>
            <a:ext cx="1920240" cy="228600"/>
          </a:xfrm>
          <a:prstGeom prst="rect">
            <a:avLst/>
          </a:prstGeom>
          <a:noFill/>
          <a:ln/>
        </p:spPr>
        <p:txBody>
          <a:bodyPr wrap="square" lIns="0" tIns="0" rIns="0" bIns="0" rtlCol="0" anchor="ctr"/>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632 rows · ≈4.6 rows / vessel</a:t>
            </a:r>
            <a:endParaRPr lang="en-US" sz="1000" dirty="0"/>
          </a:p>
        </p:txBody>
      </p:sp>
      <p:sp>
        <p:nvSpPr>
          <p:cNvPr id="20" name="fs k 0"/>
          <p:cNvSpPr txBox="1"/>
          <p:nvPr/>
        </p:nvSpPr>
        <p:spPr>
          <a:xfrm>
            <a:off x="4206240" y="3767328"/>
            <a:ext cx="731520" cy="237744"/>
          </a:xfrm>
          <a:prstGeom prst="rect">
            <a:avLst/>
          </a:prstGeom>
          <a:noFill/>
          <a:ln/>
        </p:spPr>
        <p:txBody>
          <a:bodyPr wrap="square" lIns="0" tIns="0" rIns="0" bIns="0" rtlCol="0" anchor="ctr"/>
          <a:lstStyle/>
          <a:p>
            <a:pPr indent="0" marL="0">
              <a:buNone/>
            </a:pPr>
            <a:r>
              <a:rPr lang="en-US" sz="1050" dirty="0">
                <a:solidFill>
                  <a:srgbClr val="0A0B0D"/>
                </a:solidFill>
                <a:latin typeface="프리젠테이션 7 Bold" pitchFamily="34" charset="0"/>
                <a:ea typeface="프리젠테이션 7 Bold" pitchFamily="34" charset="-122"/>
                <a:cs typeface="프리젠테이션 7 Bold" pitchFamily="34" charset="-120"/>
              </a:rPr>
              <a:t>Filter</a:t>
            </a:r>
            <a:endParaRPr lang="en-US" sz="1050" dirty="0"/>
          </a:p>
        </p:txBody>
      </p:sp>
      <p:sp>
        <p:nvSpPr>
          <p:cNvPr id="21" name="fs v 0"/>
          <p:cNvSpPr txBox="1"/>
          <p:nvPr/>
        </p:nvSpPr>
        <p:spPr>
          <a:xfrm>
            <a:off x="4983480" y="3767328"/>
            <a:ext cx="3703320" cy="237744"/>
          </a:xfrm>
          <a:prstGeom prst="rect">
            <a:avLst/>
          </a:prstGeom>
          <a:noFill/>
          <a:ln/>
        </p:spPr>
        <p:txBody>
          <a:bodyPr wrap="square" lIns="0" tIns="0" rIns="0" bIns="0" rtlCol="0" anchor="ctr"/>
          <a:lstStyle/>
          <a:p>
            <a:pP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lon −77.0 → −75.5, lat 36.3 → 37.5 (EPSG:4269)</a:t>
            </a:r>
            <a:endParaRPr lang="en-US" sz="1050" dirty="0"/>
          </a:p>
        </p:txBody>
      </p:sp>
      <p:sp>
        <p:nvSpPr>
          <p:cNvPr id="22" name="fs k 1"/>
          <p:cNvSpPr txBox="1"/>
          <p:nvPr/>
        </p:nvSpPr>
        <p:spPr>
          <a:xfrm>
            <a:off x="4206240" y="4032504"/>
            <a:ext cx="731520" cy="237744"/>
          </a:xfrm>
          <a:prstGeom prst="rect">
            <a:avLst/>
          </a:prstGeom>
          <a:noFill/>
          <a:ln/>
        </p:spPr>
        <p:txBody>
          <a:bodyPr wrap="square" lIns="0" tIns="0" rIns="0" bIns="0" rtlCol="0" anchor="ctr"/>
          <a:lstStyle/>
          <a:p>
            <a:pPr indent="0" marL="0">
              <a:buNone/>
            </a:pPr>
            <a:r>
              <a:rPr lang="en-US" sz="1050" dirty="0">
                <a:solidFill>
                  <a:srgbClr val="0A0B0D"/>
                </a:solidFill>
                <a:latin typeface="프리젠테이션 7 Bold" pitchFamily="34" charset="0"/>
                <a:ea typeface="프리젠테이션 7 Bold" pitchFamily="34" charset="-122"/>
                <a:cs typeface="프리젠테이션 7 Bold" pitchFamily="34" charset="-120"/>
              </a:rPr>
              <a:t>Rule</a:t>
            </a:r>
            <a:endParaRPr lang="en-US" sz="1050" dirty="0"/>
          </a:p>
        </p:txBody>
      </p:sp>
      <p:sp>
        <p:nvSpPr>
          <p:cNvPr id="23" name="fs v 1"/>
          <p:cNvSpPr txBox="1"/>
          <p:nvPr/>
        </p:nvSpPr>
        <p:spPr>
          <a:xfrm>
            <a:off x="4983480" y="4032504"/>
            <a:ext cx="3703320" cy="237744"/>
          </a:xfrm>
          <a:prstGeom prst="rect">
            <a:avLst/>
          </a:prstGeom>
          <a:noFill/>
          <a:ln/>
        </p:spPr>
        <p:txBody>
          <a:bodyPr wrap="square" lIns="0" tIns="0" rIns="0" bIns="0" rtlCol="0" anchor="ctr"/>
          <a:lstStyle/>
          <a:p>
            <a:pP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Keep tracks that intersect — whole line kept, not clipped</a:t>
            </a:r>
            <a:endParaRPr lang="en-US" sz="1050" dirty="0"/>
          </a:p>
        </p:txBody>
      </p:sp>
      <p:sp>
        <p:nvSpPr>
          <p:cNvPr id="24" name="fs k 2"/>
          <p:cNvSpPr txBox="1"/>
          <p:nvPr/>
        </p:nvSpPr>
        <p:spPr>
          <a:xfrm>
            <a:off x="4206240" y="4297680"/>
            <a:ext cx="731520" cy="237744"/>
          </a:xfrm>
          <a:prstGeom prst="rect">
            <a:avLst/>
          </a:prstGeom>
          <a:noFill/>
          <a:ln/>
        </p:spPr>
        <p:txBody>
          <a:bodyPr wrap="square" lIns="0" tIns="0" rIns="0" bIns="0" rtlCol="0" anchor="ctr"/>
          <a:lstStyle/>
          <a:p>
            <a:pPr indent="0" marL="0">
              <a:buNone/>
            </a:pPr>
            <a:r>
              <a:rPr lang="en-US" sz="1050" dirty="0">
                <a:solidFill>
                  <a:srgbClr val="0A0B0D"/>
                </a:solidFill>
                <a:latin typeface="프리젠테이션 7 Bold" pitchFamily="34" charset="0"/>
                <a:ea typeface="프리젠테이션 7 Bold" pitchFamily="34" charset="-122"/>
                <a:cs typeface="프리젠테이션 7 Bold" pitchFamily="34" charset="-120"/>
              </a:rPr>
              <a:t>CSV adds</a:t>
            </a:r>
            <a:endParaRPr lang="en-US" sz="1050" dirty="0"/>
          </a:p>
        </p:txBody>
      </p:sp>
      <p:sp>
        <p:nvSpPr>
          <p:cNvPr id="25" name="fs v 2"/>
          <p:cNvSpPr txBox="1"/>
          <p:nvPr/>
        </p:nvSpPr>
        <p:spPr>
          <a:xfrm>
            <a:off x="4983480" y="4297680"/>
            <a:ext cx="3703320" cy="237744"/>
          </a:xfrm>
          <a:prstGeom prst="rect">
            <a:avLst/>
          </a:prstGeom>
          <a:noFill/>
          <a:ln/>
        </p:spPr>
        <p:txBody>
          <a:bodyPr wrap="square" lIns="0" tIns="0" rIns="0" bIns="0" rtlCol="0" anchor="ctr"/>
          <a:lstStyle/>
          <a:p>
            <a:pPr indent="0" marL="0">
              <a:buNone/>
            </a:pPr>
            <a:r>
              <a:rPr lang="en-US" sz="1050" dirty="0">
                <a:solidFill>
                  <a:srgbClr val="5B616E"/>
                </a:solidFill>
                <a:latin typeface="프리젠테이션 4 Regular" pitchFamily="34" charset="0"/>
                <a:ea typeface="프리젠테이션 4 Regular" pitchFamily="34" charset="-122"/>
                <a:cs typeface="프리젠테이션 4 Regular" pitchFamily="34" charset="-120"/>
              </a:rPr>
              <a:t>Shape_WKT · Geometry_CRS · Subset_BBox</a:t>
            </a:r>
            <a:endParaRPr lang="en-US" sz="1050" dirty="0"/>
          </a:p>
        </p:txBody>
      </p:sp>
      <p:sp>
        <p:nvSpPr>
          <p:cNvPr id="26" name="bbox caution"/>
          <p:cNvSpPr txBox="1"/>
          <p:nvPr/>
        </p:nvSpPr>
        <p:spPr>
          <a:xfrm>
            <a:off x="457200" y="4507992"/>
            <a:ext cx="3383280" cy="201168"/>
          </a:xfrm>
          <a:prstGeom prst="rect">
            <a:avLst/>
          </a:prstGeom>
          <a:noFill/>
          <a:ln/>
        </p:spPr>
        <p:txBody>
          <a:bodyPr wrap="square" lIns="0" tIns="0" rIns="0" bIns="0" rtlCol="0" anchor="ctr"/>
          <a:lstStyle/>
          <a:p>
            <a:pPr indent="0" marL="0">
              <a:buNone/>
            </a:pPr>
            <a:r>
              <a:rPr lang="en-US" sz="950" dirty="0">
                <a:solidFill>
                  <a:srgbClr val="CF202F"/>
                </a:solidFill>
                <a:latin typeface="프리젠테이션 4 Regular" pitchFamily="34" charset="0"/>
                <a:ea typeface="프리젠테이션 4 Regular" pitchFamily="34" charset="-122"/>
                <a:cs typeface="프리젠테이션 4 Regular" pitchFamily="34" charset="-120"/>
              </a:rPr>
              <a:t>Temporary broad rectangle — not the final study boundary</a:t>
            </a:r>
            <a:endParaRPr lang="en-US" sz="9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06 — DATA PREPROCESSING</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From national tracks to a regional dataset</a:t>
            </a:r>
            <a:endParaRPr lang="en-US" sz="3600" dirty="0"/>
          </a:p>
        </p:txBody>
      </p:sp>
      <p:sp>
        <p:nvSpPr>
          <p:cNvPr id="4" name="scope card"/>
          <p:cNvSpPr/>
          <p:nvPr/>
        </p:nvSpPr>
        <p:spPr>
          <a:xfrm>
            <a:off x="457200" y="1417320"/>
            <a:ext cx="3611880" cy="3108960"/>
          </a:xfrm>
          <a:prstGeom prst="roundRect">
            <a:avLst>
              <a:gd name="adj" fmla="val 6471"/>
            </a:avLst>
          </a:prstGeom>
          <a:solidFill>
            <a:srgbClr val="0A0B0D"/>
          </a:solidFill>
          <a:ln/>
        </p:spPr>
      </p:sp>
      <p:sp>
        <p:nvSpPr>
          <p:cNvPr id="5" name="scope label"/>
          <p:cNvSpPr txBox="1"/>
          <p:nvPr/>
        </p:nvSpPr>
        <p:spPr>
          <a:xfrm>
            <a:off x="731520" y="1645920"/>
            <a:ext cx="1828800" cy="256032"/>
          </a:xfrm>
          <a:prstGeom prst="rect">
            <a:avLst/>
          </a:prstGeom>
          <a:noFill/>
          <a:ln/>
        </p:spPr>
        <p:txBody>
          <a:bodyPr wrap="square" lIns="0" tIns="0" rIns="0" bIns="0" rtlCol="0" anchor="ctr"/>
          <a:lstStyle/>
          <a:p>
            <a:pPr indent="0" marL="0">
              <a:buNone/>
            </a:pPr>
            <a:r>
              <a:rPr lang="en-US" sz="1100" spc="150" kern="0" dirty="0">
                <a:solidFill>
                  <a:srgbClr val="7FA6FF"/>
                </a:solidFill>
                <a:latin typeface="프리젠테이션 7 Bold" pitchFamily="34" charset="0"/>
                <a:ea typeface="프리젠테이션 7 Bold" pitchFamily="34" charset="-122"/>
                <a:cs typeface="프리젠테이션 7 Bold" pitchFamily="34" charset="-120"/>
              </a:rPr>
              <a:t>DATA SCOPE</a:t>
            </a:r>
            <a:endParaRPr lang="en-US" sz="1100" dirty="0"/>
          </a:p>
        </p:txBody>
      </p:sp>
      <p:sp>
        <p:nvSpPr>
          <p:cNvPr id="6" name="scope k 0"/>
          <p:cNvSpPr txBox="1"/>
          <p:nvPr/>
        </p:nvSpPr>
        <p:spPr>
          <a:xfrm>
            <a:off x="731520" y="2039112"/>
            <a:ext cx="731520" cy="237744"/>
          </a:xfrm>
          <a:prstGeom prst="rect">
            <a:avLst/>
          </a:prstGeom>
          <a:noFill/>
          <a:ln/>
        </p:spPr>
        <p:txBody>
          <a:bodyPr wrap="square" lIns="0" tIns="0" rIns="0" bIns="0" rtlCol="0" anchor="t"/>
          <a:lstStyle/>
          <a:p>
            <a:pPr indent="0" marL="0">
              <a:buNone/>
            </a:pPr>
            <a:r>
              <a:rPr lang="en-US" sz="1100" dirty="0">
                <a:solidFill>
                  <a:srgbClr val="8A919E"/>
                </a:solidFill>
                <a:latin typeface="프리젠테이션 4 Regular" pitchFamily="34" charset="0"/>
                <a:ea typeface="프리젠테이션 4 Regular" pitchFamily="34" charset="-122"/>
                <a:cs typeface="프리젠테이션 4 Regular" pitchFamily="34" charset="-120"/>
              </a:rPr>
              <a:t>Source</a:t>
            </a:r>
            <a:endParaRPr lang="en-US" sz="1100" dirty="0"/>
          </a:p>
        </p:txBody>
      </p:sp>
      <p:sp>
        <p:nvSpPr>
          <p:cNvPr id="7" name="scope v 0"/>
          <p:cNvSpPr txBox="1"/>
          <p:nvPr/>
        </p:nvSpPr>
        <p:spPr>
          <a:xfrm>
            <a:off x="1463040" y="2039112"/>
            <a:ext cx="2377440" cy="438912"/>
          </a:xfrm>
          <a:prstGeom prst="rect">
            <a:avLst/>
          </a:prstGeom>
          <a:noFill/>
          <a:ln/>
        </p:spPr>
        <p:txBody>
          <a:bodyPr wrap="square" lIns="0" tIns="0" rIns="0" bIns="0" rtlCol="0" anchor="t"/>
          <a:lstStyle/>
          <a:p>
            <a:pPr indent="0" marL="0">
              <a:buNone/>
            </a:pPr>
            <a:r>
              <a:rPr lang="en-US" sz="1150" dirty="0">
                <a:solidFill>
                  <a:srgbClr val="FFFFFF"/>
                </a:solidFill>
                <a:latin typeface="프리젠테이션 4 Regular" pitchFamily="34" charset="0"/>
                <a:ea typeface="프리젠테이션 4 Regular" pitchFamily="34" charset="-122"/>
                <a:cs typeface="프리젠테이션 4 Regular" pitchFamily="34" charset="-120"/>
              </a:rPr>
              <a:t>NOAA MarineCadastre AIS Vessel Tracks 2024 [1]</a:t>
            </a:r>
            <a:endParaRPr lang="en-US" sz="1150" dirty="0"/>
          </a:p>
        </p:txBody>
      </p:sp>
      <p:sp>
        <p:nvSpPr>
          <p:cNvPr id="8" name="scope k 1"/>
          <p:cNvSpPr txBox="1"/>
          <p:nvPr/>
        </p:nvSpPr>
        <p:spPr>
          <a:xfrm>
            <a:off x="731520" y="2569464"/>
            <a:ext cx="731520" cy="237744"/>
          </a:xfrm>
          <a:prstGeom prst="rect">
            <a:avLst/>
          </a:prstGeom>
          <a:noFill/>
          <a:ln/>
        </p:spPr>
        <p:txBody>
          <a:bodyPr wrap="square" lIns="0" tIns="0" rIns="0" bIns="0" rtlCol="0" anchor="t"/>
          <a:lstStyle/>
          <a:p>
            <a:pPr indent="0" marL="0">
              <a:buNone/>
            </a:pPr>
            <a:r>
              <a:rPr lang="en-US" sz="1100" dirty="0">
                <a:solidFill>
                  <a:srgbClr val="8A919E"/>
                </a:solidFill>
                <a:latin typeface="프리젠테이션 4 Regular" pitchFamily="34" charset="0"/>
                <a:ea typeface="프리젠테이션 4 Regular" pitchFamily="34" charset="-122"/>
                <a:cs typeface="프리젠테이션 4 Regular" pitchFamily="34" charset="-120"/>
              </a:rPr>
              <a:t>Period</a:t>
            </a:r>
            <a:endParaRPr lang="en-US" sz="1100" dirty="0"/>
          </a:p>
        </p:txBody>
      </p:sp>
      <p:sp>
        <p:nvSpPr>
          <p:cNvPr id="9" name="scope v 1"/>
          <p:cNvSpPr txBox="1"/>
          <p:nvPr/>
        </p:nvSpPr>
        <p:spPr>
          <a:xfrm>
            <a:off x="1463040" y="2569464"/>
            <a:ext cx="2377440" cy="237744"/>
          </a:xfrm>
          <a:prstGeom prst="rect">
            <a:avLst/>
          </a:prstGeom>
          <a:noFill/>
          <a:ln/>
        </p:spPr>
        <p:txBody>
          <a:bodyPr wrap="square" lIns="0" tIns="0" rIns="0" bIns="0" rtlCol="0" anchor="t"/>
          <a:lstStyle/>
          <a:p>
            <a:pPr indent="0" marL="0">
              <a:buNone/>
            </a:pPr>
            <a:r>
              <a:rPr lang="en-US" sz="1150" dirty="0">
                <a:solidFill>
                  <a:srgbClr val="FFFFFF"/>
                </a:solidFill>
                <a:latin typeface="프리젠테이션 4 Regular" pitchFamily="34" charset="0"/>
                <a:ea typeface="프리젠테이션 4 Regular" pitchFamily="34" charset="-122"/>
                <a:cs typeface="프리젠테이션 4 Regular" pitchFamily="34" charset="-120"/>
              </a:rPr>
              <a:t>Jan – Dec 2024</a:t>
            </a:r>
            <a:endParaRPr lang="en-US" sz="1150" dirty="0"/>
          </a:p>
        </p:txBody>
      </p:sp>
      <p:sp>
        <p:nvSpPr>
          <p:cNvPr id="10" name="scope k 2"/>
          <p:cNvSpPr txBox="1"/>
          <p:nvPr/>
        </p:nvSpPr>
        <p:spPr>
          <a:xfrm>
            <a:off x="731520" y="2898648"/>
            <a:ext cx="731520" cy="237744"/>
          </a:xfrm>
          <a:prstGeom prst="rect">
            <a:avLst/>
          </a:prstGeom>
          <a:noFill/>
          <a:ln/>
        </p:spPr>
        <p:txBody>
          <a:bodyPr wrap="square" lIns="0" tIns="0" rIns="0" bIns="0" rtlCol="0" anchor="t"/>
          <a:lstStyle/>
          <a:p>
            <a:pPr indent="0" marL="0">
              <a:buNone/>
            </a:pPr>
            <a:r>
              <a:rPr lang="en-US" sz="1100" dirty="0">
                <a:solidFill>
                  <a:srgbClr val="8A919E"/>
                </a:solidFill>
                <a:latin typeface="프리젠테이션 4 Regular" pitchFamily="34" charset="0"/>
                <a:ea typeface="프리젠테이션 4 Regular" pitchFamily="34" charset="-122"/>
                <a:cs typeface="프리젠테이션 4 Regular" pitchFamily="34" charset="-120"/>
              </a:rPr>
              <a:t>Area</a:t>
            </a:r>
            <a:endParaRPr lang="en-US" sz="1100" dirty="0"/>
          </a:p>
        </p:txBody>
      </p:sp>
      <p:sp>
        <p:nvSpPr>
          <p:cNvPr id="11" name="scope v 2"/>
          <p:cNvSpPr txBox="1"/>
          <p:nvPr/>
        </p:nvSpPr>
        <p:spPr>
          <a:xfrm>
            <a:off x="1463040" y="2898648"/>
            <a:ext cx="2377440" cy="438912"/>
          </a:xfrm>
          <a:prstGeom prst="rect">
            <a:avLst/>
          </a:prstGeom>
          <a:noFill/>
          <a:ln/>
        </p:spPr>
        <p:txBody>
          <a:bodyPr wrap="square" lIns="0" tIns="0" rIns="0" bIns="0" rtlCol="0" anchor="t"/>
          <a:lstStyle/>
          <a:p>
            <a:pPr indent="0" marL="0">
              <a:buNone/>
            </a:pPr>
            <a:r>
              <a:rPr lang="en-US" sz="1150" dirty="0">
                <a:solidFill>
                  <a:srgbClr val="FFFFFF"/>
                </a:solidFill>
                <a:latin typeface="프리젠테이션 4 Regular" pitchFamily="34" charset="0"/>
                <a:ea typeface="프리젠테이션 4 Regular" pitchFamily="34" charset="-122"/>
                <a:cs typeface="프리젠테이션 4 Regular" pitchFamily="34" charset="-120"/>
              </a:rPr>
              <a:t>Now: broad rectangle → next: NOAA ENC-based approach boundary [3]</a:t>
            </a:r>
            <a:endParaRPr lang="en-US" sz="1150" dirty="0"/>
          </a:p>
        </p:txBody>
      </p:sp>
      <p:sp>
        <p:nvSpPr>
          <p:cNvPr id="12" name="scope k 3"/>
          <p:cNvSpPr txBox="1"/>
          <p:nvPr/>
        </p:nvSpPr>
        <p:spPr>
          <a:xfrm>
            <a:off x="731520" y="3429000"/>
            <a:ext cx="731520" cy="237744"/>
          </a:xfrm>
          <a:prstGeom prst="rect">
            <a:avLst/>
          </a:prstGeom>
          <a:noFill/>
          <a:ln/>
        </p:spPr>
        <p:txBody>
          <a:bodyPr wrap="square" lIns="0" tIns="0" rIns="0" bIns="0" rtlCol="0" anchor="t"/>
          <a:lstStyle/>
          <a:p>
            <a:pPr indent="0" marL="0">
              <a:buNone/>
            </a:pPr>
            <a:r>
              <a:rPr lang="en-US" sz="1100" dirty="0">
                <a:solidFill>
                  <a:srgbClr val="8A919E"/>
                </a:solidFill>
                <a:latin typeface="프리젠테이션 4 Regular" pitchFamily="34" charset="0"/>
                <a:ea typeface="프리젠테이션 4 Regular" pitchFamily="34" charset="-122"/>
                <a:cs typeface="프리젠테이션 4 Regular" pitchFamily="34" charset="-120"/>
              </a:rPr>
              <a:t>Vessels</a:t>
            </a:r>
            <a:endParaRPr lang="en-US" sz="1100" dirty="0"/>
          </a:p>
        </p:txBody>
      </p:sp>
      <p:sp>
        <p:nvSpPr>
          <p:cNvPr id="13" name="scope v 3"/>
          <p:cNvSpPr txBox="1"/>
          <p:nvPr/>
        </p:nvSpPr>
        <p:spPr>
          <a:xfrm>
            <a:off x="1463040" y="3429000"/>
            <a:ext cx="2377440" cy="438912"/>
          </a:xfrm>
          <a:prstGeom prst="rect">
            <a:avLst/>
          </a:prstGeom>
          <a:noFill/>
          <a:ln/>
        </p:spPr>
        <p:txBody>
          <a:bodyPr wrap="square" lIns="0" tIns="0" rIns="0" bIns="0" rtlCol="0" anchor="t"/>
          <a:lstStyle/>
          <a:p>
            <a:pPr indent="0" marL="0">
              <a:buNone/>
            </a:pPr>
            <a:r>
              <a:rPr lang="en-US" sz="1150" dirty="0">
                <a:solidFill>
                  <a:srgbClr val="FFFFFF"/>
                </a:solidFill>
                <a:latin typeface="프리젠테이션 4 Regular" pitchFamily="34" charset="0"/>
                <a:ea typeface="프리젠테이션 4 Regular" pitchFamily="34" charset="-122"/>
                <a:cs typeface="프리젠테이션 4 Regular" pitchFamily="34" charset="-120"/>
              </a:rPr>
              <a:t>Cargo &amp; Tanker — source label is “Cargo”, not Bulk_Carrier</a:t>
            </a:r>
            <a:endParaRPr lang="en-US" sz="1150" dirty="0"/>
          </a:p>
        </p:txBody>
      </p:sp>
      <p:sp>
        <p:nvSpPr>
          <p:cNvPr id="14" name="scope k 4"/>
          <p:cNvSpPr txBox="1"/>
          <p:nvPr/>
        </p:nvSpPr>
        <p:spPr>
          <a:xfrm>
            <a:off x="731520" y="3959352"/>
            <a:ext cx="731520" cy="237744"/>
          </a:xfrm>
          <a:prstGeom prst="rect">
            <a:avLst/>
          </a:prstGeom>
          <a:noFill/>
          <a:ln/>
        </p:spPr>
        <p:txBody>
          <a:bodyPr wrap="square" lIns="0" tIns="0" rIns="0" bIns="0" rtlCol="0" anchor="t"/>
          <a:lstStyle/>
          <a:p>
            <a:pPr indent="0" marL="0">
              <a:buNone/>
            </a:pPr>
            <a:r>
              <a:rPr lang="en-US" sz="1100" dirty="0">
                <a:solidFill>
                  <a:srgbClr val="8A919E"/>
                </a:solidFill>
                <a:latin typeface="프리젠테이션 4 Regular" pitchFamily="34" charset="0"/>
                <a:ea typeface="프리젠테이션 4 Regular" pitchFamily="34" charset="-122"/>
                <a:cs typeface="프리젠테이션 4 Regular" pitchFamily="34" charset="-120"/>
              </a:rPr>
              <a:t>Data</a:t>
            </a:r>
            <a:endParaRPr lang="en-US" sz="1100" dirty="0"/>
          </a:p>
        </p:txBody>
      </p:sp>
      <p:sp>
        <p:nvSpPr>
          <p:cNvPr id="15" name="scope v 4"/>
          <p:cNvSpPr txBox="1"/>
          <p:nvPr/>
        </p:nvSpPr>
        <p:spPr>
          <a:xfrm>
            <a:off x="1463040" y="3959352"/>
            <a:ext cx="2377440" cy="438912"/>
          </a:xfrm>
          <a:prstGeom prst="rect">
            <a:avLst/>
          </a:prstGeom>
          <a:noFill/>
          <a:ln/>
        </p:spPr>
        <p:txBody>
          <a:bodyPr wrap="square" lIns="0" tIns="0" rIns="0" bIns="0" rtlCol="0" anchor="t"/>
          <a:lstStyle/>
          <a:p>
            <a:pPr indent="0" marL="0">
              <a:buNone/>
            </a:pPr>
            <a:r>
              <a:rPr lang="en-US" sz="1150" dirty="0">
                <a:solidFill>
                  <a:srgbClr val="FFFFFF"/>
                </a:solidFill>
                <a:latin typeface="프리젠테이션 4 Regular" pitchFamily="34" charset="0"/>
                <a:ea typeface="프리젠테이션 4 Regular" pitchFamily="34" charset="-122"/>
                <a:cs typeface="프리젠테이션 4 Regular" pitchFamily="34" charset="-120"/>
              </a:rPr>
              <a:t>Raw .gpkg kept unchanged; CSV is a re-creatable interim file</a:t>
            </a:r>
            <a:endParaRPr lang="en-US" sz="1150" dirty="0"/>
          </a:p>
        </p:txBody>
      </p:sp>
      <p:sp>
        <p:nvSpPr>
          <p:cNvPr id="16" name="pipe line"/>
          <p:cNvSpPr/>
          <p:nvPr/>
        </p:nvSpPr>
        <p:spPr>
          <a:xfrm>
            <a:off x="4544568" y="1645920"/>
            <a:ext cx="0" cy="2606040"/>
          </a:xfrm>
          <a:prstGeom prst="line">
            <a:avLst/>
          </a:prstGeom>
          <a:noFill/>
          <a:ln w="19050">
            <a:solidFill>
              <a:srgbClr val="DEE1E6"/>
            </a:solidFill>
            <a:prstDash val="solid"/>
          </a:ln>
        </p:spPr>
      </p:sp>
      <p:sp>
        <p:nvSpPr>
          <p:cNvPr id="17" name="pipe icon 0 bg"/>
          <p:cNvSpPr/>
          <p:nvPr/>
        </p:nvSpPr>
        <p:spPr>
          <a:xfrm>
            <a:off x="4343400" y="1444752"/>
            <a:ext cx="402336" cy="402336"/>
          </a:xfrm>
          <a:prstGeom prst="ellipse">
            <a:avLst/>
          </a:prstGeom>
          <a:solidFill>
            <a:srgbClr val="0052FF"/>
          </a:solidFill>
          <a:ln/>
        </p:spPr>
      </p:sp>
      <p:pic>
        <p:nvPicPr>
          <p:cNvPr id="18" name="pipe icon 0" descr="preencoded.png">    </p:cNvPr>
          <p:cNvPicPr>
            <a:picLocks noChangeAspect="1"/>
          </p:cNvPicPr>
          <p:nvPr/>
        </p:nvPicPr>
        <p:blipFill>
          <a:blip r:embed="rId1"/>
          <a:stretch>
            <a:fillRect/>
          </a:stretch>
        </p:blipFill>
        <p:spPr>
          <a:xfrm>
            <a:off x="4439961" y="1541313"/>
            <a:ext cx="209215" cy="209215"/>
          </a:xfrm>
          <a:prstGeom prst="rect">
            <a:avLst/>
          </a:prstGeom>
        </p:spPr>
      </p:pic>
      <p:sp>
        <p:nvSpPr>
          <p:cNvPr id="19" name="pipe text 0"/>
          <p:cNvSpPr txBox="1"/>
          <p:nvPr/>
        </p:nvSpPr>
        <p:spPr>
          <a:xfrm>
            <a:off x="4910328" y="1417320"/>
            <a:ext cx="3200400" cy="475488"/>
          </a:xfrm>
          <a:prstGeom prst="rect">
            <a:avLst/>
          </a:prstGeom>
          <a:noFill/>
          <a:ln/>
        </p:spPr>
        <p:txBody>
          <a:bodyPr wrap="square" lIns="0" tIns="0" rIns="0" bIns="0" rtlCol="0" anchor="ctr"/>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1. Spatial-index extract</a:t>
            </a:r>
            <a:endParaRPr lang="en-US" sz="1300" dirty="0"/>
          </a:p>
          <a:p>
            <a:pPr indent="0" marL="0">
              <a:buNone/>
            </a:pPr>
            <a:r>
              <a:rPr lang="en-US" sz="1100" dirty="0">
                <a:solidFill>
                  <a:srgbClr val="5B616E"/>
                </a:solidFill>
                <a:latin typeface="프리젠테이션 4 Regular" pitchFamily="34" charset="0"/>
                <a:ea typeface="프리젠테이션 4 Regular" pitchFamily="34" charset="-122"/>
                <a:cs typeface="프리젠테이션 4 Regular" pitchFamily="34" charset="-120"/>
              </a:rPr>
              <a:t>RTree + exact intersection on the rectangle</a:t>
            </a:r>
            <a:endParaRPr lang="en-US" sz="1300" dirty="0"/>
          </a:p>
        </p:txBody>
      </p:sp>
      <p:sp>
        <p:nvSpPr>
          <p:cNvPr id="20" name="status 0"/>
          <p:cNvSpPr txBox="1"/>
          <p:nvPr/>
        </p:nvSpPr>
        <p:spPr>
          <a:xfrm>
            <a:off x="8183880" y="1508760"/>
            <a:ext cx="502920" cy="274320"/>
          </a:xfrm>
          <a:prstGeom prst="rect">
            <a:avLst/>
          </a:prstGeom>
          <a:noFill/>
          <a:ln/>
        </p:spPr>
        <p:txBody>
          <a:bodyPr wrap="square" lIns="0" tIns="0" rIns="0" bIns="0" rtlCol="0" anchor="ctr"/>
          <a:lstStyle/>
          <a:p>
            <a:pPr algn="r" indent="0" marL="0">
              <a:buNone/>
            </a:pPr>
            <a:r>
              <a:rPr lang="en-US" sz="1000" spc="100" kern="0" dirty="0">
                <a:solidFill>
                  <a:srgbClr val="05B169"/>
                </a:solidFill>
                <a:latin typeface="프리젠테이션 7 Bold" pitchFamily="34" charset="0"/>
                <a:ea typeface="프리젠테이션 7 Bold" pitchFamily="34" charset="-122"/>
                <a:cs typeface="프리젠테이션 7 Bold" pitchFamily="34" charset="-120"/>
              </a:rPr>
              <a:t>DONE</a:t>
            </a:r>
            <a:endParaRPr lang="en-US" sz="1000" dirty="0"/>
          </a:p>
        </p:txBody>
      </p:sp>
      <p:sp>
        <p:nvSpPr>
          <p:cNvPr id="21" name="pipe icon 1 bg"/>
          <p:cNvSpPr/>
          <p:nvPr/>
        </p:nvSpPr>
        <p:spPr>
          <a:xfrm>
            <a:off x="4343400" y="1965960"/>
            <a:ext cx="402336" cy="402336"/>
          </a:xfrm>
          <a:prstGeom prst="ellipse">
            <a:avLst/>
          </a:prstGeom>
          <a:solidFill>
            <a:srgbClr val="0052FF"/>
          </a:solidFill>
          <a:ln/>
        </p:spPr>
      </p:sp>
      <p:pic>
        <p:nvPicPr>
          <p:cNvPr id="22" name="pipe icon 1" descr="preencoded.png">    </p:cNvPr>
          <p:cNvPicPr>
            <a:picLocks noChangeAspect="1"/>
          </p:cNvPicPr>
          <p:nvPr/>
        </p:nvPicPr>
        <p:blipFill>
          <a:blip r:embed="rId2"/>
          <a:stretch>
            <a:fillRect/>
          </a:stretch>
        </p:blipFill>
        <p:spPr>
          <a:xfrm>
            <a:off x="4439961" y="2062521"/>
            <a:ext cx="209215" cy="209215"/>
          </a:xfrm>
          <a:prstGeom prst="rect">
            <a:avLst/>
          </a:prstGeom>
        </p:spPr>
      </p:pic>
      <p:sp>
        <p:nvSpPr>
          <p:cNvPr id="23" name="pipe text 1"/>
          <p:cNvSpPr txBox="1"/>
          <p:nvPr/>
        </p:nvSpPr>
        <p:spPr>
          <a:xfrm>
            <a:off x="4910328" y="1938528"/>
            <a:ext cx="3200400" cy="475488"/>
          </a:xfrm>
          <a:prstGeom prst="rect">
            <a:avLst/>
          </a:prstGeom>
          <a:noFill/>
          <a:ln/>
        </p:spPr>
        <p:txBody>
          <a:bodyPr wrap="square" lIns="0" tIns="0" rIns="0" bIns="0" rtlCol="0" anchor="ctr"/>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2. Filter vessel groups</a:t>
            </a:r>
            <a:endParaRPr lang="en-US" sz="1300" dirty="0"/>
          </a:p>
          <a:p>
            <a:pPr indent="0" marL="0">
              <a:buNone/>
            </a:pPr>
            <a:r>
              <a:rPr lang="en-US" sz="1100" dirty="0">
                <a:solidFill>
                  <a:srgbClr val="5B616E"/>
                </a:solidFill>
                <a:latin typeface="프리젠테이션 4 Regular" pitchFamily="34" charset="0"/>
                <a:ea typeface="프리젠테이션 4 Regular" pitchFamily="34" charset="-122"/>
                <a:cs typeface="프리젠테이션 4 Regular" pitchFamily="34" charset="-120"/>
              </a:rPr>
              <a:t>Cargo &amp; Tanker → 10,943 rows</a:t>
            </a:r>
            <a:endParaRPr lang="en-US" sz="1300" dirty="0"/>
          </a:p>
        </p:txBody>
      </p:sp>
      <p:sp>
        <p:nvSpPr>
          <p:cNvPr id="24" name="status 1"/>
          <p:cNvSpPr txBox="1"/>
          <p:nvPr/>
        </p:nvSpPr>
        <p:spPr>
          <a:xfrm>
            <a:off x="8183880" y="2029968"/>
            <a:ext cx="502920" cy="274320"/>
          </a:xfrm>
          <a:prstGeom prst="rect">
            <a:avLst/>
          </a:prstGeom>
          <a:noFill/>
          <a:ln/>
        </p:spPr>
        <p:txBody>
          <a:bodyPr wrap="square" lIns="0" tIns="0" rIns="0" bIns="0" rtlCol="0" anchor="ctr"/>
          <a:lstStyle/>
          <a:p>
            <a:pPr algn="r" indent="0" marL="0">
              <a:buNone/>
            </a:pPr>
            <a:r>
              <a:rPr lang="en-US" sz="1000" spc="100" kern="0" dirty="0">
                <a:solidFill>
                  <a:srgbClr val="05B169"/>
                </a:solidFill>
                <a:latin typeface="프리젠테이션 7 Bold" pitchFamily="34" charset="0"/>
                <a:ea typeface="프리젠테이션 7 Bold" pitchFamily="34" charset="-122"/>
                <a:cs typeface="프리젠테이션 7 Bold" pitchFamily="34" charset="-120"/>
              </a:rPr>
              <a:t>DONE</a:t>
            </a:r>
            <a:endParaRPr lang="en-US" sz="1000" dirty="0"/>
          </a:p>
        </p:txBody>
      </p:sp>
      <p:sp>
        <p:nvSpPr>
          <p:cNvPr id="25" name="pipe icon 2 bg"/>
          <p:cNvSpPr/>
          <p:nvPr/>
        </p:nvSpPr>
        <p:spPr>
          <a:xfrm>
            <a:off x="4343400" y="2487168"/>
            <a:ext cx="402336" cy="402336"/>
          </a:xfrm>
          <a:prstGeom prst="ellipse">
            <a:avLst/>
          </a:prstGeom>
          <a:solidFill>
            <a:srgbClr val="EEF0F3"/>
          </a:solidFill>
          <a:ln/>
        </p:spPr>
      </p:sp>
      <p:pic>
        <p:nvPicPr>
          <p:cNvPr id="26" name="pipe icon 2" descr="preencoded.png">    </p:cNvPr>
          <p:cNvPicPr>
            <a:picLocks noChangeAspect="1"/>
          </p:cNvPicPr>
          <p:nvPr/>
        </p:nvPicPr>
        <p:blipFill>
          <a:blip r:embed="rId3"/>
          <a:stretch>
            <a:fillRect/>
          </a:stretch>
        </p:blipFill>
        <p:spPr>
          <a:xfrm>
            <a:off x="4439961" y="2583729"/>
            <a:ext cx="209215" cy="209215"/>
          </a:xfrm>
          <a:prstGeom prst="rect">
            <a:avLst/>
          </a:prstGeom>
        </p:spPr>
      </p:pic>
      <p:sp>
        <p:nvSpPr>
          <p:cNvPr id="27" name="pipe text 2"/>
          <p:cNvSpPr txBox="1"/>
          <p:nvPr/>
        </p:nvSpPr>
        <p:spPr>
          <a:xfrm>
            <a:off x="4910328" y="2459736"/>
            <a:ext cx="3200400" cy="475488"/>
          </a:xfrm>
          <a:prstGeom prst="rect">
            <a:avLst/>
          </a:prstGeom>
          <a:noFill/>
          <a:ln/>
        </p:spPr>
        <p:txBody>
          <a:bodyPr wrap="square" lIns="0" tIns="0" rIns="0" bIns="0" rtlCol="0" anchor="ctr"/>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3. Confirm study boundary</a:t>
            </a:r>
            <a:endParaRPr lang="en-US" sz="1300" dirty="0"/>
          </a:p>
          <a:p>
            <a:pPr indent="0" marL="0">
              <a:buNone/>
            </a:pPr>
            <a:r>
              <a:rPr lang="en-US" sz="1100" dirty="0">
                <a:solidFill>
                  <a:srgbClr val="5B616E"/>
                </a:solidFill>
                <a:latin typeface="프리젠테이션 4 Regular" pitchFamily="34" charset="0"/>
                <a:ea typeface="프리젠테이션 4 Regular" pitchFamily="34" charset="-122"/>
                <a:cs typeface="프리젠테이션 4 Regular" pitchFamily="34" charset="-120"/>
              </a:rPr>
              <a:t>ENC-based approach area, then rerun the filter</a:t>
            </a:r>
            <a:endParaRPr lang="en-US" sz="1300" dirty="0"/>
          </a:p>
        </p:txBody>
      </p:sp>
      <p:sp>
        <p:nvSpPr>
          <p:cNvPr id="28" name="status 2"/>
          <p:cNvSpPr txBox="1"/>
          <p:nvPr/>
        </p:nvSpPr>
        <p:spPr>
          <a:xfrm>
            <a:off x="8183880" y="2551176"/>
            <a:ext cx="502920" cy="274320"/>
          </a:xfrm>
          <a:prstGeom prst="rect">
            <a:avLst/>
          </a:prstGeom>
          <a:noFill/>
          <a:ln/>
        </p:spPr>
        <p:txBody>
          <a:bodyPr wrap="square" lIns="0" tIns="0" rIns="0" bIns="0" rtlCol="0" anchor="ctr"/>
          <a:lstStyle/>
          <a:p>
            <a:pPr algn="r" indent="0" marL="0">
              <a:buNone/>
            </a:pPr>
            <a:r>
              <a:rPr lang="en-US" sz="1000" spc="100" kern="0" dirty="0">
                <a:solidFill>
                  <a:srgbClr val="8A919E"/>
                </a:solidFill>
                <a:latin typeface="프리젠테이션 7 Bold" pitchFamily="34" charset="0"/>
                <a:ea typeface="프리젠테이션 7 Bold" pitchFamily="34" charset="-122"/>
                <a:cs typeface="프리젠테이션 7 Bold" pitchFamily="34" charset="-120"/>
              </a:rPr>
              <a:t>NEXT</a:t>
            </a:r>
            <a:endParaRPr lang="en-US" sz="1000" dirty="0"/>
          </a:p>
        </p:txBody>
      </p:sp>
      <p:sp>
        <p:nvSpPr>
          <p:cNvPr id="29" name="pipe icon 3 bg"/>
          <p:cNvSpPr/>
          <p:nvPr/>
        </p:nvSpPr>
        <p:spPr>
          <a:xfrm>
            <a:off x="4343400" y="3008376"/>
            <a:ext cx="402336" cy="402336"/>
          </a:xfrm>
          <a:prstGeom prst="ellipse">
            <a:avLst/>
          </a:prstGeom>
          <a:solidFill>
            <a:srgbClr val="EEF0F3"/>
          </a:solidFill>
          <a:ln/>
        </p:spPr>
      </p:sp>
      <p:pic>
        <p:nvPicPr>
          <p:cNvPr id="30" name="pipe icon 3" descr="preencoded.png">    </p:cNvPr>
          <p:cNvPicPr>
            <a:picLocks noChangeAspect="1"/>
          </p:cNvPicPr>
          <p:nvPr/>
        </p:nvPicPr>
        <p:blipFill>
          <a:blip r:embed="rId4"/>
          <a:stretch>
            <a:fillRect/>
          </a:stretch>
        </p:blipFill>
        <p:spPr>
          <a:xfrm>
            <a:off x="4439961" y="3104937"/>
            <a:ext cx="209215" cy="209215"/>
          </a:xfrm>
          <a:prstGeom prst="rect">
            <a:avLst/>
          </a:prstGeom>
        </p:spPr>
      </p:pic>
      <p:sp>
        <p:nvSpPr>
          <p:cNvPr id="31" name="pipe text 3"/>
          <p:cNvSpPr txBox="1"/>
          <p:nvPr/>
        </p:nvSpPr>
        <p:spPr>
          <a:xfrm>
            <a:off x="4910328" y="2980944"/>
            <a:ext cx="3200400" cy="475488"/>
          </a:xfrm>
          <a:prstGeom prst="rect">
            <a:avLst/>
          </a:prstGeom>
          <a:noFill/>
          <a:ln/>
        </p:spPr>
        <p:txBody>
          <a:bodyPr wrap="square" lIns="0" tIns="0" rIns="0" bIns="0" rtlCol="0" anchor="ctr"/>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4. Resolve vessel-type scope</a:t>
            </a:r>
            <a:endParaRPr lang="en-US" sz="1300" dirty="0"/>
          </a:p>
          <a:p>
            <a:pPr indent="0" marL="0">
              <a:buNone/>
            </a:pPr>
            <a:r>
              <a:rPr lang="en-US" sz="1100" dirty="0">
                <a:solidFill>
                  <a:srgbClr val="5B616E"/>
                </a:solidFill>
                <a:latin typeface="프리젠테이션 4 Regular" pitchFamily="34" charset="0"/>
                <a:ea typeface="프리젠테이션 4 Regular" pitchFamily="34" charset="-122"/>
                <a:cs typeface="프리젠테이션 4 Regular" pitchFamily="34" charset="-120"/>
              </a:rPr>
              <a:t>VesselType codebook; all Cargo or a sub-type?</a:t>
            </a:r>
            <a:endParaRPr lang="en-US" sz="1300" dirty="0"/>
          </a:p>
        </p:txBody>
      </p:sp>
      <p:sp>
        <p:nvSpPr>
          <p:cNvPr id="32" name="status 3"/>
          <p:cNvSpPr txBox="1"/>
          <p:nvPr/>
        </p:nvSpPr>
        <p:spPr>
          <a:xfrm>
            <a:off x="8183880" y="3072384"/>
            <a:ext cx="502920" cy="274320"/>
          </a:xfrm>
          <a:prstGeom prst="rect">
            <a:avLst/>
          </a:prstGeom>
          <a:noFill/>
          <a:ln/>
        </p:spPr>
        <p:txBody>
          <a:bodyPr wrap="square" lIns="0" tIns="0" rIns="0" bIns="0" rtlCol="0" anchor="ctr"/>
          <a:lstStyle/>
          <a:p>
            <a:pPr algn="r" indent="0" marL="0">
              <a:buNone/>
            </a:pPr>
            <a:r>
              <a:rPr lang="en-US" sz="1000" spc="100" kern="0" dirty="0">
                <a:solidFill>
                  <a:srgbClr val="8A919E"/>
                </a:solidFill>
                <a:latin typeface="프리젠테이션 7 Bold" pitchFamily="34" charset="0"/>
                <a:ea typeface="프리젠테이션 7 Bold" pitchFamily="34" charset="-122"/>
                <a:cs typeface="프리젠테이션 7 Bold" pitchFamily="34" charset="-120"/>
              </a:rPr>
              <a:t>NEXT</a:t>
            </a:r>
            <a:endParaRPr lang="en-US" sz="1000" dirty="0"/>
          </a:p>
        </p:txBody>
      </p:sp>
      <p:sp>
        <p:nvSpPr>
          <p:cNvPr id="33" name="pipe icon 4 bg"/>
          <p:cNvSpPr/>
          <p:nvPr/>
        </p:nvSpPr>
        <p:spPr>
          <a:xfrm>
            <a:off x="4343400" y="3529584"/>
            <a:ext cx="402336" cy="402336"/>
          </a:xfrm>
          <a:prstGeom prst="ellipse">
            <a:avLst/>
          </a:prstGeom>
          <a:solidFill>
            <a:srgbClr val="EEF0F3"/>
          </a:solidFill>
          <a:ln/>
        </p:spPr>
      </p:sp>
      <p:pic>
        <p:nvPicPr>
          <p:cNvPr id="34" name="pipe icon 4" descr="preencoded.png">    </p:cNvPr>
          <p:cNvPicPr>
            <a:picLocks noChangeAspect="1"/>
          </p:cNvPicPr>
          <p:nvPr/>
        </p:nvPicPr>
        <p:blipFill>
          <a:blip r:embed="rId5"/>
          <a:stretch>
            <a:fillRect/>
          </a:stretch>
        </p:blipFill>
        <p:spPr>
          <a:xfrm>
            <a:off x="4439961" y="3626145"/>
            <a:ext cx="209215" cy="209215"/>
          </a:xfrm>
          <a:prstGeom prst="rect">
            <a:avLst/>
          </a:prstGeom>
        </p:spPr>
      </p:pic>
      <p:sp>
        <p:nvSpPr>
          <p:cNvPr id="35" name="pipe text 4"/>
          <p:cNvSpPr txBox="1"/>
          <p:nvPr/>
        </p:nvSpPr>
        <p:spPr>
          <a:xfrm>
            <a:off x="4910328" y="3502152"/>
            <a:ext cx="3200400" cy="475488"/>
          </a:xfrm>
          <a:prstGeom prst="rect">
            <a:avLst/>
          </a:prstGeom>
          <a:noFill/>
          <a:ln/>
        </p:spPr>
        <p:txBody>
          <a:bodyPr wrap="square" lIns="0" tIns="0" rIns="0" bIns="0" rtlCol="0" anchor="ctr"/>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5. Clip or keep whole + QC</a:t>
            </a:r>
            <a:endParaRPr lang="en-US" sz="1300" dirty="0"/>
          </a:p>
          <a:p>
            <a:pPr indent="0" marL="0">
              <a:buNone/>
            </a:pPr>
            <a:r>
              <a:rPr lang="en-US" sz="1100" dirty="0">
                <a:solidFill>
                  <a:srgbClr val="5B616E"/>
                </a:solidFill>
                <a:latin typeface="프리젠테이션 4 Regular" pitchFamily="34" charset="0"/>
                <a:ea typeface="프리젠테이션 4 Regular" pitchFamily="34" charset="-122"/>
                <a:cs typeface="프리젠테이션 4 Regular" pitchFamily="34" charset="-120"/>
              </a:rPr>
              <a:t>Per analysis; missing MMSI / time, invalid paths</a:t>
            </a:r>
            <a:endParaRPr lang="en-US" sz="1300" dirty="0"/>
          </a:p>
        </p:txBody>
      </p:sp>
      <p:sp>
        <p:nvSpPr>
          <p:cNvPr id="36" name="status 4"/>
          <p:cNvSpPr txBox="1"/>
          <p:nvPr/>
        </p:nvSpPr>
        <p:spPr>
          <a:xfrm>
            <a:off x="8183880" y="3593592"/>
            <a:ext cx="502920" cy="274320"/>
          </a:xfrm>
          <a:prstGeom prst="rect">
            <a:avLst/>
          </a:prstGeom>
          <a:noFill/>
          <a:ln/>
        </p:spPr>
        <p:txBody>
          <a:bodyPr wrap="square" lIns="0" tIns="0" rIns="0" bIns="0" rtlCol="0" anchor="ctr"/>
          <a:lstStyle/>
          <a:p>
            <a:pPr algn="r" indent="0" marL="0">
              <a:buNone/>
            </a:pPr>
            <a:r>
              <a:rPr lang="en-US" sz="1000" spc="100" kern="0" dirty="0">
                <a:solidFill>
                  <a:srgbClr val="8A919E"/>
                </a:solidFill>
                <a:latin typeface="프리젠테이션 7 Bold" pitchFamily="34" charset="0"/>
                <a:ea typeface="프리젠테이션 7 Bold" pitchFamily="34" charset="-122"/>
                <a:cs typeface="프리젠테이션 7 Bold" pitchFamily="34" charset="-120"/>
              </a:rPr>
              <a:t>NEXT</a:t>
            </a:r>
            <a:endParaRPr lang="en-US" sz="1000" dirty="0"/>
          </a:p>
        </p:txBody>
      </p:sp>
      <p:sp>
        <p:nvSpPr>
          <p:cNvPr id="37" name="pipe icon 5 bg"/>
          <p:cNvSpPr/>
          <p:nvPr/>
        </p:nvSpPr>
        <p:spPr>
          <a:xfrm>
            <a:off x="4343400" y="4050792"/>
            <a:ext cx="402336" cy="402336"/>
          </a:xfrm>
          <a:prstGeom prst="ellipse">
            <a:avLst/>
          </a:prstGeom>
          <a:solidFill>
            <a:srgbClr val="EEF0F3"/>
          </a:solidFill>
          <a:ln/>
        </p:spPr>
      </p:sp>
      <p:pic>
        <p:nvPicPr>
          <p:cNvPr id="38" name="pipe icon 5" descr="preencoded.png">    </p:cNvPr>
          <p:cNvPicPr>
            <a:picLocks noChangeAspect="1"/>
          </p:cNvPicPr>
          <p:nvPr/>
        </p:nvPicPr>
        <p:blipFill>
          <a:blip r:embed="rId6"/>
          <a:stretch>
            <a:fillRect/>
          </a:stretch>
        </p:blipFill>
        <p:spPr>
          <a:xfrm>
            <a:off x="4439961" y="4147353"/>
            <a:ext cx="209215" cy="209215"/>
          </a:xfrm>
          <a:prstGeom prst="rect">
            <a:avLst/>
          </a:prstGeom>
        </p:spPr>
      </p:pic>
      <p:sp>
        <p:nvSpPr>
          <p:cNvPr id="39" name="pipe text 5"/>
          <p:cNvSpPr txBox="1"/>
          <p:nvPr/>
        </p:nvSpPr>
        <p:spPr>
          <a:xfrm>
            <a:off x="4910328" y="4023360"/>
            <a:ext cx="3200400" cy="475488"/>
          </a:xfrm>
          <a:prstGeom prst="rect">
            <a:avLst/>
          </a:prstGeom>
          <a:noFill/>
          <a:ln/>
        </p:spPr>
        <p:txBody>
          <a:bodyPr wrap="square" lIns="0" tIns="0" rIns="0" bIns="0" rtlCol="0" anchor="ctr"/>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6. Reproject &amp; build dataset</a:t>
            </a:r>
            <a:endParaRPr lang="en-US" sz="1300" dirty="0"/>
          </a:p>
          <a:p>
            <a:pPr indent="0" marL="0">
              <a:buNone/>
            </a:pPr>
            <a:r>
              <a:rPr lang="en-US" sz="1100" dirty="0">
                <a:solidFill>
                  <a:srgbClr val="5B616E"/>
                </a:solidFill>
                <a:latin typeface="프리젠테이션 4 Regular" pitchFamily="34" charset="0"/>
                <a:ea typeface="프리젠테이션 4 Regular" pitchFamily="34" charset="-122"/>
                <a:cs typeface="프리젠테이션 4 Regular" pitchFamily="34" charset="-120"/>
              </a:rPr>
              <a:t>EPSG:4269 → UTM 18N; GeoPandas → GeoParquet</a:t>
            </a:r>
            <a:endParaRPr lang="en-US" sz="1300" dirty="0"/>
          </a:p>
        </p:txBody>
      </p:sp>
      <p:sp>
        <p:nvSpPr>
          <p:cNvPr id="40" name="status 5"/>
          <p:cNvSpPr txBox="1"/>
          <p:nvPr/>
        </p:nvSpPr>
        <p:spPr>
          <a:xfrm>
            <a:off x="8183880" y="4114800"/>
            <a:ext cx="502920" cy="274320"/>
          </a:xfrm>
          <a:prstGeom prst="rect">
            <a:avLst/>
          </a:prstGeom>
          <a:noFill/>
          <a:ln/>
        </p:spPr>
        <p:txBody>
          <a:bodyPr wrap="square" lIns="0" tIns="0" rIns="0" bIns="0" rtlCol="0" anchor="ctr"/>
          <a:lstStyle/>
          <a:p>
            <a:pPr algn="r" indent="0" marL="0">
              <a:buNone/>
            </a:pPr>
            <a:r>
              <a:rPr lang="en-US" sz="1000" spc="100" kern="0" dirty="0">
                <a:solidFill>
                  <a:srgbClr val="8A919E"/>
                </a:solidFill>
                <a:latin typeface="프리젠테이션 7 Bold" pitchFamily="34" charset="0"/>
                <a:ea typeface="프리젠테이션 7 Bold" pitchFamily="34" charset="-122"/>
                <a:cs typeface="프리젠테이션 7 Bold" pitchFamily="34" charset="-120"/>
              </a:rPr>
              <a:t>NEXT</a:t>
            </a:r>
            <a:endParaRPr lang="en-US" sz="1000" dirty="0"/>
          </a:p>
        </p:txBody>
      </p:sp>
      <p:sp>
        <p:nvSpPr>
          <p:cNvPr id="41" name="refs"/>
          <p:cNvSpPr txBox="1"/>
          <p:nvPr/>
        </p:nvSpPr>
        <p:spPr>
          <a:xfrm>
            <a:off x="4343400" y="4553712"/>
            <a:ext cx="4343400" cy="182880"/>
          </a:xfrm>
          <a:prstGeom prst="rect">
            <a:avLst/>
          </a:prstGeom>
          <a:noFill/>
          <a:ln/>
        </p:spPr>
        <p:txBody>
          <a:bodyPr wrap="square" lIns="0" tIns="0" rIns="0" bIns="0" rtlCol="0" anchor="ctr"/>
          <a:lstStyle/>
          <a:p>
            <a:pPr indent="0" marL="0">
              <a:buNone/>
            </a:pPr>
            <a:r>
              <a:rPr lang="en-US" sz="900" dirty="0">
                <a:solidFill>
                  <a:srgbClr val="8A919E"/>
                </a:solidFill>
                <a:latin typeface="프리젠테이션 4 Regular" pitchFamily="34" charset="0"/>
                <a:ea typeface="프리젠테이션 4 Regular" pitchFamily="34" charset="-122"/>
                <a:cs typeface="프리젠테이션 4 Regular" pitchFamily="34" charset="-120"/>
              </a:rPr>
              <a:t>[1] NOAA OCM, AIS Vessel Tracks 2024   [3] NOAA OCS, Electronic Navigational Charts</a:t>
            </a:r>
            <a:endParaRPr lang="en-US" sz="9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92608"/>
            <a:ext cx="5486400" cy="256032"/>
          </a:xfrm>
          <a:prstGeom prst="rect">
            <a:avLst/>
          </a:prstGeom>
          <a:noFill/>
          <a:ln/>
        </p:spPr>
        <p:txBody>
          <a:bodyPr wrap="square" lIns="0" tIns="0" rIns="0" bIns="0" rtlCol="0"/>
          <a:lstStyle/>
          <a:p>
            <a:pPr indent="0" marL="0">
              <a:buNone/>
            </a:pPr>
            <a:r>
              <a:rPr lang="en-US" sz="1100" spc="150" kern="0" dirty="0">
                <a:solidFill>
                  <a:schemeClr val="accent1"/>
                </a:solidFill>
                <a:latin typeface="프리젠테이션 7 Bold" pitchFamily="34" charset="0"/>
                <a:ea typeface="프리젠테이션 7 Bold" pitchFamily="34" charset="-122"/>
                <a:cs typeface="프리젠테이션 7 Bold" pitchFamily="34" charset="-120"/>
              </a:rPr>
              <a:t>06 — ANALYSIS DESIGN</a:t>
            </a:r>
            <a:endParaRPr lang="en-US" sz="1100" dirty="0"/>
          </a:p>
        </p:txBody>
      </p:sp>
      <p:sp>
        <p:nvSpPr>
          <p:cNvPr id="3" name="Text 0"/>
          <p:cNvSpPr/>
          <p:nvPr>
            <p:ph idx="101" type="title" hasCustomPrompt="1"/>
          </p:nvPr>
        </p:nvSpPr>
        <p:spPr>
          <a:xfrm>
            <a:off x="457200" y="548640"/>
            <a:ext cx="8229600" cy="685800"/>
          </a:xfrm>
          <a:prstGeom prst="rect">
            <a:avLst/>
          </a:prstGeom>
          <a:noFill/>
          <a:ln/>
        </p:spPr>
        <p:txBody>
          <a:bodyPr wrap="square" lIns="0" tIns="0" rIns="0" bIns="0" rtlCol="0" anchor="t"/>
          <a:lstStyle/>
          <a:p>
            <a:pPr algn="l" indent="0" marL="0">
              <a:buNone/>
            </a:pPr>
            <a:r>
              <a:rPr lang="en-US" sz="3600" dirty="0">
                <a:solidFill>
                  <a:schemeClr val="tx1"/>
                </a:solidFill>
                <a:latin typeface="프리젠테이션 4 Regular" pitchFamily="34" charset="0"/>
                <a:ea typeface="프리젠테이션 4 Regular" pitchFamily="34" charset="-122"/>
                <a:cs typeface="프리젠테이션 4 Regular" pitchFamily="34" charset="-120"/>
              </a:rPr>
              <a:t>Why grid resolution matters</a:t>
            </a:r>
            <a:endParaRPr lang="en-US" sz="3600" dirty="0"/>
          </a:p>
        </p:txBody>
      </p:sp>
      <p:sp>
        <p:nvSpPr>
          <p:cNvPr id="4" name="lead"/>
          <p:cNvSpPr txBox="1"/>
          <p:nvPr/>
        </p:nvSpPr>
        <p:spPr>
          <a:xfrm>
            <a:off x="457200" y="1298448"/>
            <a:ext cx="8229600" cy="292608"/>
          </a:xfrm>
          <a:prstGeom prst="rect">
            <a:avLst/>
          </a:prstGeom>
          <a:noFill/>
          <a:ln/>
        </p:spPr>
        <p:txBody>
          <a:bodyPr wrap="square" lIns="0" tIns="0" rIns="0" bIns="0" rtlCol="0" anchor="ctr"/>
          <a:lstStyle/>
          <a:p>
            <a:pPr indent="0" marL="0">
              <a:buNone/>
            </a:pPr>
            <a:r>
              <a:rPr lang="en-US" sz="1500" dirty="0">
                <a:solidFill>
                  <a:srgbClr val="5B616E"/>
                </a:solidFill>
                <a:latin typeface="프리젠테이션 5 Medium" pitchFamily="34" charset="0"/>
                <a:ea typeface="프리젠테이션 5 Medium" pitchFamily="34" charset="-122"/>
                <a:cs typeface="프리젠테이션 5 Medium" pitchFamily="34" charset="-120"/>
              </a:rPr>
              <a:t>Finer cells show more detail — not automatically more accurate results</a:t>
            </a:r>
            <a:endParaRPr lang="en-US" sz="1500" dirty="0"/>
          </a:p>
        </p:txBody>
      </p:sp>
      <p:pic>
        <p:nvPicPr>
          <p:cNvPr id="5" name="grid panel 250 m" descr="Example track over a 250 m grid">    </p:cNvPr>
          <p:cNvPicPr>
            <a:picLocks noChangeAspect="1"/>
          </p:cNvPicPr>
          <p:nvPr/>
        </p:nvPicPr>
        <p:blipFill>
          <a:blip r:embed="rId1"/>
          <a:stretch>
            <a:fillRect/>
          </a:stretch>
        </p:blipFill>
        <p:spPr>
          <a:xfrm>
            <a:off x="457200" y="1691640"/>
            <a:ext cx="1508760" cy="1508760"/>
          </a:xfrm>
          <a:prstGeom prst="rect">
            <a:avLst/>
          </a:prstGeom>
        </p:spPr>
      </p:pic>
      <p:sp>
        <p:nvSpPr>
          <p:cNvPr id="6" name="panel frame 0"/>
          <p:cNvSpPr/>
          <p:nvPr/>
        </p:nvSpPr>
        <p:spPr>
          <a:xfrm>
            <a:off x="457200" y="1691640"/>
            <a:ext cx="1508760" cy="1508760"/>
          </a:xfrm>
          <a:prstGeom prst="rect">
            <a:avLst/>
          </a:prstGeom>
          <a:ln w="9525">
            <a:solidFill>
              <a:srgbClr val="DEE1E6"/>
            </a:solidFill>
            <a:prstDash val="solid"/>
          </a:ln>
        </p:spPr>
      </p:sp>
      <p:sp>
        <p:nvSpPr>
          <p:cNvPr id="7" name="res 0"/>
          <p:cNvSpPr txBox="1"/>
          <p:nvPr/>
        </p:nvSpPr>
        <p:spPr>
          <a:xfrm>
            <a:off x="2103120" y="1673352"/>
            <a:ext cx="1051560" cy="384048"/>
          </a:xfrm>
          <a:prstGeom prst="rect">
            <a:avLst/>
          </a:prstGeom>
          <a:noFill/>
          <a:ln/>
        </p:spPr>
        <p:txBody>
          <a:bodyPr wrap="square" lIns="0" tIns="0" rIns="0" bIns="0" rtlCol="0" anchor="t"/>
          <a:lstStyle/>
          <a:p>
            <a:pPr indent="0" marL="0">
              <a:buNone/>
            </a:pPr>
            <a:r>
              <a:rPr lang="en-US" sz="2400" dirty="0">
                <a:solidFill>
                  <a:srgbClr val="0A0B0D"/>
                </a:solidFill>
                <a:latin typeface="프리젠테이션 4 Regular" pitchFamily="34" charset="0"/>
                <a:ea typeface="프리젠테이션 4 Regular" pitchFamily="34" charset="-122"/>
                <a:cs typeface="프리젠테이션 4 Regular" pitchFamily="34" charset="-120"/>
              </a:rPr>
              <a:t>250 m</a:t>
            </a:r>
            <a:endParaRPr lang="en-US" sz="2400" dirty="0"/>
          </a:p>
        </p:txBody>
      </p:sp>
      <p:sp>
        <p:nvSpPr>
          <p:cNvPr id="8" name="area 0"/>
          <p:cNvSpPr txBox="1"/>
          <p:nvPr/>
        </p:nvSpPr>
        <p:spPr>
          <a:xfrm>
            <a:off x="2103120" y="2404872"/>
            <a:ext cx="1097280" cy="365760"/>
          </a:xfrm>
          <a:prstGeom prst="rect">
            <a:avLst/>
          </a:prstGeom>
          <a:noFill/>
          <a:ln/>
        </p:spPr>
        <p:txBody>
          <a:bodyPr wrap="square" lIns="0" tIns="0" rIns="0" bIns="0" rtlCol="0" anchor="t"/>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0.0625 km²</a:t>
            </a:r>
            <a:endParaRPr lang="en-US" sz="1000" dirty="0"/>
          </a:p>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16 cells / km²</a:t>
            </a:r>
            <a:endParaRPr lang="en-US" sz="1000" dirty="0"/>
          </a:p>
        </p:txBody>
      </p:sp>
      <p:sp>
        <p:nvSpPr>
          <p:cNvPr id="9" name="cells 0"/>
          <p:cNvSpPr txBox="1"/>
          <p:nvPr/>
        </p:nvSpPr>
        <p:spPr>
          <a:xfrm>
            <a:off x="2103120" y="2788920"/>
            <a:ext cx="1097280" cy="438912"/>
          </a:xfrm>
          <a:prstGeom prst="rect">
            <a:avLst/>
          </a:prstGeom>
          <a:noFill/>
          <a:ln/>
        </p:spPr>
        <p:txBody>
          <a:bodyPr wrap="square" lIns="0" tIns="0" rIns="0" bIns="0" rtlCol="0" anchor="t"/>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463</a:t>
            </a:r>
            <a:endParaRPr lang="en-US" sz="1300" dirty="0"/>
          </a:p>
          <a:p>
            <a:pPr indent="0" marL="0">
              <a:buNone/>
            </a:pPr>
            <a:r>
              <a:rPr lang="en-US" sz="900" dirty="0">
                <a:solidFill>
                  <a:srgbClr val="5B616E"/>
                </a:solidFill>
                <a:latin typeface="프리젠테이션 4 Regular" pitchFamily="34" charset="0"/>
                <a:ea typeface="프리젠테이션 4 Regular" pitchFamily="34" charset="-122"/>
                <a:cs typeface="프리젠테이션 4 Regular" pitchFamily="34" charset="-120"/>
              </a:rPr>
              <a:t>cells crossed by the whole track</a:t>
            </a:r>
            <a:endParaRPr lang="en-US" sz="1300" dirty="0"/>
          </a:p>
        </p:txBody>
      </p:sp>
      <p:sp>
        <p:nvSpPr>
          <p:cNvPr id="10" name="tradeoff 0"/>
          <p:cNvSpPr txBox="1"/>
          <p:nvPr/>
        </p:nvSpPr>
        <p:spPr>
          <a:xfrm>
            <a:off x="457200" y="3310128"/>
            <a:ext cx="2651760" cy="457200"/>
          </a:xfrm>
          <a:prstGeom prst="rect">
            <a:avLst/>
          </a:prstGeom>
          <a:noFill/>
          <a:ln/>
        </p:spPr>
        <p:txBody>
          <a:bodyPr wrap="square" lIns="0" tIns="0" rIns="0" bIns="0" rtlCol="0" anchor="t"/>
          <a:lstStyle/>
          <a:p>
            <a:pPr indent="0" marL="0">
              <a:spcAft>
                <a:spcPts val="200"/>
              </a:spcAft>
              <a:buNone/>
            </a:pPr>
            <a:r>
              <a:rPr lang="en-US" sz="1050" dirty="0">
                <a:solidFill>
                  <a:srgbClr val="05B169"/>
                </a:solidFill>
                <a:latin typeface="프리젠테이션 7 Bold" pitchFamily="34" charset="0"/>
                <a:ea typeface="프리젠테이션 7 Bold" pitchFamily="34" charset="-122"/>
                <a:cs typeface="프리젠테이션 7 Bold" pitchFamily="34" charset="-120"/>
              </a:rPr>
              <a:t>+ </a:t>
            </a:r>
            <a:pPr indent="0" marL="0">
              <a:spcAft>
                <a:spcPts val="200"/>
              </a:spcAft>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Finer variation, narrow corridors</a:t>
            </a:r>
            <a:endParaRPr lang="en-US" sz="1050" dirty="0"/>
          </a:p>
          <a:p>
            <a:pPr indent="0" marL="0">
              <a:spcAft>
                <a:spcPts val="200"/>
              </a:spcAft>
              <a:buNone/>
            </a:pPr>
            <a:r>
              <a:rPr lang="en-US" sz="1050" dirty="0">
                <a:solidFill>
                  <a:srgbClr val="CF202F"/>
                </a:solidFill>
                <a:latin typeface="프리젠테이션 7 Bold" pitchFamily="34" charset="0"/>
                <a:ea typeface="프리젠테이션 7 Bold" pitchFamily="34" charset="-122"/>
                <a:cs typeface="프리젠테이션 7 Bold" pitchFamily="34" charset="-120"/>
              </a:rPr>
              <a:t>− </a:t>
            </a:r>
            <a:pPr indent="0" marL="0">
              <a:spcAft>
                <a:spcPts val="200"/>
              </a:spcAft>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More, sparser cells; fragmented hotspots</a:t>
            </a:r>
            <a:endParaRPr lang="en-US" sz="1050" dirty="0"/>
          </a:p>
        </p:txBody>
      </p:sp>
      <p:pic>
        <p:nvPicPr>
          <p:cNvPr id="11" name="grid panel 500 m" descr="Example track over a 500 m grid">    </p:cNvPr>
          <p:cNvPicPr>
            <a:picLocks noChangeAspect="1"/>
          </p:cNvPicPr>
          <p:nvPr/>
        </p:nvPicPr>
        <p:blipFill>
          <a:blip r:embed="rId2"/>
          <a:stretch>
            <a:fillRect/>
          </a:stretch>
        </p:blipFill>
        <p:spPr>
          <a:xfrm>
            <a:off x="3291840" y="1691640"/>
            <a:ext cx="1508760" cy="1508760"/>
          </a:xfrm>
          <a:prstGeom prst="rect">
            <a:avLst/>
          </a:prstGeom>
        </p:spPr>
      </p:pic>
      <p:sp>
        <p:nvSpPr>
          <p:cNvPr id="12" name="panel frame 1"/>
          <p:cNvSpPr/>
          <p:nvPr/>
        </p:nvSpPr>
        <p:spPr>
          <a:xfrm>
            <a:off x="3291840" y="1691640"/>
            <a:ext cx="1508760" cy="1508760"/>
          </a:xfrm>
          <a:prstGeom prst="rect">
            <a:avLst/>
          </a:prstGeom>
          <a:ln w="19050">
            <a:solidFill>
              <a:srgbClr val="0052FF"/>
            </a:solidFill>
            <a:prstDash val="solid"/>
          </a:ln>
        </p:spPr>
      </p:sp>
      <p:sp>
        <p:nvSpPr>
          <p:cNvPr id="13" name="res 1"/>
          <p:cNvSpPr txBox="1"/>
          <p:nvPr/>
        </p:nvSpPr>
        <p:spPr>
          <a:xfrm>
            <a:off x="4937760" y="1673352"/>
            <a:ext cx="1051560" cy="384048"/>
          </a:xfrm>
          <a:prstGeom prst="rect">
            <a:avLst/>
          </a:prstGeom>
          <a:noFill/>
          <a:ln/>
        </p:spPr>
        <p:txBody>
          <a:bodyPr wrap="square" lIns="0" tIns="0" rIns="0" bIns="0" rtlCol="0" anchor="t"/>
          <a:lstStyle/>
          <a:p>
            <a:pPr indent="0" marL="0">
              <a:buNone/>
            </a:pPr>
            <a:r>
              <a:rPr lang="en-US" sz="2400" dirty="0">
                <a:solidFill>
                  <a:srgbClr val="0052FF"/>
                </a:solidFill>
                <a:latin typeface="프리젠테이션 4 Regular" pitchFamily="34" charset="0"/>
                <a:ea typeface="프리젠테이션 4 Regular" pitchFamily="34" charset="-122"/>
                <a:cs typeface="프리젠테이션 4 Regular" pitchFamily="34" charset="-120"/>
              </a:rPr>
              <a:t>500 m</a:t>
            </a:r>
            <a:endParaRPr lang="en-US" sz="2400" dirty="0"/>
          </a:p>
        </p:txBody>
      </p:sp>
      <p:sp>
        <p:nvSpPr>
          <p:cNvPr id="14" name="primary pill"/>
          <p:cNvSpPr txBox="1"/>
          <p:nvPr/>
        </p:nvSpPr>
        <p:spPr>
          <a:xfrm>
            <a:off x="4937760" y="2103120"/>
            <a:ext cx="658368" cy="219456"/>
          </a:xfrm>
          <a:prstGeom prst="roundRect">
            <a:avLst>
              <a:gd name="adj" fmla="val 50000"/>
            </a:avLst>
          </a:prstGeom>
          <a:solidFill>
            <a:srgbClr val="0052FF"/>
          </a:solidFill>
          <a:ln/>
        </p:spPr>
        <p:txBody>
          <a:bodyPr wrap="square" lIns="0" tIns="0" rIns="0" bIns="0" rtlCol="0" anchor="ctr"/>
          <a:lstStyle/>
          <a:p>
            <a:pPr algn="ctr" indent="0" marL="0">
              <a:buNone/>
            </a:pPr>
            <a:r>
              <a:rPr lang="en-US" sz="950" dirty="0">
                <a:solidFill>
                  <a:srgbClr val="FFFFFF"/>
                </a:solidFill>
                <a:latin typeface="프리젠테이션 7 Bold" pitchFamily="34" charset="0"/>
                <a:ea typeface="프리젠테이션 7 Bold" pitchFamily="34" charset="-122"/>
                <a:cs typeface="프리젠테이션 7 Bold" pitchFamily="34" charset="-120"/>
              </a:rPr>
              <a:t>Primary</a:t>
            </a:r>
            <a:endParaRPr lang="en-US" sz="950" dirty="0"/>
          </a:p>
        </p:txBody>
      </p:sp>
      <p:sp>
        <p:nvSpPr>
          <p:cNvPr id="15" name="area 1"/>
          <p:cNvSpPr txBox="1"/>
          <p:nvPr/>
        </p:nvSpPr>
        <p:spPr>
          <a:xfrm>
            <a:off x="4937760" y="2404872"/>
            <a:ext cx="1097280" cy="365760"/>
          </a:xfrm>
          <a:prstGeom prst="rect">
            <a:avLst/>
          </a:prstGeom>
          <a:noFill/>
          <a:ln/>
        </p:spPr>
        <p:txBody>
          <a:bodyPr wrap="square" lIns="0" tIns="0" rIns="0" bIns="0" rtlCol="0" anchor="t"/>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0.25 km²</a:t>
            </a:r>
            <a:endParaRPr lang="en-US" sz="1000" dirty="0"/>
          </a:p>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4 cells / km²</a:t>
            </a:r>
            <a:endParaRPr lang="en-US" sz="1000" dirty="0"/>
          </a:p>
        </p:txBody>
      </p:sp>
      <p:sp>
        <p:nvSpPr>
          <p:cNvPr id="16" name="cells 1"/>
          <p:cNvSpPr txBox="1"/>
          <p:nvPr/>
        </p:nvSpPr>
        <p:spPr>
          <a:xfrm>
            <a:off x="4937760" y="2788920"/>
            <a:ext cx="1097280" cy="438912"/>
          </a:xfrm>
          <a:prstGeom prst="rect">
            <a:avLst/>
          </a:prstGeom>
          <a:noFill/>
          <a:ln/>
        </p:spPr>
        <p:txBody>
          <a:bodyPr wrap="square" lIns="0" tIns="0" rIns="0" bIns="0" rtlCol="0" anchor="t"/>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210</a:t>
            </a:r>
            <a:endParaRPr lang="en-US" sz="1300" dirty="0"/>
          </a:p>
          <a:p>
            <a:pPr indent="0" marL="0">
              <a:buNone/>
            </a:pPr>
            <a:r>
              <a:rPr lang="en-US" sz="900" dirty="0">
                <a:solidFill>
                  <a:srgbClr val="5B616E"/>
                </a:solidFill>
                <a:latin typeface="프리젠테이션 4 Regular" pitchFamily="34" charset="0"/>
                <a:ea typeface="프리젠테이션 4 Regular" pitchFamily="34" charset="-122"/>
                <a:cs typeface="프리젠테이션 4 Regular" pitchFamily="34" charset="-120"/>
              </a:rPr>
              <a:t>cells crossed by the whole track</a:t>
            </a:r>
            <a:endParaRPr lang="en-US" sz="1300" dirty="0"/>
          </a:p>
        </p:txBody>
      </p:sp>
      <p:sp>
        <p:nvSpPr>
          <p:cNvPr id="17" name="tradeoff 1"/>
          <p:cNvSpPr txBox="1"/>
          <p:nvPr/>
        </p:nvSpPr>
        <p:spPr>
          <a:xfrm>
            <a:off x="3291840" y="3310128"/>
            <a:ext cx="2651760" cy="457200"/>
          </a:xfrm>
          <a:prstGeom prst="rect">
            <a:avLst/>
          </a:prstGeom>
          <a:noFill/>
          <a:ln/>
        </p:spPr>
        <p:txBody>
          <a:bodyPr wrap="square" lIns="0" tIns="0" rIns="0" bIns="0" rtlCol="0" anchor="t"/>
          <a:lstStyle/>
          <a:p>
            <a:pPr indent="0" marL="0">
              <a:spcAft>
                <a:spcPts val="200"/>
              </a:spcAft>
              <a:buNone/>
            </a:pPr>
            <a:r>
              <a:rPr lang="en-US" sz="1050" dirty="0">
                <a:solidFill>
                  <a:srgbClr val="05B169"/>
                </a:solidFill>
                <a:latin typeface="프리젠테이션 7 Bold" pitchFamily="34" charset="0"/>
                <a:ea typeface="프리젠테이션 7 Bold" pitchFamily="34" charset="-122"/>
                <a:cs typeface="프리젠테이션 7 Bold" pitchFamily="34" charset="-120"/>
              </a:rPr>
              <a:t>+ </a:t>
            </a:r>
            <a:pPr indent="0" marL="0">
              <a:spcAft>
                <a:spcPts val="200"/>
              </a:spcAft>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Intermediate detail — primary setting</a:t>
            </a:r>
            <a:endParaRPr lang="en-US" sz="1050" dirty="0"/>
          </a:p>
          <a:p>
            <a:pPr indent="0" marL="0">
              <a:spcAft>
                <a:spcPts val="200"/>
              </a:spcAft>
              <a:buNone/>
            </a:pPr>
            <a:r>
              <a:rPr lang="en-US" sz="1050" dirty="0">
                <a:solidFill>
                  <a:srgbClr val="CF202F"/>
                </a:solidFill>
                <a:latin typeface="프리젠테이션 7 Bold" pitchFamily="34" charset="0"/>
                <a:ea typeface="프리젠테이션 7 Bold" pitchFamily="34" charset="-122"/>
                <a:cs typeface="프리젠테이션 7 Bold" pitchFamily="34" charset="-120"/>
              </a:rPr>
              <a:t>− </a:t>
            </a:r>
            <a:pPr indent="0" marL="0">
              <a:spcAft>
                <a:spcPts val="200"/>
              </a:spcAft>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Nearby routes can still merge or split</a:t>
            </a:r>
            <a:endParaRPr lang="en-US" sz="1050" dirty="0"/>
          </a:p>
        </p:txBody>
      </p:sp>
      <p:pic>
        <p:nvPicPr>
          <p:cNvPr id="18" name="grid panel 1 km" descr="Example track over a 1 km grid">    </p:cNvPr>
          <p:cNvPicPr>
            <a:picLocks noChangeAspect="1"/>
          </p:cNvPicPr>
          <p:nvPr/>
        </p:nvPicPr>
        <p:blipFill>
          <a:blip r:embed="rId3"/>
          <a:stretch>
            <a:fillRect/>
          </a:stretch>
        </p:blipFill>
        <p:spPr>
          <a:xfrm>
            <a:off x="6126480" y="1691640"/>
            <a:ext cx="1508760" cy="1508760"/>
          </a:xfrm>
          <a:prstGeom prst="rect">
            <a:avLst/>
          </a:prstGeom>
        </p:spPr>
      </p:pic>
      <p:sp>
        <p:nvSpPr>
          <p:cNvPr id="19" name="panel frame 2"/>
          <p:cNvSpPr/>
          <p:nvPr/>
        </p:nvSpPr>
        <p:spPr>
          <a:xfrm>
            <a:off x="6126480" y="1691640"/>
            <a:ext cx="1508760" cy="1508760"/>
          </a:xfrm>
          <a:prstGeom prst="rect">
            <a:avLst/>
          </a:prstGeom>
          <a:ln w="9525">
            <a:solidFill>
              <a:srgbClr val="DEE1E6"/>
            </a:solidFill>
            <a:prstDash val="solid"/>
          </a:ln>
        </p:spPr>
      </p:sp>
      <p:sp>
        <p:nvSpPr>
          <p:cNvPr id="20" name="res 2"/>
          <p:cNvSpPr txBox="1"/>
          <p:nvPr/>
        </p:nvSpPr>
        <p:spPr>
          <a:xfrm>
            <a:off x="7772400" y="1673352"/>
            <a:ext cx="1051560" cy="384048"/>
          </a:xfrm>
          <a:prstGeom prst="rect">
            <a:avLst/>
          </a:prstGeom>
          <a:noFill/>
          <a:ln/>
        </p:spPr>
        <p:txBody>
          <a:bodyPr wrap="square" lIns="0" tIns="0" rIns="0" bIns="0" rtlCol="0" anchor="t"/>
          <a:lstStyle/>
          <a:p>
            <a:pPr indent="0" marL="0">
              <a:buNone/>
            </a:pPr>
            <a:r>
              <a:rPr lang="en-US" sz="2400" dirty="0">
                <a:solidFill>
                  <a:srgbClr val="0A0B0D"/>
                </a:solidFill>
                <a:latin typeface="프리젠테이션 4 Regular" pitchFamily="34" charset="0"/>
                <a:ea typeface="프리젠테이션 4 Regular" pitchFamily="34" charset="-122"/>
                <a:cs typeface="프리젠테이션 4 Regular" pitchFamily="34" charset="-120"/>
              </a:rPr>
              <a:t>1 km</a:t>
            </a:r>
            <a:endParaRPr lang="en-US" sz="2400" dirty="0"/>
          </a:p>
        </p:txBody>
      </p:sp>
      <p:sp>
        <p:nvSpPr>
          <p:cNvPr id="21" name="area 2"/>
          <p:cNvSpPr txBox="1"/>
          <p:nvPr/>
        </p:nvSpPr>
        <p:spPr>
          <a:xfrm>
            <a:off x="7772400" y="2404872"/>
            <a:ext cx="1097280" cy="365760"/>
          </a:xfrm>
          <a:prstGeom prst="rect">
            <a:avLst/>
          </a:prstGeom>
          <a:noFill/>
          <a:ln/>
        </p:spPr>
        <p:txBody>
          <a:bodyPr wrap="square" lIns="0" tIns="0" rIns="0" bIns="0" rtlCol="0" anchor="t"/>
          <a:lstStyle/>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1 km²</a:t>
            </a:r>
            <a:endParaRPr lang="en-US" sz="1000" dirty="0"/>
          </a:p>
          <a:p>
            <a:pPr indent="0" marL="0">
              <a:buNone/>
            </a:pPr>
            <a:r>
              <a:rPr lang="en-US" sz="1000" dirty="0">
                <a:solidFill>
                  <a:srgbClr val="5B616E"/>
                </a:solidFill>
                <a:latin typeface="프리젠테이션 4 Regular" pitchFamily="34" charset="0"/>
                <a:ea typeface="프리젠테이션 4 Regular" pitchFamily="34" charset="-122"/>
                <a:cs typeface="프리젠테이션 4 Regular" pitchFamily="34" charset="-120"/>
              </a:rPr>
              <a:t>1 cells / km²</a:t>
            </a:r>
            <a:endParaRPr lang="en-US" sz="1000" dirty="0"/>
          </a:p>
        </p:txBody>
      </p:sp>
      <p:sp>
        <p:nvSpPr>
          <p:cNvPr id="22" name="cells 2"/>
          <p:cNvSpPr txBox="1"/>
          <p:nvPr/>
        </p:nvSpPr>
        <p:spPr>
          <a:xfrm>
            <a:off x="7772400" y="2788920"/>
            <a:ext cx="1097280" cy="438912"/>
          </a:xfrm>
          <a:prstGeom prst="rect">
            <a:avLst/>
          </a:prstGeom>
          <a:noFill/>
          <a:ln/>
        </p:spPr>
        <p:txBody>
          <a:bodyPr wrap="square" lIns="0" tIns="0" rIns="0" bIns="0" rtlCol="0" anchor="t"/>
          <a:lstStyle/>
          <a:p>
            <a:pPr indent="0" marL="0">
              <a:buNone/>
            </a:pPr>
            <a:r>
              <a:rPr lang="en-US" sz="1300" dirty="0">
                <a:solidFill>
                  <a:srgbClr val="0A0B0D"/>
                </a:solidFill>
                <a:latin typeface="프리젠테이션 7 Bold" pitchFamily="34" charset="0"/>
                <a:ea typeface="프리젠테이션 7 Bold" pitchFamily="34" charset="-122"/>
                <a:cs typeface="프리젠테이션 7 Bold" pitchFamily="34" charset="-120"/>
              </a:rPr>
              <a:t>101</a:t>
            </a:r>
            <a:endParaRPr lang="en-US" sz="1300" dirty="0"/>
          </a:p>
          <a:p>
            <a:pPr indent="0" marL="0">
              <a:buNone/>
            </a:pPr>
            <a:r>
              <a:rPr lang="en-US" sz="900" dirty="0">
                <a:solidFill>
                  <a:srgbClr val="5B616E"/>
                </a:solidFill>
                <a:latin typeface="프리젠테이션 4 Regular" pitchFamily="34" charset="0"/>
                <a:ea typeface="프리젠테이션 4 Regular" pitchFamily="34" charset="-122"/>
                <a:cs typeface="프리젠테이션 4 Regular" pitchFamily="34" charset="-120"/>
              </a:rPr>
              <a:t>cells crossed by the whole track</a:t>
            </a:r>
            <a:endParaRPr lang="en-US" sz="1300" dirty="0"/>
          </a:p>
        </p:txBody>
      </p:sp>
      <p:sp>
        <p:nvSpPr>
          <p:cNvPr id="23" name="tradeoff 2"/>
          <p:cNvSpPr txBox="1"/>
          <p:nvPr/>
        </p:nvSpPr>
        <p:spPr>
          <a:xfrm>
            <a:off x="6126480" y="3310128"/>
            <a:ext cx="2651760" cy="457200"/>
          </a:xfrm>
          <a:prstGeom prst="rect">
            <a:avLst/>
          </a:prstGeom>
          <a:noFill/>
          <a:ln/>
        </p:spPr>
        <p:txBody>
          <a:bodyPr wrap="square" lIns="0" tIns="0" rIns="0" bIns="0" rtlCol="0" anchor="t"/>
          <a:lstStyle/>
          <a:p>
            <a:pPr indent="0" marL="0">
              <a:spcAft>
                <a:spcPts val="200"/>
              </a:spcAft>
              <a:buNone/>
            </a:pPr>
            <a:r>
              <a:rPr lang="en-US" sz="1050" dirty="0">
                <a:solidFill>
                  <a:srgbClr val="05B169"/>
                </a:solidFill>
                <a:latin typeface="프리젠테이션 7 Bold" pitchFamily="34" charset="0"/>
                <a:ea typeface="프리젠테이션 7 Bold" pitchFamily="34" charset="-122"/>
                <a:cs typeface="프리젠테이션 7 Bold" pitchFamily="34" charset="-120"/>
              </a:rPr>
              <a:t>+ </a:t>
            </a:r>
            <a:pPr indent="0" marL="0">
              <a:spcAft>
                <a:spcPts val="200"/>
              </a:spcAft>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Broad concentrations, smooth overview</a:t>
            </a:r>
            <a:endParaRPr lang="en-US" sz="1050" dirty="0"/>
          </a:p>
          <a:p>
            <a:pPr indent="0" marL="0">
              <a:spcAft>
                <a:spcPts val="200"/>
              </a:spcAft>
              <a:buNone/>
            </a:pPr>
            <a:r>
              <a:rPr lang="en-US" sz="1050" dirty="0">
                <a:solidFill>
                  <a:srgbClr val="CF202F"/>
                </a:solidFill>
                <a:latin typeface="프리젠테이션 7 Bold" pitchFamily="34" charset="0"/>
                <a:ea typeface="프리젠테이션 7 Bold" pitchFamily="34" charset="-122"/>
                <a:cs typeface="프리젠테이션 7 Bold" pitchFamily="34" charset="-120"/>
              </a:rPr>
              <a:t>− </a:t>
            </a:r>
            <a:pPr indent="0" marL="0">
              <a:spcAft>
                <a:spcPts val="200"/>
              </a:spcAft>
              <a:buNone/>
            </a:pPr>
            <a:r>
              <a:rPr lang="en-US" sz="1050" dirty="0">
                <a:solidFill>
                  <a:srgbClr val="0A0B0D"/>
                </a:solidFill>
                <a:latin typeface="프리젠테이션 4 Regular" pitchFamily="34" charset="0"/>
                <a:ea typeface="프리젠테이션 4 Regular" pitchFamily="34" charset="-122"/>
                <a:cs typeface="프리젠테이션 4 Regular" pitchFamily="34" charset="-120"/>
              </a:rPr>
              <a:t>Distinct corridors merge; local detail hidden</a:t>
            </a:r>
            <a:endParaRPr lang="en-US" sz="1050" dirty="0"/>
          </a:p>
        </p:txBody>
      </p:sp>
      <p:sp>
        <p:nvSpPr>
          <p:cNvPr id="24" name="panel note"/>
          <p:cNvSpPr txBox="1"/>
          <p:nvPr/>
        </p:nvSpPr>
        <p:spPr>
          <a:xfrm>
            <a:off x="457200" y="3822192"/>
            <a:ext cx="8229600" cy="182880"/>
          </a:xfrm>
          <a:prstGeom prst="rect">
            <a:avLst/>
          </a:prstGeom>
          <a:noFill/>
          <a:ln/>
        </p:spPr>
        <p:txBody>
          <a:bodyPr wrap="square" lIns="0" tIns="0" rIns="0" bIns="0" rtlCol="0" anchor="ctr"/>
          <a:lstStyle/>
          <a:p>
            <a:pPr indent="0" marL="0">
              <a:buNone/>
            </a:pPr>
            <a:r>
              <a:rPr lang="en-US" sz="900" dirty="0">
                <a:solidFill>
                  <a:srgbClr val="8A919E"/>
                </a:solidFill>
                <a:latin typeface="프리젠테이션 4 Regular" pitchFamily="34" charset="0"/>
                <a:ea typeface="프리젠테이션 4 Regular" pitchFamily="34" charset="-122"/>
                <a:cs typeface="프리젠테이션 4 Regular" pitchFamily="34" charset="-120"/>
              </a:rPr>
              <a:t>Same 3.5 km window on the example track (OBJECTID 50958); shaded = cells the line crosses; grid origin arbitrary</a:t>
            </a:r>
            <a:endParaRPr lang="en-US" sz="900" dirty="0"/>
          </a:p>
        </p:txBody>
      </p:sp>
      <p:sp>
        <p:nvSpPr>
          <p:cNvPr id="25" name="plan card"/>
          <p:cNvSpPr/>
          <p:nvPr/>
        </p:nvSpPr>
        <p:spPr>
          <a:xfrm>
            <a:off x="457200" y="4069080"/>
            <a:ext cx="8229600" cy="548640"/>
          </a:xfrm>
          <a:prstGeom prst="roundRect">
            <a:avLst>
              <a:gd name="adj" fmla="val 36667"/>
            </a:avLst>
          </a:prstGeom>
          <a:solidFill>
            <a:srgbClr val="0A0B0D"/>
          </a:solidFill>
          <a:ln/>
        </p:spPr>
      </p:sp>
      <p:sp>
        <p:nvSpPr>
          <p:cNvPr id="26" name="plan text"/>
          <p:cNvSpPr txBox="1"/>
          <p:nvPr/>
        </p:nvSpPr>
        <p:spPr>
          <a:xfrm>
            <a:off x="685800" y="4069080"/>
            <a:ext cx="7863840" cy="548640"/>
          </a:xfrm>
          <a:prstGeom prst="rect">
            <a:avLst/>
          </a:prstGeom>
          <a:noFill/>
          <a:ln/>
        </p:spPr>
        <p:txBody>
          <a:bodyPr wrap="square" lIns="0" tIns="0" rIns="0" bIns="0" rtlCol="0" anchor="ctr"/>
          <a:lstStyle/>
          <a:p>
            <a:pPr indent="0" marL="0">
              <a:buNone/>
            </a:pPr>
            <a:r>
              <a:rPr lang="en-US" sz="1100" spc="150" kern="0" dirty="0">
                <a:solidFill>
                  <a:srgbClr val="7FA6FF"/>
                </a:solidFill>
                <a:latin typeface="프리젠테이션 7 Bold" pitchFamily="34" charset="0"/>
                <a:ea typeface="프리젠테이션 7 Bold" pitchFamily="34" charset="-122"/>
                <a:cs typeface="프리젠테이션 7 Bold" pitchFamily="34" charset="-120"/>
              </a:rPr>
              <a:t>PLAN  </a:t>
            </a:r>
            <a:pPr indent="0" marL="0">
              <a:buNone/>
            </a:pPr>
            <a:r>
              <a:rPr lang="en-US" sz="1100" dirty="0">
                <a:solidFill>
                  <a:srgbClr val="FFFFFF"/>
                </a:solidFill>
                <a:latin typeface="프리젠테이션 4 Regular" pitchFamily="34" charset="0"/>
                <a:ea typeface="프리젠테이션 4 Regular" pitchFamily="34" charset="-122"/>
                <a:cs typeface="프리젠테이션 4 Regular" pitchFamily="34" charset="-120"/>
              </a:rPr>
              <a:t>500 m primary → repeat at 250 m &amp; 1 km · unique MMSI per cell, top 10% (20% as sensitivity) · compare overlap &amp; location shift on a common reference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19E"/>
                </a:solidFill>
                <a:latin typeface="프리젠테이션 4 Regular"/>
                <a:ea typeface="프리젠테이션 4 Regular"/>
                <a:cs typeface="프리젠테이션 4 Regular"/>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eyebrow"/>
          <p:cNvSpPr txBox="1"/>
          <p:nvPr/>
        </p:nvSpPr>
        <p:spPr>
          <a:xfrm>
            <a:off x="457200" y="292608"/>
            <a:ext cx="5486400" cy="256032"/>
          </a:xfrm>
          <a:prstGeom prst="rect">
            <a:avLst/>
          </a:prstGeom>
          <a:noFill/>
          <a:ln/>
        </p:spPr>
        <p:txBody>
          <a:bodyPr wrap="square" lIns="0" tIns="0" rIns="0" bIns="0" rtlCol="0" anchor="ctr"/>
          <a:lstStyle/>
          <a:p>
            <a:pPr indent="0" marL="0">
              <a:buNone/>
            </a:pPr>
            <a:r>
              <a:rPr lang="en-US" sz="1100" spc="150" kern="0" dirty="0">
                <a:solidFill>
                  <a:srgbClr val="7FA6FF"/>
                </a:solidFill>
                <a:latin typeface="프리젠테이션 7 Bold" pitchFamily="34" charset="0"/>
                <a:ea typeface="프리젠테이션 7 Bold" pitchFamily="34" charset="-122"/>
                <a:cs typeface="프리젠테이션 7 Bold" pitchFamily="34" charset="-120"/>
              </a:rPr>
              <a:t>07 — EXPECTED OUTCOMES</a:t>
            </a:r>
            <a:endParaRPr lang="en-US" sz="1100" dirty="0"/>
          </a:p>
        </p:txBody>
      </p:sp>
      <p:sp>
        <p:nvSpPr>
          <p:cNvPr id="3" name="title"/>
          <p:cNvSpPr txBox="1"/>
          <p:nvPr/>
        </p:nvSpPr>
        <p:spPr>
          <a:xfrm>
            <a:off x="457200" y="548640"/>
            <a:ext cx="8229600" cy="685800"/>
          </a:xfrm>
          <a:prstGeom prst="rect">
            <a:avLst/>
          </a:prstGeom>
          <a:noFill/>
          <a:ln/>
        </p:spPr>
        <p:txBody>
          <a:bodyPr wrap="square" lIns="0" tIns="0" rIns="0" bIns="0" rtlCol="0" anchor="t"/>
          <a:lstStyle/>
          <a:p>
            <a:pPr indent="0" marL="0">
              <a:buNone/>
            </a:pPr>
            <a:r>
              <a:rPr lang="en-US" sz="3600" dirty="0">
                <a:solidFill>
                  <a:srgbClr val="FFFFFF"/>
                </a:solidFill>
                <a:latin typeface="프리젠테이션 4 Regular" pitchFamily="34" charset="0"/>
                <a:ea typeface="프리젠테이션 4 Regular" pitchFamily="34" charset="-122"/>
                <a:cs typeface="프리젠테이션 4 Regular" pitchFamily="34" charset="-120"/>
              </a:rPr>
              <a:t>What the priority-zone map enables</a:t>
            </a:r>
            <a:endParaRPr lang="en-US" sz="3600" dirty="0"/>
          </a:p>
        </p:txBody>
      </p:sp>
      <p:sp>
        <p:nvSpPr>
          <p:cNvPr id="4" name="deliv label"/>
          <p:cNvSpPr txBox="1"/>
          <p:nvPr/>
        </p:nvSpPr>
        <p:spPr>
          <a:xfrm>
            <a:off x="457200" y="1463040"/>
            <a:ext cx="2560320" cy="256032"/>
          </a:xfrm>
          <a:prstGeom prst="rect">
            <a:avLst/>
          </a:prstGeom>
          <a:noFill/>
          <a:ln/>
        </p:spPr>
        <p:txBody>
          <a:bodyPr wrap="square" lIns="0" tIns="0" rIns="0" bIns="0" rtlCol="0" anchor="ctr"/>
          <a:lstStyle/>
          <a:p>
            <a:pPr indent="0" marL="0">
              <a:buNone/>
            </a:pPr>
            <a:r>
              <a:rPr lang="en-US" sz="1100" spc="150" kern="0" dirty="0">
                <a:solidFill>
                  <a:srgbClr val="8A919E"/>
                </a:solidFill>
                <a:latin typeface="프리젠테이션 7 Bold" pitchFamily="34" charset="0"/>
                <a:ea typeface="프리젠테이션 7 Bold" pitchFamily="34" charset="-122"/>
                <a:cs typeface="프리젠테이션 7 Bold" pitchFamily="34" charset="-120"/>
              </a:rPr>
              <a:t>DELIVERABLES</a:t>
            </a:r>
            <a:endParaRPr lang="en-US" sz="1100" dirty="0"/>
          </a:p>
        </p:txBody>
      </p:sp>
      <p:sp>
        <p:nvSpPr>
          <p:cNvPr id="5" name="deliv 0"/>
          <p:cNvSpPr txBox="1"/>
          <p:nvPr/>
        </p:nvSpPr>
        <p:spPr>
          <a:xfrm>
            <a:off x="457200" y="1828800"/>
            <a:ext cx="2743200" cy="384048"/>
          </a:xfrm>
          <a:prstGeom prst="rect">
            <a:avLst/>
          </a:prstGeom>
          <a:noFill/>
          <a:ln/>
        </p:spPr>
        <p:txBody>
          <a:bodyPr wrap="square" lIns="0" tIns="0" rIns="0" bIns="0" rtlCol="0" anchor="ctr"/>
          <a:lstStyle/>
          <a:p>
            <a:pPr indent="0" marL="0">
              <a:buNone/>
            </a:pPr>
            <a:r>
              <a:rPr lang="en-US" sz="1400" dirty="0">
                <a:solidFill>
                  <a:srgbClr val="05B169"/>
                </a:solidFill>
                <a:latin typeface="프리젠테이션 7 Bold" pitchFamily="34" charset="0"/>
                <a:ea typeface="프리젠테이션 7 Bold" pitchFamily="34" charset="-122"/>
                <a:cs typeface="프리젠테이션 7 Bold" pitchFamily="34" charset="-120"/>
              </a:rPr>
              <a:t>✓  </a:t>
            </a:r>
            <a:pPr indent="0" marL="0">
              <a:buNone/>
            </a:pPr>
            <a:r>
              <a:rPr lang="en-US" sz="1400" dirty="0">
                <a:solidFill>
                  <a:srgbClr val="FFFFFF"/>
                </a:solidFill>
                <a:latin typeface="프리젠테이션 4 Regular" pitchFamily="34" charset="0"/>
                <a:ea typeface="프리젠테이션 4 Regular" pitchFamily="34" charset="-122"/>
                <a:cs typeface="프리젠테이션 4 Regular" pitchFamily="34" charset="-120"/>
              </a:rPr>
              <a:t>Route maps by vessel group</a:t>
            </a:r>
            <a:endParaRPr lang="en-US" sz="1400" dirty="0"/>
          </a:p>
        </p:txBody>
      </p:sp>
      <p:sp>
        <p:nvSpPr>
          <p:cNvPr id="6" name="deliv 1"/>
          <p:cNvSpPr txBox="1"/>
          <p:nvPr/>
        </p:nvSpPr>
        <p:spPr>
          <a:xfrm>
            <a:off x="457200" y="2286000"/>
            <a:ext cx="2743200" cy="384048"/>
          </a:xfrm>
          <a:prstGeom prst="rect">
            <a:avLst/>
          </a:prstGeom>
          <a:noFill/>
          <a:ln/>
        </p:spPr>
        <p:txBody>
          <a:bodyPr wrap="square" lIns="0" tIns="0" rIns="0" bIns="0" rtlCol="0" anchor="ctr"/>
          <a:lstStyle/>
          <a:p>
            <a:pPr indent="0" marL="0">
              <a:buNone/>
            </a:pPr>
            <a:r>
              <a:rPr lang="en-US" sz="1400" dirty="0">
                <a:solidFill>
                  <a:srgbClr val="05B169"/>
                </a:solidFill>
                <a:latin typeface="프리젠테이션 7 Bold" pitchFamily="34" charset="0"/>
                <a:ea typeface="프리젠테이션 7 Bold" pitchFamily="34" charset="-122"/>
                <a:cs typeface="프리젠테이션 7 Bold" pitchFamily="34" charset="-120"/>
              </a:rPr>
              <a:t>✓  </a:t>
            </a:r>
            <a:pPr indent="0" marL="0">
              <a:buNone/>
            </a:pPr>
            <a:r>
              <a:rPr lang="en-US" sz="1400" dirty="0">
                <a:solidFill>
                  <a:srgbClr val="FFFFFF"/>
                </a:solidFill>
                <a:latin typeface="프리젠테이션 4 Regular" pitchFamily="34" charset="0"/>
                <a:ea typeface="프리젠테이션 4 Regular" pitchFamily="34" charset="-122"/>
                <a:cs typeface="프리젠테이션 4 Regular" pitchFamily="34" charset="-120"/>
              </a:rPr>
              <a:t>Monthly traffic statistics</a:t>
            </a:r>
            <a:endParaRPr lang="en-US" sz="1400" dirty="0"/>
          </a:p>
        </p:txBody>
      </p:sp>
      <p:sp>
        <p:nvSpPr>
          <p:cNvPr id="7" name="deliv 2"/>
          <p:cNvSpPr txBox="1"/>
          <p:nvPr/>
        </p:nvSpPr>
        <p:spPr>
          <a:xfrm>
            <a:off x="457200" y="2743200"/>
            <a:ext cx="2743200" cy="384048"/>
          </a:xfrm>
          <a:prstGeom prst="rect">
            <a:avLst/>
          </a:prstGeom>
          <a:noFill/>
          <a:ln/>
        </p:spPr>
        <p:txBody>
          <a:bodyPr wrap="square" lIns="0" tIns="0" rIns="0" bIns="0" rtlCol="0" anchor="ctr"/>
          <a:lstStyle/>
          <a:p>
            <a:pPr indent="0" marL="0">
              <a:buNone/>
            </a:pPr>
            <a:r>
              <a:rPr lang="en-US" sz="1400" dirty="0">
                <a:solidFill>
                  <a:srgbClr val="05B169"/>
                </a:solidFill>
                <a:latin typeface="프리젠테이션 7 Bold" pitchFamily="34" charset="0"/>
                <a:ea typeface="프리젠테이션 7 Bold" pitchFamily="34" charset="-122"/>
                <a:cs typeface="프리젠테이션 7 Bold" pitchFamily="34" charset="-120"/>
              </a:rPr>
              <a:t>✓  </a:t>
            </a:r>
            <a:pPr indent="0" marL="0">
              <a:buNone/>
            </a:pPr>
            <a:r>
              <a:rPr lang="en-US" sz="1400" dirty="0">
                <a:solidFill>
                  <a:srgbClr val="FFFFFF"/>
                </a:solidFill>
                <a:latin typeface="프리젠테이션 4 Regular" pitchFamily="34" charset="0"/>
                <a:ea typeface="프리젠테이션 4 Regular" pitchFamily="34" charset="-122"/>
                <a:cs typeface="프리젠테이션 4 Regular" pitchFamily="34" charset="-120"/>
              </a:rPr>
              <a:t>Priority zone map &amp; table</a:t>
            </a:r>
            <a:endParaRPr lang="en-US" sz="1400" dirty="0"/>
          </a:p>
        </p:txBody>
      </p:sp>
      <p:sp>
        <p:nvSpPr>
          <p:cNvPr id="8" name="deliv 3"/>
          <p:cNvSpPr txBox="1"/>
          <p:nvPr/>
        </p:nvSpPr>
        <p:spPr>
          <a:xfrm>
            <a:off x="457200" y="3200400"/>
            <a:ext cx="2743200" cy="384048"/>
          </a:xfrm>
          <a:prstGeom prst="rect">
            <a:avLst/>
          </a:prstGeom>
          <a:noFill/>
          <a:ln/>
        </p:spPr>
        <p:txBody>
          <a:bodyPr wrap="square" lIns="0" tIns="0" rIns="0" bIns="0" rtlCol="0" anchor="ctr"/>
          <a:lstStyle/>
          <a:p>
            <a:pPr indent="0" marL="0">
              <a:buNone/>
            </a:pPr>
            <a:r>
              <a:rPr lang="en-US" sz="1400" dirty="0">
                <a:solidFill>
                  <a:srgbClr val="05B169"/>
                </a:solidFill>
                <a:latin typeface="프리젠테이션 7 Bold" pitchFamily="34" charset="0"/>
                <a:ea typeface="프리젠테이션 7 Bold" pitchFamily="34" charset="-122"/>
                <a:cs typeface="프리젠테이션 7 Bold" pitchFamily="34" charset="-120"/>
              </a:rPr>
              <a:t>✓  </a:t>
            </a:r>
            <a:pPr indent="0" marL="0">
              <a:buNone/>
            </a:pPr>
            <a:r>
              <a:rPr lang="en-US" sz="1400" dirty="0">
                <a:solidFill>
                  <a:srgbClr val="FFFFFF"/>
                </a:solidFill>
                <a:latin typeface="프리젠테이션 4 Regular" pitchFamily="34" charset="0"/>
                <a:ea typeface="프리젠테이션 4 Regular" pitchFamily="34" charset="-122"/>
                <a:cs typeface="프리젠테이션 4 Regular" pitchFamily="34" charset="-120"/>
              </a:rPr>
              <a:t>Robustness report across criteria</a:t>
            </a:r>
            <a:endParaRPr lang="en-US" sz="1400" dirty="0"/>
          </a:p>
        </p:txBody>
      </p:sp>
      <p:sp>
        <p:nvSpPr>
          <p:cNvPr id="9" name="app card 0"/>
          <p:cNvSpPr/>
          <p:nvPr/>
        </p:nvSpPr>
        <p:spPr>
          <a:xfrm>
            <a:off x="3429000" y="1463040"/>
            <a:ext cx="2514600" cy="1417320"/>
          </a:xfrm>
          <a:prstGeom prst="roundRect">
            <a:avLst>
              <a:gd name="adj" fmla="val 14194"/>
            </a:avLst>
          </a:prstGeom>
          <a:solidFill>
            <a:srgbClr val="1B1D22"/>
          </a:solidFill>
          <a:ln/>
        </p:spPr>
      </p:sp>
      <p:sp>
        <p:nvSpPr>
          <p:cNvPr id="10" name="app icon 0 bg"/>
          <p:cNvSpPr/>
          <p:nvPr/>
        </p:nvSpPr>
        <p:spPr>
          <a:xfrm>
            <a:off x="3630168" y="1664208"/>
            <a:ext cx="420624" cy="420624"/>
          </a:xfrm>
          <a:prstGeom prst="ellipse">
            <a:avLst/>
          </a:prstGeom>
          <a:solidFill>
            <a:srgbClr val="0052FF"/>
          </a:solidFill>
          <a:ln/>
        </p:spPr>
      </p:sp>
      <p:pic>
        <p:nvPicPr>
          <p:cNvPr id="11" name="app icon 0" descr="preencoded.png">    </p:cNvPr>
          <p:cNvPicPr>
            <a:picLocks noChangeAspect="1"/>
          </p:cNvPicPr>
          <p:nvPr/>
        </p:nvPicPr>
        <p:blipFill>
          <a:blip r:embed="rId1"/>
          <a:stretch>
            <a:fillRect/>
          </a:stretch>
        </p:blipFill>
        <p:spPr>
          <a:xfrm>
            <a:off x="3731118" y="1765158"/>
            <a:ext cx="218724" cy="218724"/>
          </a:xfrm>
          <a:prstGeom prst="rect">
            <a:avLst/>
          </a:prstGeom>
        </p:spPr>
      </p:pic>
      <p:sp>
        <p:nvSpPr>
          <p:cNvPr id="12" name="app h 0"/>
          <p:cNvSpPr txBox="1"/>
          <p:nvPr/>
        </p:nvSpPr>
        <p:spPr>
          <a:xfrm>
            <a:off x="4178808" y="1664208"/>
            <a:ext cx="1645920" cy="420624"/>
          </a:xfrm>
          <a:prstGeom prst="rect">
            <a:avLst/>
          </a:prstGeom>
          <a:noFill/>
          <a:ln/>
        </p:spPr>
        <p:txBody>
          <a:bodyPr wrap="square" lIns="0" tIns="0" rIns="0" bIns="0" rtlCol="0" anchor="ctr"/>
          <a:lstStyle/>
          <a:p>
            <a:pPr indent="0" marL="0">
              <a:buNone/>
            </a:pPr>
            <a:r>
              <a:rPr lang="en-US" sz="1350" dirty="0">
                <a:solidFill>
                  <a:srgbClr val="FFFFFF"/>
                </a:solidFill>
                <a:latin typeface="프리젠테이션 7 Bold" pitchFamily="34" charset="0"/>
                <a:ea typeface="프리젠테이션 7 Bold" pitchFamily="34" charset="-122"/>
                <a:cs typeface="프리젠테이션 7 Bold" pitchFamily="34" charset="-120"/>
              </a:rPr>
              <a:t>Efficient maritime patrol</a:t>
            </a:r>
            <a:endParaRPr lang="en-US" sz="1350" dirty="0"/>
          </a:p>
        </p:txBody>
      </p:sp>
      <p:sp>
        <p:nvSpPr>
          <p:cNvPr id="13" name="app d 0"/>
          <p:cNvSpPr txBox="1"/>
          <p:nvPr/>
        </p:nvSpPr>
        <p:spPr>
          <a:xfrm>
            <a:off x="3630168" y="2194560"/>
            <a:ext cx="2130552" cy="594360"/>
          </a:xfrm>
          <a:prstGeom prst="rect">
            <a:avLst/>
          </a:prstGeom>
          <a:noFill/>
          <a:ln/>
        </p:spPr>
        <p:txBody>
          <a:bodyPr wrap="square" lIns="0" tIns="0" rIns="0" bIns="0" rtlCol="0" anchor="t"/>
          <a:lstStyle/>
          <a:p>
            <a:pPr indent="0" marL="0">
              <a:buNone/>
            </a:pPr>
            <a:r>
              <a:rPr lang="en-US" sz="1150" dirty="0">
                <a:solidFill>
                  <a:srgbClr val="B8BEC8"/>
                </a:solidFill>
                <a:latin typeface="프리젠테이션 4 Regular" pitchFamily="34" charset="0"/>
                <a:ea typeface="프리젠테이션 4 Regular" pitchFamily="34" charset="-122"/>
                <a:cs typeface="프리젠테이션 4 Regular" pitchFamily="34" charset="-120"/>
              </a:rPr>
              <a:t>Allocate patrol and VTS attention to zones that persist across months and criteria.</a:t>
            </a:r>
            <a:endParaRPr lang="en-US" sz="1150" dirty="0"/>
          </a:p>
        </p:txBody>
      </p:sp>
      <p:sp>
        <p:nvSpPr>
          <p:cNvPr id="14" name="app card 1"/>
          <p:cNvSpPr/>
          <p:nvPr/>
        </p:nvSpPr>
        <p:spPr>
          <a:xfrm>
            <a:off x="6172200" y="1463040"/>
            <a:ext cx="2514600" cy="1417320"/>
          </a:xfrm>
          <a:prstGeom prst="roundRect">
            <a:avLst>
              <a:gd name="adj" fmla="val 14194"/>
            </a:avLst>
          </a:prstGeom>
          <a:solidFill>
            <a:srgbClr val="1B1D22"/>
          </a:solidFill>
          <a:ln/>
        </p:spPr>
      </p:sp>
      <p:sp>
        <p:nvSpPr>
          <p:cNvPr id="15" name="app icon 1 bg"/>
          <p:cNvSpPr/>
          <p:nvPr/>
        </p:nvSpPr>
        <p:spPr>
          <a:xfrm>
            <a:off x="6373368" y="1664208"/>
            <a:ext cx="420624" cy="420624"/>
          </a:xfrm>
          <a:prstGeom prst="ellipse">
            <a:avLst/>
          </a:prstGeom>
          <a:solidFill>
            <a:srgbClr val="26292F"/>
          </a:solidFill>
          <a:ln/>
        </p:spPr>
      </p:sp>
      <p:pic>
        <p:nvPicPr>
          <p:cNvPr id="16" name="app icon 1" descr="preencoded.png">    </p:cNvPr>
          <p:cNvPicPr>
            <a:picLocks noChangeAspect="1"/>
          </p:cNvPicPr>
          <p:nvPr/>
        </p:nvPicPr>
        <p:blipFill>
          <a:blip r:embed="rId2"/>
          <a:stretch>
            <a:fillRect/>
          </a:stretch>
        </p:blipFill>
        <p:spPr>
          <a:xfrm>
            <a:off x="6474318" y="1765158"/>
            <a:ext cx="218724" cy="218724"/>
          </a:xfrm>
          <a:prstGeom prst="rect">
            <a:avLst/>
          </a:prstGeom>
        </p:spPr>
      </p:pic>
      <p:sp>
        <p:nvSpPr>
          <p:cNvPr id="17" name="app h 1"/>
          <p:cNvSpPr txBox="1"/>
          <p:nvPr/>
        </p:nvSpPr>
        <p:spPr>
          <a:xfrm>
            <a:off x="6922008" y="1664208"/>
            <a:ext cx="1645920" cy="420624"/>
          </a:xfrm>
          <a:prstGeom prst="rect">
            <a:avLst/>
          </a:prstGeom>
          <a:noFill/>
          <a:ln/>
        </p:spPr>
        <p:txBody>
          <a:bodyPr wrap="square" lIns="0" tIns="0" rIns="0" bIns="0" rtlCol="0" anchor="ctr"/>
          <a:lstStyle/>
          <a:p>
            <a:pPr indent="0" marL="0">
              <a:buNone/>
            </a:pPr>
            <a:r>
              <a:rPr lang="en-US" sz="1350" dirty="0">
                <a:solidFill>
                  <a:srgbClr val="FFFFFF"/>
                </a:solidFill>
                <a:latin typeface="프리젠테이션 7 Bold" pitchFamily="34" charset="0"/>
                <a:ea typeface="프리젠테이션 7 Bold" pitchFamily="34" charset="-122"/>
                <a:cs typeface="프리젠테이션 7 Bold" pitchFamily="34" charset="-120"/>
              </a:rPr>
              <a:t>Spot ghost / illicit vessels</a:t>
            </a:r>
            <a:endParaRPr lang="en-US" sz="1350" dirty="0"/>
          </a:p>
        </p:txBody>
      </p:sp>
      <p:sp>
        <p:nvSpPr>
          <p:cNvPr id="18" name="app d 1"/>
          <p:cNvSpPr txBox="1"/>
          <p:nvPr/>
        </p:nvSpPr>
        <p:spPr>
          <a:xfrm>
            <a:off x="6373368" y="2194560"/>
            <a:ext cx="2130552" cy="594360"/>
          </a:xfrm>
          <a:prstGeom prst="rect">
            <a:avLst/>
          </a:prstGeom>
          <a:noFill/>
          <a:ln/>
        </p:spPr>
        <p:txBody>
          <a:bodyPr wrap="square" lIns="0" tIns="0" rIns="0" bIns="0" rtlCol="0" anchor="t"/>
          <a:lstStyle/>
          <a:p>
            <a:pPr indent="0" marL="0">
              <a:buNone/>
            </a:pPr>
            <a:r>
              <a:rPr lang="en-US" sz="1150" dirty="0">
                <a:solidFill>
                  <a:srgbClr val="B8BEC8"/>
                </a:solidFill>
                <a:latin typeface="프리젠테이션 4 Regular" pitchFamily="34" charset="0"/>
                <a:ea typeface="프리젠테이션 4 Regular" pitchFamily="34" charset="-122"/>
                <a:cs typeface="프리젠테이션 4 Regular" pitchFamily="34" charset="-120"/>
              </a:rPr>
              <a:t>Use the normal-traffic baseline to flag tracks that vanish or stray in busy zones.</a:t>
            </a:r>
            <a:endParaRPr lang="en-US" sz="1150" dirty="0"/>
          </a:p>
        </p:txBody>
      </p:sp>
      <p:sp>
        <p:nvSpPr>
          <p:cNvPr id="19" name="app card 2"/>
          <p:cNvSpPr/>
          <p:nvPr/>
        </p:nvSpPr>
        <p:spPr>
          <a:xfrm>
            <a:off x="3429000" y="3081528"/>
            <a:ext cx="2514600" cy="1417320"/>
          </a:xfrm>
          <a:prstGeom prst="roundRect">
            <a:avLst>
              <a:gd name="adj" fmla="val 14194"/>
            </a:avLst>
          </a:prstGeom>
          <a:solidFill>
            <a:srgbClr val="1B1D22"/>
          </a:solidFill>
          <a:ln/>
        </p:spPr>
      </p:sp>
      <p:sp>
        <p:nvSpPr>
          <p:cNvPr id="20" name="app icon 2 bg"/>
          <p:cNvSpPr/>
          <p:nvPr/>
        </p:nvSpPr>
        <p:spPr>
          <a:xfrm>
            <a:off x="3630168" y="3282696"/>
            <a:ext cx="420624" cy="420624"/>
          </a:xfrm>
          <a:prstGeom prst="ellipse">
            <a:avLst/>
          </a:prstGeom>
          <a:solidFill>
            <a:srgbClr val="26292F"/>
          </a:solidFill>
          <a:ln/>
        </p:spPr>
      </p:sp>
      <p:pic>
        <p:nvPicPr>
          <p:cNvPr id="21" name="app icon 2" descr="preencoded.png">    </p:cNvPr>
          <p:cNvPicPr>
            <a:picLocks noChangeAspect="1"/>
          </p:cNvPicPr>
          <p:nvPr/>
        </p:nvPicPr>
        <p:blipFill>
          <a:blip r:embed="rId3"/>
          <a:stretch>
            <a:fillRect/>
          </a:stretch>
        </p:blipFill>
        <p:spPr>
          <a:xfrm>
            <a:off x="3731118" y="3383646"/>
            <a:ext cx="218724" cy="218724"/>
          </a:xfrm>
          <a:prstGeom prst="rect">
            <a:avLst/>
          </a:prstGeom>
        </p:spPr>
      </p:pic>
      <p:sp>
        <p:nvSpPr>
          <p:cNvPr id="22" name="app h 2"/>
          <p:cNvSpPr txBox="1"/>
          <p:nvPr/>
        </p:nvSpPr>
        <p:spPr>
          <a:xfrm>
            <a:off x="4178808" y="3282696"/>
            <a:ext cx="1645920" cy="420624"/>
          </a:xfrm>
          <a:prstGeom prst="rect">
            <a:avLst/>
          </a:prstGeom>
          <a:noFill/>
          <a:ln/>
        </p:spPr>
        <p:txBody>
          <a:bodyPr wrap="square" lIns="0" tIns="0" rIns="0" bIns="0" rtlCol="0" anchor="ctr"/>
          <a:lstStyle/>
          <a:p>
            <a:pPr indent="0" marL="0">
              <a:buNone/>
            </a:pPr>
            <a:r>
              <a:rPr lang="en-US" sz="1350" dirty="0">
                <a:solidFill>
                  <a:srgbClr val="FFFFFF"/>
                </a:solidFill>
                <a:latin typeface="프리젠테이션 7 Bold" pitchFamily="34" charset="0"/>
                <a:ea typeface="프리젠테이션 7 Bold" pitchFamily="34" charset="-122"/>
                <a:cs typeface="프리젠테이션 7 Bold" pitchFamily="34" charset="-120"/>
              </a:rPr>
              <a:t>Early collision-risk alerts</a:t>
            </a:r>
            <a:endParaRPr lang="en-US" sz="1350" dirty="0"/>
          </a:p>
        </p:txBody>
      </p:sp>
      <p:sp>
        <p:nvSpPr>
          <p:cNvPr id="23" name="app d 2"/>
          <p:cNvSpPr txBox="1"/>
          <p:nvPr/>
        </p:nvSpPr>
        <p:spPr>
          <a:xfrm>
            <a:off x="3630168" y="3813048"/>
            <a:ext cx="2130552" cy="594360"/>
          </a:xfrm>
          <a:prstGeom prst="rect">
            <a:avLst/>
          </a:prstGeom>
          <a:noFill/>
          <a:ln/>
        </p:spPr>
        <p:txBody>
          <a:bodyPr wrap="square" lIns="0" tIns="0" rIns="0" bIns="0" rtlCol="0" anchor="t"/>
          <a:lstStyle/>
          <a:p>
            <a:pPr indent="0" marL="0">
              <a:buNone/>
            </a:pPr>
            <a:r>
              <a:rPr lang="en-US" sz="1150" dirty="0">
                <a:solidFill>
                  <a:srgbClr val="B8BEC8"/>
                </a:solidFill>
                <a:latin typeface="프리젠테이션 4 Regular" pitchFamily="34" charset="0"/>
                <a:ea typeface="프리젠테이션 4 Regular" pitchFamily="34" charset="-122"/>
                <a:cs typeface="프리젠테이션 4 Regular" pitchFamily="34" charset="-120"/>
              </a:rPr>
              <a:t>Zones where cargo and tanker lanes overlap become candidates for warnings.</a:t>
            </a:r>
            <a:endParaRPr lang="en-US" sz="1150" dirty="0"/>
          </a:p>
        </p:txBody>
      </p:sp>
      <p:sp>
        <p:nvSpPr>
          <p:cNvPr id="24" name="app card 3"/>
          <p:cNvSpPr/>
          <p:nvPr/>
        </p:nvSpPr>
        <p:spPr>
          <a:xfrm>
            <a:off x="6172200" y="3081528"/>
            <a:ext cx="2514600" cy="1417320"/>
          </a:xfrm>
          <a:prstGeom prst="roundRect">
            <a:avLst>
              <a:gd name="adj" fmla="val 14194"/>
            </a:avLst>
          </a:prstGeom>
          <a:solidFill>
            <a:srgbClr val="1B1D22"/>
          </a:solidFill>
          <a:ln/>
        </p:spPr>
      </p:sp>
      <p:sp>
        <p:nvSpPr>
          <p:cNvPr id="25" name="app icon 3 bg"/>
          <p:cNvSpPr/>
          <p:nvPr/>
        </p:nvSpPr>
        <p:spPr>
          <a:xfrm>
            <a:off x="6373368" y="3282696"/>
            <a:ext cx="420624" cy="420624"/>
          </a:xfrm>
          <a:prstGeom prst="ellipse">
            <a:avLst/>
          </a:prstGeom>
          <a:solidFill>
            <a:srgbClr val="26292F"/>
          </a:solidFill>
          <a:ln/>
        </p:spPr>
      </p:sp>
      <p:pic>
        <p:nvPicPr>
          <p:cNvPr id="26" name="app icon 3" descr="preencoded.png">    </p:cNvPr>
          <p:cNvPicPr>
            <a:picLocks noChangeAspect="1"/>
          </p:cNvPicPr>
          <p:nvPr/>
        </p:nvPicPr>
        <p:blipFill>
          <a:blip r:embed="rId4"/>
          <a:stretch>
            <a:fillRect/>
          </a:stretch>
        </p:blipFill>
        <p:spPr>
          <a:xfrm>
            <a:off x="6474318" y="3383646"/>
            <a:ext cx="218724" cy="218724"/>
          </a:xfrm>
          <a:prstGeom prst="rect">
            <a:avLst/>
          </a:prstGeom>
        </p:spPr>
      </p:pic>
      <p:sp>
        <p:nvSpPr>
          <p:cNvPr id="27" name="app h 3"/>
          <p:cNvSpPr txBox="1"/>
          <p:nvPr/>
        </p:nvSpPr>
        <p:spPr>
          <a:xfrm>
            <a:off x="6922008" y="3282696"/>
            <a:ext cx="1645920" cy="420624"/>
          </a:xfrm>
          <a:prstGeom prst="rect">
            <a:avLst/>
          </a:prstGeom>
          <a:noFill/>
          <a:ln/>
        </p:spPr>
        <p:txBody>
          <a:bodyPr wrap="square" lIns="0" tIns="0" rIns="0" bIns="0" rtlCol="0" anchor="ctr"/>
          <a:lstStyle/>
          <a:p>
            <a:pPr indent="0" marL="0">
              <a:buNone/>
            </a:pPr>
            <a:r>
              <a:rPr lang="en-US" sz="1350" dirty="0">
                <a:solidFill>
                  <a:srgbClr val="FFFFFF"/>
                </a:solidFill>
                <a:latin typeface="프리젠테이션 7 Bold" pitchFamily="34" charset="0"/>
                <a:ea typeface="프리젠테이션 7 Bold" pitchFamily="34" charset="-122"/>
                <a:cs typeface="프리젠테이션 7 Bold" pitchFamily="34" charset="-120"/>
              </a:rPr>
              <a:t>Channel maintenance</a:t>
            </a:r>
            <a:endParaRPr lang="en-US" sz="1350" dirty="0"/>
          </a:p>
        </p:txBody>
      </p:sp>
      <p:sp>
        <p:nvSpPr>
          <p:cNvPr id="28" name="app d 3"/>
          <p:cNvSpPr txBox="1"/>
          <p:nvPr/>
        </p:nvSpPr>
        <p:spPr>
          <a:xfrm>
            <a:off x="6373368" y="3813048"/>
            <a:ext cx="2130552" cy="594360"/>
          </a:xfrm>
          <a:prstGeom prst="rect">
            <a:avLst/>
          </a:prstGeom>
          <a:noFill/>
          <a:ln/>
        </p:spPr>
        <p:txBody>
          <a:bodyPr wrap="square" lIns="0" tIns="0" rIns="0" bIns="0" rtlCol="0" anchor="t"/>
          <a:lstStyle/>
          <a:p>
            <a:pPr indent="0" marL="0">
              <a:buNone/>
            </a:pPr>
            <a:r>
              <a:rPr lang="en-US" sz="1150" dirty="0">
                <a:solidFill>
                  <a:srgbClr val="B8BEC8"/>
                </a:solidFill>
                <a:latin typeface="프리젠테이션 4 Regular" pitchFamily="34" charset="0"/>
                <a:ea typeface="프리젠테이션 4 Regular" pitchFamily="34" charset="-122"/>
                <a:cs typeface="프리젠테이션 4 Regular" pitchFamily="34" charset="-120"/>
              </a:rPr>
              <a:t>Prioritize inspection, dredging and aids-to-navigation upkeep on busy lanes.</a:t>
            </a:r>
            <a:endParaRPr lang="en-US" sz="1150" dirty="0"/>
          </a:p>
        </p:txBody>
      </p:sp>
      <p:sp>
        <p:nvSpPr>
          <p:cNvPr id="29" name="scope note"/>
          <p:cNvSpPr txBox="1"/>
          <p:nvPr/>
        </p:nvSpPr>
        <p:spPr>
          <a:xfrm>
            <a:off x="457200" y="4681728"/>
            <a:ext cx="8229600" cy="274320"/>
          </a:xfrm>
          <a:prstGeom prst="rect">
            <a:avLst/>
          </a:prstGeom>
          <a:noFill/>
          <a:ln/>
        </p:spPr>
        <p:txBody>
          <a:bodyPr wrap="square" lIns="0" tIns="0" rIns="0" bIns="0" rtlCol="0" anchor="ctr"/>
          <a:lstStyle/>
          <a:p>
            <a:pPr indent="0" marL="0">
              <a:buNone/>
            </a:pPr>
            <a:r>
              <a:rPr lang="en-US" sz="1000" dirty="0">
                <a:solidFill>
                  <a:srgbClr val="8A919E"/>
                </a:solidFill>
                <a:latin typeface="프리젠테이션 4 Regular" pitchFamily="34" charset="0"/>
                <a:ea typeface="프리젠테이션 4 Regular" pitchFamily="34" charset="-122"/>
                <a:cs typeface="프리젠테이션 4 Regular" pitchFamily="34" charset="-120"/>
              </a:rPr>
              <a:t>Scope note: priority zones are observation candidates from historical traffic — not collision probabilities or real-time decisions. Track counts ≠ port calls.</a:t>
            </a:r>
            <a:endParaRPr lang="en-US" sz="1000" dirty="0"/>
          </a:p>
        </p:txBody>
      </p:sp>
    </p:spTree>
  </p:cSld>
  <p:clrMapOvr>
    <a:masterClrMapping/>
  </p:clrMapOvr>
</p:sld>
</file>

<file path=ppt/theme/theme1.xml><?xml version="1.0" encoding="utf-8"?>
<a:theme xmlns:a="http://schemas.openxmlformats.org/drawingml/2006/main" name="AIS Coinbase Blue">
  <a:themeElements>
    <a:clrScheme name="AIS Coinbase Blue">
      <a:dk1>
        <a:srgbClr val="0A0B0D"/>
      </a:dk1>
      <a:lt1>
        <a:srgbClr val="FFFFFF"/>
      </a:lt1>
      <a:dk2>
        <a:srgbClr val="5B616E"/>
      </a:dk2>
      <a:lt2>
        <a:srgbClr val="EEF0F3"/>
      </a:lt2>
      <a:accent1>
        <a:srgbClr val="0052FF"/>
      </a:accent1>
      <a:accent2>
        <a:srgbClr val="1B1D22"/>
      </a:accent2>
      <a:accent3>
        <a:srgbClr val="8A919E"/>
      </a:accent3>
      <a:accent4>
        <a:srgbClr val="DEE1E6"/>
      </a:accent4>
      <a:accent5>
        <a:srgbClr val="05B169"/>
      </a:accent5>
      <a:accent6>
        <a:srgbClr val="CF202F"/>
      </a:accent6>
      <a:hlink>
        <a:srgbClr val="0052FF"/>
      </a:hlink>
      <a:folHlink>
        <a:srgbClr val="5B616E"/>
      </a:folHlink>
    </a:clrScheme>
    <a:fontScheme name="AIS Coinbase Blue">
      <a:majorFont>
        <a:latin typeface="프리젠테이션 4 Regula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프리젠테이션 4 Regula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1st Proposal — AIS Port Approach Traffic Study</dc:title>
  <dc:subject>PptxGenJS Presentation</dc:subject>
  <dc:creator>Team 5</dc:creator>
  <cp:lastModifiedBy>Team 5</cp:lastModifiedBy>
  <cp:revision>1</cp:revision>
  <dcterms:created xsi:type="dcterms:W3CDTF">2026-10-15T06:50:07Z</dcterms:created>
  <dcterms:modified xsi:type="dcterms:W3CDTF">2026-10-15T06:50:07Z</dcterms:modified>
</cp:coreProperties>
</file>
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0798bf7-dfc0-9858-6a78-91215cbdb370}">
          <p14:sldIdLst>
            <p14:sldId id="256"/>
          </p14:sldIdLst>
        </p14:section>
        <p14:section name="Team" id="{3a96f6f8-26d1-60f3-ed72-7a093b13c26a}">
          <p14:sldIdLst>
            <p14:sldId id="257"/>
          </p14:sldIdLst>
        </p14:section>
        <p14:section name="Problem" id="{7451ccf5-5632-0159-9e5d-b3ca07d132b8}">
          <p14:sldIdLst>
            <p14:sldId id="258"/>
          </p14:sldIdLst>
        </p14:section>
        <p14:section name="Plan" id="{a636e60b-cc6d-19fc-5d65-8705851c8fee}">
          <p14:sldIdLst>
            <p14:sldId id="259"/>
          </p14:sldIdLst>
        </p14:section>
        <p14:section name="Data" id="{89442611-6703-2ca7-8d50-f0a18dbb8666}">
          <p14:sldIdLst>
            <p14:sldId id="260"/>
            <p14:sldId id="261"/>
            <p14:sldId id="262"/>
            <p14:sldId id="263"/>
            <p14:sldId id="264"/>
          </p14:sldIdLst>
        </p14:section>
        <p14:section name="Outlook" id="{0c8104dd-aafa-3b01-6a06-6c5713173d6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Team 5 first proposal: AIS track-based traffic analysis of the Norfolk / Hampton Roads port approach and selection of monitoring priority zones. Members: Ko Youngjo, Kim Heeseon, Baek Jiwon, Cho Minje.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introduction. Fill in each member's background and research interest; roles will be finalized after the initial data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problem: approach channels are chokepoints shared by many vessel types; monitoring resources are limited, so we need evidence on where and when traffic concentrates; NOAA AIS Vessel Tracks 2024 makes this quantitative. Three research questions guide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(1) data build and preprocessing, (2) traffic characterization, (3) monitoring priority zone selection, (4) robustness check. Each step has an owner slot — role assignment to be finalized.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AIS Vessel Tracks 2024 is a GeoPackage — a SQLite database holding features, attributes, CRS metadata and spatial indexes. Its single feature layer, AISVesselTracks2024, has 11 fields: 10 attributes plus the Shape geometry, in EPSG:4269 (NAD83 lon/lat). Each row is a track for one time interval, so one vessel (MMSI) appears in many rows: raw AIS is sampled to one minute and a new track starts after a 30-minute or 1-nautical-mile gap. VesselGroup gives a broad category; we keep Cargo and Tanker.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downloaded archive holds one GeoPackage, a SQLite container with three parts: the feature layer AISVesselTracks2024 (attributes plus MULTILINESTRING Shape geometry), GeoPackage metadata tables (layer and CRS, EPSG:4269), and an RTree spatial index on Shape. Our extract uses the RTree for a fast bounding-box candidate lookup, then an exact geometry intersection to remove false positives, filters Cargo and Tanker on VesselGroup, reads the result in pandas chunks, and writes a CSV where the binary Shape is converted to WKT text in Shape_WKT. The CRS label is carried in a Geometry_CRS column because CSV does not keep CRS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carries one vessel track for a time interval. Shape holds the whole line; MMSI identifies the vessel and repeats across rows; start/end time bound the interval; VesselGroup gives the broad category. VesselType is only a numeric code and needs a codebook before we interpret it. OBJECTID is a row identifier used by the spatial index. The map shows one real row from our first-pass extract: OBJECTID 50958, MMSI 563156300, a Cargo track from 1 to 6 January 2024. Reference points are approximate and there is no coastline layer; the line was redrawn from the extract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First-pass extract: we kept every Cargo or Tanker track whose geometry intersects a broad rectangle from longitude −77.0 to −75.5 and latitude 36.3 to 37.5. That gives 10,943 rows: 10,311 Cargo rows from 1,865 distinct vessels and 632 Tanker rows from 138 vessels — about five rows per vessel, which is why we count unique MMSI separately from tracks. The CSV is about 373 MB and adds Shape_WKT, Geometry_CRS and Subset_BBox. The rectangle is temporary, not the final study boundary, and tracks crossing its edge are kept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data: NOAA MarineCadastre AIS Vessel Tracks 2024, Jan–Dec 2024. Done so far: spatial-index extract on a broad rectangle and the Cargo/Tanker filter, giving 10,943 rows. Next: confirm the study boundary from NOAA ENCs and rerun the filter; decide whether we target all Cargo or a narrower type, using a VesselType codebook (the source says Cargo, not Bulk_Carrier); decide per analysis whether tracks are clipped or kept whole, and run quality checks; then reproject to UTM 18N and build the Python dataset. The raw GeoPackage stays unchanged and the CSV can be regenerated from the documented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insights: efficient maritime patrol, detection of ghost / illicit vessels, early warning for collision-risk zones, and maintenance prioritization for heavily used lanes. Limitation: AIS tracks can be split by reception gaps, so track counts are not port calls; spatial overlap of paths does not mean simultaneous encounters. The priority zones are observation candidates, not collision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_DARK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Team 5  ·  AIS Port Approach Study  ·  1st Proposal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pill"/>
          <p:cNvSpPr txBox="1"/>
          <p:nvPr/>
        </p:nvSpPr>
        <p:spPr>
          <a:xfrm>
            <a:off x="548640" y="548640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262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ED6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26-2 Special Topics in Naval Architecture  ·  Team 5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05156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AIS Track-based Traffic Analysis of a Port Approach Channel</a:t>
            </a:r>
            <a:endParaRPr lang="en-US" sz="36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DB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&amp; selection of monitoring priority zones — Norfolk / Hampton Roads, USA</a:t>
            </a:r>
            <a:endParaRPr lang="en-US" sz="1600" dirty="0"/>
          </a:p>
        </p:txBody>
      </p:sp>
      <p:sp>
        <p:nvSpPr>
          <p:cNvPr id="5" name="cta pill"/>
          <p:cNvSpPr txBox="1"/>
          <p:nvPr/>
        </p:nvSpPr>
        <p:spPr>
          <a:xfrm>
            <a:off x="548640" y="35204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1st Proposal</a:t>
            </a:r>
            <a:endParaRPr lang="en-US" sz="1300" dirty="0"/>
          </a:p>
        </p:txBody>
      </p:sp>
      <p:sp>
        <p:nvSpPr>
          <p:cNvPr id="6" name="members"/>
          <p:cNvSpPr txBox="1"/>
          <p:nvPr/>
        </p:nvSpPr>
        <p:spPr>
          <a:xfrm>
            <a:off x="5486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고영조  ·  김희선  ·  백지원  ·  조민제</a:t>
            </a:r>
            <a:endParaRPr lang="en-US" sz="1400" dirty="0"/>
          </a:p>
        </p:txBody>
      </p:sp>
      <p:sp>
        <p:nvSpPr>
          <p:cNvPr id="7" name="ui card"/>
          <p:cNvSpPr/>
          <p:nvPr/>
        </p:nvSpPr>
        <p:spPr>
          <a:xfrm>
            <a:off x="5486400" y="685800"/>
            <a:ext cx="3154680" cy="3794760"/>
          </a:xfrm>
          <a:prstGeom prst="roundRect">
            <a:avLst>
              <a:gd name="adj" fmla="val 6377"/>
            </a:avLst>
          </a:prstGeom>
          <a:solidFill>
            <a:srgbClr val="1B1D22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8" name="live dot"/>
          <p:cNvSpPr/>
          <p:nvPr/>
        </p:nvSpPr>
        <p:spPr>
          <a:xfrm>
            <a:off x="5742432" y="987552"/>
            <a:ext cx="91440" cy="91440"/>
          </a:xfrm>
          <a:prstGeom prst="ellipse">
            <a:avLst/>
          </a:prstGeom>
          <a:solidFill>
            <a:srgbClr val="05B169"/>
          </a:solidFill>
          <a:ln/>
        </p:spPr>
      </p:sp>
      <p:sp>
        <p:nvSpPr>
          <p:cNvPr id="9" name="ui title"/>
          <p:cNvSpPr txBox="1"/>
          <p:nvPr/>
        </p:nvSpPr>
        <p:spPr>
          <a:xfrm>
            <a:off x="5897880" y="8869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Priority Zone Monitor</a:t>
            </a:r>
            <a:endParaRPr lang="en-US" sz="1200" dirty="0"/>
          </a:p>
        </p:txBody>
      </p:sp>
      <p:sp>
        <p:nvSpPr>
          <p:cNvPr id="10" name="ui year"/>
          <p:cNvSpPr txBox="1"/>
          <p:nvPr/>
        </p:nvSpPr>
        <p:spPr>
          <a:xfrm>
            <a:off x="7863840" y="886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2024</a:t>
            </a:r>
            <a:endParaRPr lang="en-US" sz="1100" dirty="0"/>
          </a:p>
        </p:txBody>
      </p:sp>
      <p:sp>
        <p:nvSpPr>
          <p:cNvPr id="11" name="cell 0,0"/>
          <p:cNvSpPr/>
          <p:nvPr/>
        </p:nvSpPr>
        <p:spPr>
          <a:xfrm>
            <a:off x="5742432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2" name="cell 1,0"/>
          <p:cNvSpPr/>
          <p:nvPr/>
        </p:nvSpPr>
        <p:spPr>
          <a:xfrm>
            <a:off x="5980176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3" name="cell 2,0"/>
          <p:cNvSpPr/>
          <p:nvPr/>
        </p:nvSpPr>
        <p:spPr>
          <a:xfrm>
            <a:off x="6217920" y="1325880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14" name="cell 3,0"/>
          <p:cNvSpPr/>
          <p:nvPr/>
        </p:nvSpPr>
        <p:spPr>
          <a:xfrm>
            <a:off x="6455664" y="1325880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cell 4,0"/>
          <p:cNvSpPr/>
          <p:nvPr/>
        </p:nvSpPr>
        <p:spPr>
          <a:xfrm>
            <a:off x="6693408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6" name="cell 5,0"/>
          <p:cNvSpPr/>
          <p:nvPr/>
        </p:nvSpPr>
        <p:spPr>
          <a:xfrm>
            <a:off x="6931152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7" name="cell 6,0"/>
          <p:cNvSpPr/>
          <p:nvPr/>
        </p:nvSpPr>
        <p:spPr>
          <a:xfrm>
            <a:off x="7168896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8" name="cell 7,0"/>
          <p:cNvSpPr/>
          <p:nvPr/>
        </p:nvSpPr>
        <p:spPr>
          <a:xfrm>
            <a:off x="7406640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19" name="cell 8,0"/>
          <p:cNvSpPr/>
          <p:nvPr/>
        </p:nvSpPr>
        <p:spPr>
          <a:xfrm>
            <a:off x="7644384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0" name="cell 9,0"/>
          <p:cNvSpPr/>
          <p:nvPr/>
        </p:nvSpPr>
        <p:spPr>
          <a:xfrm>
            <a:off x="7882128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1" name="cell 10,0"/>
          <p:cNvSpPr/>
          <p:nvPr/>
        </p:nvSpPr>
        <p:spPr>
          <a:xfrm>
            <a:off x="8119872" y="132588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2" name="cell 0,1"/>
          <p:cNvSpPr/>
          <p:nvPr/>
        </p:nvSpPr>
        <p:spPr>
          <a:xfrm>
            <a:off x="5742432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3" name="cell 1,1"/>
          <p:cNvSpPr/>
          <p:nvPr/>
        </p:nvSpPr>
        <p:spPr>
          <a:xfrm>
            <a:off x="5980176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4" name="cell 2,1"/>
          <p:cNvSpPr/>
          <p:nvPr/>
        </p:nvSpPr>
        <p:spPr>
          <a:xfrm>
            <a:off x="6217920" y="1563624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cell 3,1"/>
          <p:cNvSpPr/>
          <p:nvPr/>
        </p:nvSpPr>
        <p:spPr>
          <a:xfrm>
            <a:off x="6455664" y="1563624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26" name="cell 4,1"/>
          <p:cNvSpPr/>
          <p:nvPr/>
        </p:nvSpPr>
        <p:spPr>
          <a:xfrm>
            <a:off x="6693408" y="1563624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cell 5,1"/>
          <p:cNvSpPr/>
          <p:nvPr/>
        </p:nvSpPr>
        <p:spPr>
          <a:xfrm>
            <a:off x="6931152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8" name="cell 6,1"/>
          <p:cNvSpPr/>
          <p:nvPr/>
        </p:nvSpPr>
        <p:spPr>
          <a:xfrm>
            <a:off x="7168896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29" name="cell 7,1"/>
          <p:cNvSpPr/>
          <p:nvPr/>
        </p:nvSpPr>
        <p:spPr>
          <a:xfrm>
            <a:off x="7406640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0" name="cell 8,1"/>
          <p:cNvSpPr/>
          <p:nvPr/>
        </p:nvSpPr>
        <p:spPr>
          <a:xfrm>
            <a:off x="7644384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1" name="cell 9,1"/>
          <p:cNvSpPr/>
          <p:nvPr/>
        </p:nvSpPr>
        <p:spPr>
          <a:xfrm>
            <a:off x="7882128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2" name="cell 10,1"/>
          <p:cNvSpPr/>
          <p:nvPr/>
        </p:nvSpPr>
        <p:spPr>
          <a:xfrm>
            <a:off x="8119872" y="156362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3" name="cell 0,2"/>
          <p:cNvSpPr/>
          <p:nvPr/>
        </p:nvSpPr>
        <p:spPr>
          <a:xfrm>
            <a:off x="5742432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4" name="cell 1,2"/>
          <p:cNvSpPr/>
          <p:nvPr/>
        </p:nvSpPr>
        <p:spPr>
          <a:xfrm>
            <a:off x="5980176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35" name="cell 2,2"/>
          <p:cNvSpPr/>
          <p:nvPr/>
        </p:nvSpPr>
        <p:spPr>
          <a:xfrm>
            <a:off x="6217920" y="1801368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6" name="cell 3,2"/>
          <p:cNvSpPr/>
          <p:nvPr/>
        </p:nvSpPr>
        <p:spPr>
          <a:xfrm>
            <a:off x="6455664" y="1801368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37" name="cell 4,2"/>
          <p:cNvSpPr/>
          <p:nvPr/>
        </p:nvSpPr>
        <p:spPr>
          <a:xfrm>
            <a:off x="6693408" y="1801368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38" name="cell 5,2"/>
          <p:cNvSpPr/>
          <p:nvPr/>
        </p:nvSpPr>
        <p:spPr>
          <a:xfrm>
            <a:off x="6931152" y="1801368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39" name="cell 6,2"/>
          <p:cNvSpPr/>
          <p:nvPr/>
        </p:nvSpPr>
        <p:spPr>
          <a:xfrm>
            <a:off x="7168896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0" name="cell 7,2"/>
          <p:cNvSpPr/>
          <p:nvPr/>
        </p:nvSpPr>
        <p:spPr>
          <a:xfrm>
            <a:off x="7406640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1" name="cell 8,2"/>
          <p:cNvSpPr/>
          <p:nvPr/>
        </p:nvSpPr>
        <p:spPr>
          <a:xfrm>
            <a:off x="7644384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2" name="cell 9,2"/>
          <p:cNvSpPr/>
          <p:nvPr/>
        </p:nvSpPr>
        <p:spPr>
          <a:xfrm>
            <a:off x="7882128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3" name="cell 10,2"/>
          <p:cNvSpPr/>
          <p:nvPr/>
        </p:nvSpPr>
        <p:spPr>
          <a:xfrm>
            <a:off x="8119872" y="1801368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4" name="cell 0,3"/>
          <p:cNvSpPr/>
          <p:nvPr/>
        </p:nvSpPr>
        <p:spPr>
          <a:xfrm>
            <a:off x="5742432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5" name="cell 1,3"/>
          <p:cNvSpPr/>
          <p:nvPr/>
        </p:nvSpPr>
        <p:spPr>
          <a:xfrm>
            <a:off x="5980176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6" name="cell 2,3"/>
          <p:cNvSpPr/>
          <p:nvPr/>
        </p:nvSpPr>
        <p:spPr>
          <a:xfrm>
            <a:off x="6217920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47" name="cell 3,3"/>
          <p:cNvSpPr/>
          <p:nvPr/>
        </p:nvSpPr>
        <p:spPr>
          <a:xfrm>
            <a:off x="6455664" y="2039112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8" name="cell 4,3"/>
          <p:cNvSpPr/>
          <p:nvPr/>
        </p:nvSpPr>
        <p:spPr>
          <a:xfrm>
            <a:off x="6693408" y="2039112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49" name="cell 5,3"/>
          <p:cNvSpPr/>
          <p:nvPr/>
        </p:nvSpPr>
        <p:spPr>
          <a:xfrm>
            <a:off x="6931152" y="2039112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50" name="cell 6,3"/>
          <p:cNvSpPr/>
          <p:nvPr/>
        </p:nvSpPr>
        <p:spPr>
          <a:xfrm>
            <a:off x="7168896" y="2039112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1" name="cell 7,3"/>
          <p:cNvSpPr/>
          <p:nvPr/>
        </p:nvSpPr>
        <p:spPr>
          <a:xfrm>
            <a:off x="7406640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2" name="cell 8,3"/>
          <p:cNvSpPr/>
          <p:nvPr/>
        </p:nvSpPr>
        <p:spPr>
          <a:xfrm>
            <a:off x="7644384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3" name="cell 9,3"/>
          <p:cNvSpPr/>
          <p:nvPr/>
        </p:nvSpPr>
        <p:spPr>
          <a:xfrm>
            <a:off x="7882128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4" name="cell 10,3"/>
          <p:cNvSpPr/>
          <p:nvPr/>
        </p:nvSpPr>
        <p:spPr>
          <a:xfrm>
            <a:off x="8119872" y="2039112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5" name="cell 0,4"/>
          <p:cNvSpPr/>
          <p:nvPr/>
        </p:nvSpPr>
        <p:spPr>
          <a:xfrm>
            <a:off x="5742432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6" name="cell 1,4"/>
          <p:cNvSpPr/>
          <p:nvPr/>
        </p:nvSpPr>
        <p:spPr>
          <a:xfrm>
            <a:off x="5980176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7" name="cell 2,4"/>
          <p:cNvSpPr/>
          <p:nvPr/>
        </p:nvSpPr>
        <p:spPr>
          <a:xfrm>
            <a:off x="6217920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8" name="cell 3,4"/>
          <p:cNvSpPr/>
          <p:nvPr/>
        </p:nvSpPr>
        <p:spPr>
          <a:xfrm>
            <a:off x="6455664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59" name="cell 4,4"/>
          <p:cNvSpPr/>
          <p:nvPr/>
        </p:nvSpPr>
        <p:spPr>
          <a:xfrm>
            <a:off x="6693408" y="2276856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0" name="cell 5,4"/>
          <p:cNvSpPr/>
          <p:nvPr/>
        </p:nvSpPr>
        <p:spPr>
          <a:xfrm>
            <a:off x="6931152" y="2276856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61" name="cell 6,4"/>
          <p:cNvSpPr/>
          <p:nvPr/>
        </p:nvSpPr>
        <p:spPr>
          <a:xfrm>
            <a:off x="7168896" y="2276856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62" name="cell 7,4"/>
          <p:cNvSpPr/>
          <p:nvPr/>
        </p:nvSpPr>
        <p:spPr>
          <a:xfrm>
            <a:off x="7406640" y="2276856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3" name="cell 8,4"/>
          <p:cNvSpPr/>
          <p:nvPr/>
        </p:nvSpPr>
        <p:spPr>
          <a:xfrm>
            <a:off x="7644384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4" name="cell 9,4"/>
          <p:cNvSpPr/>
          <p:nvPr/>
        </p:nvSpPr>
        <p:spPr>
          <a:xfrm>
            <a:off x="7882128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5" name="cell 10,4"/>
          <p:cNvSpPr/>
          <p:nvPr/>
        </p:nvSpPr>
        <p:spPr>
          <a:xfrm>
            <a:off x="8119872" y="2276856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6" name="cell 0,5"/>
          <p:cNvSpPr/>
          <p:nvPr/>
        </p:nvSpPr>
        <p:spPr>
          <a:xfrm>
            <a:off x="5742432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7" name="cell 1,5"/>
          <p:cNvSpPr/>
          <p:nvPr/>
        </p:nvSpPr>
        <p:spPr>
          <a:xfrm>
            <a:off x="5980176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8" name="cell 2,5"/>
          <p:cNvSpPr/>
          <p:nvPr/>
        </p:nvSpPr>
        <p:spPr>
          <a:xfrm>
            <a:off x="6217920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69" name="cell 3,5"/>
          <p:cNvSpPr/>
          <p:nvPr/>
        </p:nvSpPr>
        <p:spPr>
          <a:xfrm>
            <a:off x="6455664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0" name="cell 4,5"/>
          <p:cNvSpPr/>
          <p:nvPr/>
        </p:nvSpPr>
        <p:spPr>
          <a:xfrm>
            <a:off x="6693408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1" name="cell 5,5"/>
          <p:cNvSpPr/>
          <p:nvPr/>
        </p:nvSpPr>
        <p:spPr>
          <a:xfrm>
            <a:off x="6931152" y="2514600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2" name="cell 6,5"/>
          <p:cNvSpPr/>
          <p:nvPr/>
        </p:nvSpPr>
        <p:spPr>
          <a:xfrm>
            <a:off x="7168896" y="2514600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73" name="cell 7,5"/>
          <p:cNvSpPr/>
          <p:nvPr/>
        </p:nvSpPr>
        <p:spPr>
          <a:xfrm>
            <a:off x="7406640" y="2514600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74" name="cell 8,5"/>
          <p:cNvSpPr/>
          <p:nvPr/>
        </p:nvSpPr>
        <p:spPr>
          <a:xfrm>
            <a:off x="7644384" y="2514600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5" name="cell 9,5"/>
          <p:cNvSpPr/>
          <p:nvPr/>
        </p:nvSpPr>
        <p:spPr>
          <a:xfrm>
            <a:off x="7882128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6" name="cell 10,5"/>
          <p:cNvSpPr/>
          <p:nvPr/>
        </p:nvSpPr>
        <p:spPr>
          <a:xfrm>
            <a:off x="8119872" y="2514600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7" name="cell 0,6"/>
          <p:cNvSpPr/>
          <p:nvPr/>
        </p:nvSpPr>
        <p:spPr>
          <a:xfrm>
            <a:off x="5742432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8" name="cell 1,6"/>
          <p:cNvSpPr/>
          <p:nvPr/>
        </p:nvSpPr>
        <p:spPr>
          <a:xfrm>
            <a:off x="5980176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79" name="cell 2,6"/>
          <p:cNvSpPr/>
          <p:nvPr/>
        </p:nvSpPr>
        <p:spPr>
          <a:xfrm>
            <a:off x="6217920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80" name="cell 3,6"/>
          <p:cNvSpPr/>
          <p:nvPr/>
        </p:nvSpPr>
        <p:spPr>
          <a:xfrm>
            <a:off x="6455664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81" name="cell 4,6"/>
          <p:cNvSpPr/>
          <p:nvPr/>
        </p:nvSpPr>
        <p:spPr>
          <a:xfrm>
            <a:off x="6693408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82" name="cell 5,6"/>
          <p:cNvSpPr/>
          <p:nvPr/>
        </p:nvSpPr>
        <p:spPr>
          <a:xfrm>
            <a:off x="6931152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83" name="cell 6,6"/>
          <p:cNvSpPr/>
          <p:nvPr/>
        </p:nvSpPr>
        <p:spPr>
          <a:xfrm>
            <a:off x="7168896" y="2752344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4" name="cell 7,6"/>
          <p:cNvSpPr/>
          <p:nvPr/>
        </p:nvSpPr>
        <p:spPr>
          <a:xfrm>
            <a:off x="7406640" y="2752344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85" name="cell 8,6"/>
          <p:cNvSpPr/>
          <p:nvPr/>
        </p:nvSpPr>
        <p:spPr>
          <a:xfrm>
            <a:off x="7644384" y="2752344"/>
            <a:ext cx="210312" cy="210312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86" name="cell 9,6"/>
          <p:cNvSpPr/>
          <p:nvPr/>
        </p:nvSpPr>
        <p:spPr>
          <a:xfrm>
            <a:off x="7882128" y="2752344"/>
            <a:ext cx="210312" cy="2103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7" name="cell 10,6"/>
          <p:cNvSpPr/>
          <p:nvPr/>
        </p:nvSpPr>
        <p:spPr>
          <a:xfrm>
            <a:off x="8119872" y="2752344"/>
            <a:ext cx="210312" cy="210312"/>
          </a:xfrm>
          <a:prstGeom prst="rect">
            <a:avLst/>
          </a:prstGeom>
          <a:solidFill>
            <a:srgbClr val="26292F"/>
          </a:solidFill>
          <a:ln/>
        </p:spPr>
      </p:sp>
      <p:sp>
        <p:nvSpPr>
          <p:cNvPr id="88" name="ui key 0"/>
          <p:cNvSpPr txBox="1"/>
          <p:nvPr/>
        </p:nvSpPr>
        <p:spPr>
          <a:xfrm>
            <a:off x="5742432" y="3172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Grid size</a:t>
            </a:r>
            <a:endParaRPr lang="en-US" sz="1100" dirty="0"/>
          </a:p>
        </p:txBody>
      </p:sp>
      <p:sp>
        <p:nvSpPr>
          <p:cNvPr id="89" name="ui val 0"/>
          <p:cNvSpPr txBox="1"/>
          <p:nvPr/>
        </p:nvSpPr>
        <p:spPr>
          <a:xfrm>
            <a:off x="6858000" y="3172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500 m</a:t>
            </a:r>
            <a:endParaRPr lang="en-US" sz="1100" dirty="0"/>
          </a:p>
        </p:txBody>
      </p:sp>
      <p:sp>
        <p:nvSpPr>
          <p:cNvPr id="90" name="ui key 1"/>
          <p:cNvSpPr txBox="1"/>
          <p:nvPr/>
        </p:nvSpPr>
        <p:spPr>
          <a:xfrm>
            <a:off x="5742432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Vessel groups</a:t>
            </a:r>
            <a:endParaRPr lang="en-US" sz="1100" dirty="0"/>
          </a:p>
        </p:txBody>
      </p:sp>
      <p:sp>
        <p:nvSpPr>
          <p:cNvPr id="91" name="ui val 1"/>
          <p:cNvSpPr txBox="1"/>
          <p:nvPr/>
        </p:nvSpPr>
        <p:spPr>
          <a:xfrm>
            <a:off x="685800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 · Tanker</a:t>
            </a:r>
            <a:endParaRPr lang="en-US" sz="1100" dirty="0"/>
          </a:p>
        </p:txBody>
      </p:sp>
      <p:sp>
        <p:nvSpPr>
          <p:cNvPr id="92" name="ui key 2"/>
          <p:cNvSpPr txBox="1"/>
          <p:nvPr/>
        </p:nvSpPr>
        <p:spPr>
          <a:xfrm>
            <a:off x="5742432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Candidate rule</a:t>
            </a:r>
            <a:endParaRPr lang="en-US" sz="1100" dirty="0"/>
          </a:p>
        </p:txBody>
      </p:sp>
      <p:sp>
        <p:nvSpPr>
          <p:cNvPr id="93" name="ui val 2"/>
          <p:cNvSpPr txBox="1"/>
          <p:nvPr/>
        </p:nvSpPr>
        <p:spPr>
          <a:xfrm>
            <a:off x="6858000" y="3831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Top 10% unique MMSI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02 — TEAM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4" name="member card 0"/>
          <p:cNvSpPr/>
          <p:nvPr/>
        </p:nvSpPr>
        <p:spPr>
          <a:xfrm>
            <a:off x="457200" y="1508760"/>
            <a:ext cx="1828800" cy="2971800"/>
          </a:xfrm>
          <a:prstGeom prst="roundRect">
            <a:avLst>
              <a:gd name="adj" fmla="val 11000"/>
            </a:avLst>
          </a:prstGeom>
          <a:solidFill>
            <a:srgbClr val="EEF0F3"/>
          </a:solidFill>
          <a:ln/>
        </p:spPr>
      </p:sp>
      <p:sp>
        <p:nvSpPr>
          <p:cNvPr id="5" name="avatar 0"/>
          <p:cNvSpPr txBox="1"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고</a:t>
            </a:r>
            <a:endParaRPr lang="en-US" sz="2200" dirty="0"/>
          </a:p>
        </p:txBody>
      </p:sp>
      <p:sp>
        <p:nvSpPr>
          <p:cNvPr id="6" name="name 0"/>
          <p:cNvSpPr txBox="1"/>
          <p:nvPr/>
        </p:nvSpPr>
        <p:spPr>
          <a:xfrm>
            <a:off x="73152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고영조</a:t>
            </a:r>
            <a:endParaRPr lang="en-US" sz="1800" dirty="0"/>
          </a:p>
        </p:txBody>
      </p:sp>
      <p:sp>
        <p:nvSpPr>
          <p:cNvPr id="7" name="bg 0"/>
          <p:cNvSpPr txBox="1"/>
          <p:nvPr/>
        </p:nvSpPr>
        <p:spPr>
          <a:xfrm>
            <a:off x="73152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[Major / lab]</a:t>
            </a:r>
            <a:endParaRPr lang="en-US" sz="1200" dirty="0"/>
          </a:p>
        </p:txBody>
      </p:sp>
      <p:sp>
        <p:nvSpPr>
          <p:cNvPr id="8" name="interest 0"/>
          <p:cNvSpPr txBox="1"/>
          <p:nvPr/>
        </p:nvSpPr>
        <p:spPr>
          <a:xfrm>
            <a:off x="731520" y="3319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[Research interest]</a:t>
            </a:r>
            <a:endParaRPr lang="en-US" sz="1200" dirty="0"/>
          </a:p>
        </p:txBody>
      </p:sp>
      <p:sp>
        <p:nvSpPr>
          <p:cNvPr id="9" name="role pill 0"/>
          <p:cNvSpPr txBox="1"/>
          <p:nvPr/>
        </p:nvSpPr>
        <p:spPr>
          <a:xfrm>
            <a:off x="731520" y="3977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Role · TBD</a:t>
            </a:r>
            <a:endParaRPr lang="en-US" sz="1100" dirty="0"/>
          </a:p>
        </p:txBody>
      </p:sp>
      <p:sp>
        <p:nvSpPr>
          <p:cNvPr id="10" name="member card 1"/>
          <p:cNvSpPr/>
          <p:nvPr/>
        </p:nvSpPr>
        <p:spPr>
          <a:xfrm>
            <a:off x="2587752" y="1508760"/>
            <a:ext cx="1828800" cy="2971800"/>
          </a:xfrm>
          <a:prstGeom prst="roundRect">
            <a:avLst>
              <a:gd name="adj" fmla="val 11000"/>
            </a:avLst>
          </a:prstGeom>
          <a:solidFill>
            <a:srgbClr val="EEF0F3"/>
          </a:solidFill>
          <a:ln/>
        </p:spPr>
      </p:sp>
      <p:sp>
        <p:nvSpPr>
          <p:cNvPr id="11" name="avatar 1"/>
          <p:cNvSpPr txBox="1"/>
          <p:nvPr/>
        </p:nvSpPr>
        <p:spPr>
          <a:xfrm>
            <a:off x="2862072" y="1783080"/>
            <a:ext cx="685800" cy="685800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김</a:t>
            </a:r>
            <a:endParaRPr lang="en-US" sz="2200" dirty="0"/>
          </a:p>
        </p:txBody>
      </p:sp>
      <p:sp>
        <p:nvSpPr>
          <p:cNvPr id="12" name="name 1"/>
          <p:cNvSpPr txBox="1"/>
          <p:nvPr/>
        </p:nvSpPr>
        <p:spPr>
          <a:xfrm>
            <a:off x="286207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김희선</a:t>
            </a:r>
            <a:endParaRPr lang="en-US" sz="1800" dirty="0"/>
          </a:p>
        </p:txBody>
      </p:sp>
      <p:sp>
        <p:nvSpPr>
          <p:cNvPr id="13" name="bg 1"/>
          <p:cNvSpPr txBox="1"/>
          <p:nvPr/>
        </p:nvSpPr>
        <p:spPr>
          <a:xfrm>
            <a:off x="2862072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[Major / lab]</a:t>
            </a:r>
            <a:endParaRPr lang="en-US" sz="1200" dirty="0"/>
          </a:p>
        </p:txBody>
      </p:sp>
      <p:sp>
        <p:nvSpPr>
          <p:cNvPr id="14" name="interest 1"/>
          <p:cNvSpPr txBox="1"/>
          <p:nvPr/>
        </p:nvSpPr>
        <p:spPr>
          <a:xfrm>
            <a:off x="2862072" y="3319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[Research interest]</a:t>
            </a:r>
            <a:endParaRPr lang="en-US" sz="1200" dirty="0"/>
          </a:p>
        </p:txBody>
      </p:sp>
      <p:sp>
        <p:nvSpPr>
          <p:cNvPr id="15" name="role pill 1"/>
          <p:cNvSpPr txBox="1"/>
          <p:nvPr/>
        </p:nvSpPr>
        <p:spPr>
          <a:xfrm>
            <a:off x="2862072" y="3977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Role · TBD</a:t>
            </a:r>
            <a:endParaRPr lang="en-US" sz="1100" dirty="0"/>
          </a:p>
        </p:txBody>
      </p:sp>
      <p:sp>
        <p:nvSpPr>
          <p:cNvPr id="16" name="member card 2"/>
          <p:cNvSpPr/>
          <p:nvPr/>
        </p:nvSpPr>
        <p:spPr>
          <a:xfrm>
            <a:off x="4718304" y="1508760"/>
            <a:ext cx="1828800" cy="2971800"/>
          </a:xfrm>
          <a:prstGeom prst="roundRect">
            <a:avLst>
              <a:gd name="adj" fmla="val 11000"/>
            </a:avLst>
          </a:prstGeom>
          <a:solidFill>
            <a:srgbClr val="EEF0F3"/>
          </a:solidFill>
          <a:ln/>
        </p:spPr>
      </p:sp>
      <p:pic>
        <p:nvPicPr>
          <p:cNvPr id="17" name="photo 2" descr="Photo of 백지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24" y="1783080"/>
            <a:ext cx="685800" cy="685800"/>
          </a:xfrm>
          <a:prstGeom prst="ellipse">
            <a:avLst/>
          </a:prstGeom>
        </p:spPr>
      </p:pic>
      <p:sp>
        <p:nvSpPr>
          <p:cNvPr id="18" name="name 2"/>
          <p:cNvSpPr txBox="1"/>
          <p:nvPr/>
        </p:nvSpPr>
        <p:spPr>
          <a:xfrm>
            <a:off x="4992624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백지원</a:t>
            </a:r>
            <a:endParaRPr lang="en-US" sz="1800" dirty="0"/>
          </a:p>
        </p:txBody>
      </p:sp>
      <p:sp>
        <p:nvSpPr>
          <p:cNvPr id="19" name="bg 2"/>
          <p:cNvSpPr txBox="1"/>
          <p:nvPr/>
        </p:nvSpPr>
        <p:spPr>
          <a:xfrm>
            <a:off x="4992624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Ph.D. Candidate</a:t>
            </a:r>
            <a:endParaRPr lang="en-US" sz="1200" dirty="0"/>
          </a:p>
        </p:txBody>
      </p:sp>
      <p:sp>
        <p:nvSpPr>
          <p:cNvPr id="20" name="interest 2"/>
          <p:cNvSpPr txBox="1"/>
          <p:nvPr/>
        </p:nvSpPr>
        <p:spPr>
          <a:xfrm>
            <a:off x="4992624" y="3319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Scheduling · MARL</a:t>
            </a:r>
            <a:endParaRPr lang="en-US" sz="1200" dirty="0"/>
          </a:p>
        </p:txBody>
      </p:sp>
      <p:sp>
        <p:nvSpPr>
          <p:cNvPr id="21" name="role pill 2"/>
          <p:cNvSpPr txBox="1"/>
          <p:nvPr/>
        </p:nvSpPr>
        <p:spPr>
          <a:xfrm>
            <a:off x="4992624" y="3977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Role · TBD</a:t>
            </a:r>
            <a:endParaRPr lang="en-US" sz="1100" dirty="0"/>
          </a:p>
        </p:txBody>
      </p:sp>
      <p:sp>
        <p:nvSpPr>
          <p:cNvPr id="22" name="member card 3"/>
          <p:cNvSpPr/>
          <p:nvPr/>
        </p:nvSpPr>
        <p:spPr>
          <a:xfrm>
            <a:off x="6848856" y="1508760"/>
            <a:ext cx="1828800" cy="2971800"/>
          </a:xfrm>
          <a:prstGeom prst="roundRect">
            <a:avLst>
              <a:gd name="adj" fmla="val 11000"/>
            </a:avLst>
          </a:prstGeom>
          <a:solidFill>
            <a:srgbClr val="EEF0F3"/>
          </a:solidFill>
          <a:ln/>
        </p:spPr>
      </p:sp>
      <p:sp>
        <p:nvSpPr>
          <p:cNvPr id="23" name="avatar 3"/>
          <p:cNvSpPr txBox="1"/>
          <p:nvPr/>
        </p:nvSpPr>
        <p:spPr>
          <a:xfrm>
            <a:off x="7123176" y="1783080"/>
            <a:ext cx="685800" cy="685800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조</a:t>
            </a:r>
            <a:endParaRPr lang="en-US" sz="2200" dirty="0"/>
          </a:p>
        </p:txBody>
      </p:sp>
      <p:sp>
        <p:nvSpPr>
          <p:cNvPr id="24" name="name 3"/>
          <p:cNvSpPr txBox="1"/>
          <p:nvPr/>
        </p:nvSpPr>
        <p:spPr>
          <a:xfrm>
            <a:off x="7123176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조민제</a:t>
            </a:r>
            <a:endParaRPr lang="en-US" sz="1800" dirty="0"/>
          </a:p>
        </p:txBody>
      </p:sp>
      <p:sp>
        <p:nvSpPr>
          <p:cNvPr id="25" name="bg 3"/>
          <p:cNvSpPr txBox="1"/>
          <p:nvPr/>
        </p:nvSpPr>
        <p:spPr>
          <a:xfrm>
            <a:off x="7123176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[Major / lab]</a:t>
            </a:r>
            <a:endParaRPr lang="en-US" sz="1200" dirty="0"/>
          </a:p>
        </p:txBody>
      </p:sp>
      <p:sp>
        <p:nvSpPr>
          <p:cNvPr id="26" name="interest 3"/>
          <p:cNvSpPr txBox="1"/>
          <p:nvPr/>
        </p:nvSpPr>
        <p:spPr>
          <a:xfrm>
            <a:off x="7123176" y="3319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[Research interest]</a:t>
            </a:r>
            <a:endParaRPr lang="en-US" sz="1200" dirty="0"/>
          </a:p>
        </p:txBody>
      </p:sp>
      <p:sp>
        <p:nvSpPr>
          <p:cNvPr id="27" name="role pill 3"/>
          <p:cNvSpPr txBox="1"/>
          <p:nvPr/>
        </p:nvSpPr>
        <p:spPr>
          <a:xfrm>
            <a:off x="7123176" y="3977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Role · TBD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03 — PROBLEM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Why port approach channels?</a:t>
            </a:r>
            <a:endParaRPr lang="en-US" sz="3600" dirty="0"/>
          </a:p>
        </p:txBody>
      </p:sp>
      <p:sp>
        <p:nvSpPr>
          <p:cNvPr id="4" name="reason icon 0 bg"/>
          <p:cNvSpPr/>
          <p:nvPr/>
        </p:nvSpPr>
        <p:spPr>
          <a:xfrm>
            <a:off x="457200" y="1463040"/>
            <a:ext cx="566928" cy="566928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5" name="reason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1599103"/>
            <a:ext cx="294803" cy="294803"/>
          </a:xfrm>
          <a:prstGeom prst="rect">
            <a:avLst/>
          </a:prstGeom>
        </p:spPr>
      </p:pic>
      <p:sp>
        <p:nvSpPr>
          <p:cNvPr id="6" name="reason h 0"/>
          <p:cNvSpPr txBox="1"/>
          <p:nvPr/>
        </p:nvSpPr>
        <p:spPr>
          <a:xfrm>
            <a:off x="1188720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Traffic converges at a chokepoint</a:t>
            </a:r>
            <a:endParaRPr lang="en-US" sz="1600" dirty="0"/>
          </a:p>
        </p:txBody>
      </p:sp>
      <p:sp>
        <p:nvSpPr>
          <p:cNvPr id="7" name="reason d 0"/>
          <p:cNvSpPr txBox="1"/>
          <p:nvPr/>
        </p:nvSpPr>
        <p:spPr>
          <a:xfrm>
            <a:off x="1188720" y="1764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Cargo ships, tankers, tugs and naval vessels all squeeze into the same approach lanes.</a:t>
            </a:r>
            <a:endParaRPr lang="en-US" sz="1300" dirty="0"/>
          </a:p>
        </p:txBody>
      </p:sp>
      <p:sp>
        <p:nvSpPr>
          <p:cNvPr id="8" name="reason icon 1 bg"/>
          <p:cNvSpPr/>
          <p:nvPr/>
        </p:nvSpPr>
        <p:spPr>
          <a:xfrm>
            <a:off x="457200" y="2487168"/>
            <a:ext cx="566928" cy="566928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9" name="reason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63" y="2623231"/>
            <a:ext cx="294803" cy="294803"/>
          </a:xfrm>
          <a:prstGeom prst="rect">
            <a:avLst/>
          </a:prstGeom>
        </p:spPr>
      </p:pic>
      <p:sp>
        <p:nvSpPr>
          <p:cNvPr id="10" name="reason h 1"/>
          <p:cNvSpPr txBox="1"/>
          <p:nvPr/>
        </p:nvSpPr>
        <p:spPr>
          <a:xfrm>
            <a:off x="1188720" y="2468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Monitoring resources are limited</a:t>
            </a:r>
            <a:endParaRPr lang="en-US" sz="1600" dirty="0"/>
          </a:p>
        </p:txBody>
      </p:sp>
      <p:sp>
        <p:nvSpPr>
          <p:cNvPr id="11" name="reason d 1"/>
          <p:cNvSpPr txBox="1"/>
          <p:nvPr/>
        </p:nvSpPr>
        <p:spPr>
          <a:xfrm>
            <a:off x="118872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Patrol and VTS attention must go where — and when — traffic actually concentrates.</a:t>
            </a:r>
            <a:endParaRPr lang="en-US" sz="1300" dirty="0"/>
          </a:p>
        </p:txBody>
      </p:sp>
      <p:sp>
        <p:nvSpPr>
          <p:cNvPr id="12" name="reason icon 2 bg"/>
          <p:cNvSpPr/>
          <p:nvPr/>
        </p:nvSpPr>
        <p:spPr>
          <a:xfrm>
            <a:off x="457200" y="3511296"/>
            <a:ext cx="566928" cy="566928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13" name="reason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3647359"/>
            <a:ext cx="294803" cy="294803"/>
          </a:xfrm>
          <a:prstGeom prst="rect">
            <a:avLst/>
          </a:prstGeom>
        </p:spPr>
      </p:pic>
      <p:sp>
        <p:nvSpPr>
          <p:cNvPr id="14" name="reason h 2"/>
          <p:cNvSpPr txBox="1"/>
          <p:nvPr/>
        </p:nvSpPr>
        <p:spPr>
          <a:xfrm>
            <a:off x="1188720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AIS makes it measurable</a:t>
            </a:r>
            <a:endParaRPr lang="en-US" sz="1600" dirty="0"/>
          </a:p>
        </p:txBody>
      </p:sp>
      <p:sp>
        <p:nvSpPr>
          <p:cNvPr id="15" name="reason d 2"/>
          <p:cNvSpPr txBox="1"/>
          <p:nvPr/>
        </p:nvSpPr>
        <p:spPr>
          <a:xfrm>
            <a:off x="1188720" y="3813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 full year of open AIS tracks gives MMSI, time and vessel group for every track.</a:t>
            </a:r>
            <a:endParaRPr lang="en-US" sz="1300" dirty="0"/>
          </a:p>
        </p:txBody>
      </p:sp>
      <p:sp>
        <p:nvSpPr>
          <p:cNvPr id="16" name="rq card"/>
          <p:cNvSpPr/>
          <p:nvPr/>
        </p:nvSpPr>
        <p:spPr>
          <a:xfrm>
            <a:off x="5074920" y="1417320"/>
            <a:ext cx="3611880" cy="3108960"/>
          </a:xfrm>
          <a:prstGeom prst="roundRect">
            <a:avLst>
              <a:gd name="adj" fmla="val 6471"/>
            </a:avLst>
          </a:prstGeom>
          <a:solidFill>
            <a:srgbClr val="0A0B0D"/>
          </a:solidFill>
          <a:ln/>
        </p:spPr>
      </p:sp>
      <p:sp>
        <p:nvSpPr>
          <p:cNvPr id="17" name="rq label"/>
          <p:cNvSpPr txBox="1"/>
          <p:nvPr/>
        </p:nvSpPr>
        <p:spPr>
          <a:xfrm>
            <a:off x="539496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FA6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18" name="rq num 0"/>
          <p:cNvSpPr txBox="1"/>
          <p:nvPr/>
        </p:nvSpPr>
        <p:spPr>
          <a:xfrm>
            <a:off x="53949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RQ1</a:t>
            </a:r>
            <a:endParaRPr lang="en-US" sz="1300" dirty="0"/>
          </a:p>
        </p:txBody>
      </p:sp>
      <p:sp>
        <p:nvSpPr>
          <p:cNvPr id="19" name="rq text 0"/>
          <p:cNvSpPr txBox="1"/>
          <p:nvPr/>
        </p:nvSpPr>
        <p:spPr>
          <a:xfrm>
            <a:off x="5943600" y="20848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Where do observed vessels concentrate around the approach channel?</a:t>
            </a:r>
            <a:endParaRPr lang="en-US" sz="1400" dirty="0"/>
          </a:p>
        </p:txBody>
      </p:sp>
      <p:sp>
        <p:nvSpPr>
          <p:cNvPr id="20" name="rq num 1"/>
          <p:cNvSpPr txBox="1"/>
          <p:nvPr/>
        </p:nvSpPr>
        <p:spPr>
          <a:xfrm>
            <a:off x="5394960" y="2880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RQ2</a:t>
            </a:r>
            <a:endParaRPr lang="en-US" sz="1300" dirty="0"/>
          </a:p>
        </p:txBody>
      </p:sp>
      <p:sp>
        <p:nvSpPr>
          <p:cNvPr id="21" name="rq text 1"/>
          <p:cNvSpPr txBox="1"/>
          <p:nvPr/>
        </p:nvSpPr>
        <p:spPr>
          <a:xfrm>
            <a:off x="5943600" y="2862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How much do cargo and tanker routes overlap — and how does it shift by month?</a:t>
            </a:r>
            <a:endParaRPr lang="en-US" sz="1400" dirty="0"/>
          </a:p>
        </p:txBody>
      </p:sp>
      <p:sp>
        <p:nvSpPr>
          <p:cNvPr id="22" name="rq num 2"/>
          <p:cNvSpPr txBox="1"/>
          <p:nvPr/>
        </p:nvSpPr>
        <p:spPr>
          <a:xfrm>
            <a:off x="5394960" y="36576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RQ3</a:t>
            </a:r>
            <a:endParaRPr lang="en-US" sz="1300" dirty="0"/>
          </a:p>
        </p:txBody>
      </p:sp>
      <p:sp>
        <p:nvSpPr>
          <p:cNvPr id="23" name="rq text 2"/>
          <p:cNvSpPr txBox="1"/>
          <p:nvPr/>
        </p:nvSpPr>
        <p:spPr>
          <a:xfrm>
            <a:off x="5943600" y="3639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Do the priority zones hold when grid size and selection cut-off change?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04 — WORK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Four steps to priority zones</a:t>
            </a:r>
            <a:endParaRPr lang="en-US" sz="3600" dirty="0"/>
          </a:p>
        </p:txBody>
      </p:sp>
      <p:sp>
        <p:nvSpPr>
          <p:cNvPr id="4" name="step card 0"/>
          <p:cNvSpPr/>
          <p:nvPr/>
        </p:nvSpPr>
        <p:spPr>
          <a:xfrm>
            <a:off x="457200" y="1463040"/>
            <a:ext cx="1865376" cy="3063240"/>
          </a:xfrm>
          <a:prstGeom prst="roundRect">
            <a:avLst>
              <a:gd name="adj" fmla="val 10784"/>
            </a:avLst>
          </a:prstGeom>
          <a:solidFill>
            <a:srgbClr val="EEF0F3"/>
          </a:solidFill>
          <a:ln/>
        </p:spPr>
      </p:sp>
      <p:sp>
        <p:nvSpPr>
          <p:cNvPr id="5" name="step num 0"/>
          <p:cNvSpPr txBox="1"/>
          <p:nvPr/>
        </p:nvSpPr>
        <p:spPr>
          <a:xfrm>
            <a:off x="658368" y="1664208"/>
            <a:ext cx="438912" cy="438912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tep title 0"/>
          <p:cNvSpPr txBox="1"/>
          <p:nvPr/>
        </p:nvSpPr>
        <p:spPr>
          <a:xfrm>
            <a:off x="658368" y="221284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Data build &amp; preprocessing</a:t>
            </a:r>
            <a:endParaRPr lang="en-US" sz="1500" dirty="0"/>
          </a:p>
        </p:txBody>
      </p:sp>
      <p:sp>
        <p:nvSpPr>
          <p:cNvPr id="7" name="step bullets 0"/>
          <p:cNvSpPr txBox="1"/>
          <p:nvPr/>
        </p:nvSpPr>
        <p:spPr>
          <a:xfrm>
            <a:off x="658368" y="276148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Clip to study area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Check missing records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Reproject to UTM</a:t>
            </a:r>
            <a:endParaRPr lang="en-US" sz="1150" dirty="0"/>
          </a:p>
        </p:txBody>
      </p:sp>
      <p:sp>
        <p:nvSpPr>
          <p:cNvPr id="8" name="step output 0"/>
          <p:cNvSpPr txBox="1"/>
          <p:nvPr/>
        </p:nvSpPr>
        <p:spPr>
          <a:xfrm>
            <a:off x="658368" y="3703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Clean dataset</a:t>
            </a:r>
            <a:endParaRPr lang="en-US" sz="1100" dirty="0"/>
          </a:p>
        </p:txBody>
      </p:sp>
      <p:sp>
        <p:nvSpPr>
          <p:cNvPr id="9" name="owner pill 0"/>
          <p:cNvSpPr txBox="1"/>
          <p:nvPr/>
        </p:nvSpPr>
        <p:spPr>
          <a:xfrm>
            <a:off x="658368" y="41148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Owner · TBD</a:t>
            </a:r>
            <a:endParaRPr lang="en-US" sz="1050" dirty="0"/>
          </a:p>
        </p:txBody>
      </p:sp>
      <p:sp>
        <p:nvSpPr>
          <p:cNvPr id="10" name="step card 1"/>
          <p:cNvSpPr/>
          <p:nvPr/>
        </p:nvSpPr>
        <p:spPr>
          <a:xfrm>
            <a:off x="2569464" y="1463040"/>
            <a:ext cx="1865376" cy="3063240"/>
          </a:xfrm>
          <a:prstGeom prst="roundRect">
            <a:avLst>
              <a:gd name="adj" fmla="val 10784"/>
            </a:avLst>
          </a:prstGeom>
          <a:solidFill>
            <a:srgbClr val="EEF0F3"/>
          </a:solidFill>
          <a:ln/>
        </p:spPr>
      </p:sp>
      <p:sp>
        <p:nvSpPr>
          <p:cNvPr id="11" name="step num 1"/>
          <p:cNvSpPr txBox="1"/>
          <p:nvPr/>
        </p:nvSpPr>
        <p:spPr>
          <a:xfrm>
            <a:off x="2770632" y="1664208"/>
            <a:ext cx="438912" cy="438912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tep title 1"/>
          <p:cNvSpPr txBox="1"/>
          <p:nvPr/>
        </p:nvSpPr>
        <p:spPr>
          <a:xfrm>
            <a:off x="2770632" y="221284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Traffic characterization</a:t>
            </a:r>
            <a:endParaRPr lang="en-US" sz="1500" dirty="0"/>
          </a:p>
        </p:txBody>
      </p:sp>
      <p:sp>
        <p:nvSpPr>
          <p:cNvPr id="13" name="step bullets 1"/>
          <p:cNvSpPr txBox="1"/>
          <p:nvPr/>
        </p:nvSpPr>
        <p:spPr>
          <a:xfrm>
            <a:off x="2770632" y="276148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Routes by group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Monthly unique ships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Tracks vs. MMSI</a:t>
            </a:r>
            <a:endParaRPr lang="en-US" sz="1150" dirty="0"/>
          </a:p>
        </p:txBody>
      </p:sp>
      <p:sp>
        <p:nvSpPr>
          <p:cNvPr id="14" name="step output 1"/>
          <p:cNvSpPr txBox="1"/>
          <p:nvPr/>
        </p:nvSpPr>
        <p:spPr>
          <a:xfrm>
            <a:off x="2770632" y="3703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Route maps · stats</a:t>
            </a:r>
            <a:endParaRPr lang="en-US" sz="1100" dirty="0"/>
          </a:p>
        </p:txBody>
      </p:sp>
      <p:sp>
        <p:nvSpPr>
          <p:cNvPr id="15" name="owner pill 1"/>
          <p:cNvSpPr txBox="1"/>
          <p:nvPr/>
        </p:nvSpPr>
        <p:spPr>
          <a:xfrm>
            <a:off x="2770632" y="41148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Owner · TBD</a:t>
            </a:r>
            <a:endParaRPr lang="en-US" sz="1050" dirty="0"/>
          </a:p>
        </p:txBody>
      </p:sp>
      <p:sp>
        <p:nvSpPr>
          <p:cNvPr id="16" name="step card 2"/>
          <p:cNvSpPr/>
          <p:nvPr/>
        </p:nvSpPr>
        <p:spPr>
          <a:xfrm>
            <a:off x="4681728" y="1463040"/>
            <a:ext cx="1865376" cy="3063240"/>
          </a:xfrm>
          <a:prstGeom prst="roundRect">
            <a:avLst>
              <a:gd name="adj" fmla="val 10784"/>
            </a:avLst>
          </a:prstGeom>
          <a:solidFill>
            <a:srgbClr val="EEF0F3"/>
          </a:solidFill>
          <a:ln/>
        </p:spPr>
      </p:sp>
      <p:sp>
        <p:nvSpPr>
          <p:cNvPr id="17" name="step num 2"/>
          <p:cNvSpPr txBox="1"/>
          <p:nvPr/>
        </p:nvSpPr>
        <p:spPr>
          <a:xfrm>
            <a:off x="4882896" y="1664208"/>
            <a:ext cx="438912" cy="438912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tep title 2"/>
          <p:cNvSpPr txBox="1"/>
          <p:nvPr/>
        </p:nvSpPr>
        <p:spPr>
          <a:xfrm>
            <a:off x="4882896" y="221284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Priority zone selection</a:t>
            </a:r>
            <a:endParaRPr lang="en-US" sz="1500" dirty="0"/>
          </a:p>
        </p:txBody>
      </p:sp>
      <p:sp>
        <p:nvSpPr>
          <p:cNvPr id="19" name="step bullets 2"/>
          <p:cNvSpPr txBox="1"/>
          <p:nvPr/>
        </p:nvSpPr>
        <p:spPr>
          <a:xfrm>
            <a:off x="4882896" y="276148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500 m grid count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Top 10% = candidates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Cargo–tanker overlap</a:t>
            </a:r>
            <a:endParaRPr lang="en-US" sz="1150" dirty="0"/>
          </a:p>
        </p:txBody>
      </p:sp>
      <p:sp>
        <p:nvSpPr>
          <p:cNvPr id="20" name="step output 2"/>
          <p:cNvSpPr txBox="1"/>
          <p:nvPr/>
        </p:nvSpPr>
        <p:spPr>
          <a:xfrm>
            <a:off x="4882896" y="3703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Priority map + table</a:t>
            </a:r>
            <a:endParaRPr lang="en-US" sz="1100" dirty="0"/>
          </a:p>
        </p:txBody>
      </p:sp>
      <p:sp>
        <p:nvSpPr>
          <p:cNvPr id="21" name="owner pill 2"/>
          <p:cNvSpPr txBox="1"/>
          <p:nvPr/>
        </p:nvSpPr>
        <p:spPr>
          <a:xfrm>
            <a:off x="4882896" y="41148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Owner · TBD</a:t>
            </a:r>
            <a:endParaRPr lang="en-US" sz="1050" dirty="0"/>
          </a:p>
        </p:txBody>
      </p:sp>
      <p:sp>
        <p:nvSpPr>
          <p:cNvPr id="22" name="step card 3"/>
          <p:cNvSpPr/>
          <p:nvPr/>
        </p:nvSpPr>
        <p:spPr>
          <a:xfrm>
            <a:off x="6793992" y="1463040"/>
            <a:ext cx="1865376" cy="3063240"/>
          </a:xfrm>
          <a:prstGeom prst="roundRect">
            <a:avLst>
              <a:gd name="adj" fmla="val 10784"/>
            </a:avLst>
          </a:prstGeom>
          <a:solidFill>
            <a:srgbClr val="EEF0F3"/>
          </a:solidFill>
          <a:ln/>
        </p:spPr>
      </p:sp>
      <p:sp>
        <p:nvSpPr>
          <p:cNvPr id="23" name="step num 3"/>
          <p:cNvSpPr txBox="1"/>
          <p:nvPr/>
        </p:nvSpPr>
        <p:spPr>
          <a:xfrm>
            <a:off x="6995160" y="1664208"/>
            <a:ext cx="438912" cy="438912"/>
          </a:xfrm>
          <a:prstGeom prst="ellipse">
            <a:avLst/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tep title 3"/>
          <p:cNvSpPr txBox="1"/>
          <p:nvPr/>
        </p:nvSpPr>
        <p:spPr>
          <a:xfrm>
            <a:off x="6995160" y="221284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Robustness check</a:t>
            </a:r>
            <a:endParaRPr lang="en-US" sz="1500" dirty="0"/>
          </a:p>
        </p:txBody>
      </p:sp>
      <p:sp>
        <p:nvSpPr>
          <p:cNvPr id="25" name="step bullets 3"/>
          <p:cNvSpPr txBox="1"/>
          <p:nvPr/>
        </p:nvSpPr>
        <p:spPr>
          <a:xfrm>
            <a:off x="6995160" y="276148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Grid 250 m – 1 km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Cut-off 10% vs. 20%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Overlap area &amp; shift</a:t>
            </a:r>
            <a:endParaRPr lang="en-US" sz="1150" dirty="0"/>
          </a:p>
        </p:txBody>
      </p:sp>
      <p:sp>
        <p:nvSpPr>
          <p:cNvPr id="26" name="step output 3"/>
          <p:cNvSpPr txBox="1"/>
          <p:nvPr/>
        </p:nvSpPr>
        <p:spPr>
          <a:xfrm>
            <a:off x="6995160" y="37033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Stable vs. fragile zones</a:t>
            </a:r>
            <a:endParaRPr lang="en-US" sz="1100" dirty="0"/>
          </a:p>
        </p:txBody>
      </p:sp>
      <p:sp>
        <p:nvSpPr>
          <p:cNvPr id="27" name="owner pill 3"/>
          <p:cNvSpPr txBox="1"/>
          <p:nvPr/>
        </p:nvSpPr>
        <p:spPr>
          <a:xfrm>
            <a:off x="6995160" y="41148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Owner · TBD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05 — AIS DATA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What is in the AIS track dataset</a:t>
            </a:r>
            <a:endParaRPr lang="en-US" sz="3600" dirty="0"/>
          </a:p>
        </p:txBody>
      </p:sp>
      <p:sp>
        <p:nvSpPr>
          <p:cNvPr id="4" name="fact tile 0"/>
          <p:cNvSpPr/>
          <p:nvPr/>
        </p:nvSpPr>
        <p:spPr>
          <a:xfrm>
            <a:off x="457200" y="1417320"/>
            <a:ext cx="1874520" cy="896112"/>
          </a:xfrm>
          <a:prstGeom prst="roundRect">
            <a:avLst>
              <a:gd name="adj" fmla="val 22449"/>
            </a:avLst>
          </a:prstGeom>
          <a:solidFill>
            <a:srgbClr val="EEF0F3"/>
          </a:solidFill>
          <a:ln/>
        </p:spPr>
      </p:sp>
      <p:sp>
        <p:nvSpPr>
          <p:cNvPr id="5" name="fact val 0"/>
          <p:cNvSpPr txBox="1"/>
          <p:nvPr/>
        </p:nvSpPr>
        <p:spPr>
          <a:xfrm>
            <a:off x="658368" y="15087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GeoPackage</a:t>
            </a:r>
            <a:endParaRPr lang="en-US" sz="2200" dirty="0"/>
          </a:p>
        </p:txBody>
      </p:sp>
      <p:sp>
        <p:nvSpPr>
          <p:cNvPr id="6" name="fact label 0"/>
          <p:cNvSpPr txBox="1"/>
          <p:nvPr/>
        </p:nvSpPr>
        <p:spPr>
          <a:xfrm>
            <a:off x="65836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file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SQLite container (.gpkg)</a:t>
            </a:r>
            <a:endParaRPr lang="en-US" sz="1000" dirty="0"/>
          </a:p>
        </p:txBody>
      </p:sp>
      <p:sp>
        <p:nvSpPr>
          <p:cNvPr id="7" name="fact tile 1"/>
          <p:cNvSpPr/>
          <p:nvPr/>
        </p:nvSpPr>
        <p:spPr>
          <a:xfrm>
            <a:off x="2468880" y="1417320"/>
            <a:ext cx="1874520" cy="896112"/>
          </a:xfrm>
          <a:prstGeom prst="roundRect">
            <a:avLst>
              <a:gd name="adj" fmla="val 22449"/>
            </a:avLst>
          </a:prstGeom>
          <a:solidFill>
            <a:srgbClr val="EEF0F3"/>
          </a:solidFill>
          <a:ln/>
        </p:spPr>
      </p:sp>
      <p:sp>
        <p:nvSpPr>
          <p:cNvPr id="8" name="fact val 1"/>
          <p:cNvSpPr txBox="1"/>
          <p:nvPr/>
        </p:nvSpPr>
        <p:spPr>
          <a:xfrm>
            <a:off x="2670048" y="15087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 layer</a:t>
            </a:r>
            <a:endParaRPr lang="en-US" sz="2200" dirty="0"/>
          </a:p>
        </p:txBody>
      </p:sp>
      <p:sp>
        <p:nvSpPr>
          <p:cNvPr id="9" name="fact label 1"/>
          <p:cNvSpPr txBox="1"/>
          <p:nvPr/>
        </p:nvSpPr>
        <p:spPr>
          <a:xfrm>
            <a:off x="267004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feature 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AISVesselTracks2024</a:t>
            </a:r>
            <a:endParaRPr lang="en-US" sz="1000" dirty="0"/>
          </a:p>
        </p:txBody>
      </p:sp>
      <p:sp>
        <p:nvSpPr>
          <p:cNvPr id="10" name="fact tile 2"/>
          <p:cNvSpPr/>
          <p:nvPr/>
        </p:nvSpPr>
        <p:spPr>
          <a:xfrm>
            <a:off x="457200" y="2441448"/>
            <a:ext cx="1874520" cy="896112"/>
          </a:xfrm>
          <a:prstGeom prst="roundRect">
            <a:avLst>
              <a:gd name="adj" fmla="val 22449"/>
            </a:avLst>
          </a:prstGeom>
          <a:solidFill>
            <a:srgbClr val="EEF0F3"/>
          </a:solidFill>
          <a:ln/>
        </p:spPr>
      </p:sp>
      <p:sp>
        <p:nvSpPr>
          <p:cNvPr id="11" name="fact val 2"/>
          <p:cNvSpPr txBox="1"/>
          <p:nvPr/>
        </p:nvSpPr>
        <p:spPr>
          <a:xfrm>
            <a:off x="658368" y="25328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11 fields</a:t>
            </a:r>
            <a:endParaRPr lang="en-US" sz="2200" dirty="0"/>
          </a:p>
        </p:txBody>
      </p:sp>
      <p:sp>
        <p:nvSpPr>
          <p:cNvPr id="12" name="fact label 2"/>
          <p:cNvSpPr txBox="1"/>
          <p:nvPr/>
        </p:nvSpPr>
        <p:spPr>
          <a:xfrm>
            <a:off x="658368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per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10 attributes + Shape</a:t>
            </a:r>
            <a:endParaRPr lang="en-US" sz="1000" dirty="0"/>
          </a:p>
        </p:txBody>
      </p:sp>
      <p:sp>
        <p:nvSpPr>
          <p:cNvPr id="13" name="fact tile 3"/>
          <p:cNvSpPr/>
          <p:nvPr/>
        </p:nvSpPr>
        <p:spPr>
          <a:xfrm>
            <a:off x="2468880" y="2441448"/>
            <a:ext cx="1874520" cy="896112"/>
          </a:xfrm>
          <a:prstGeom prst="roundRect">
            <a:avLst>
              <a:gd name="adj" fmla="val 22449"/>
            </a:avLst>
          </a:prstGeom>
          <a:solidFill>
            <a:srgbClr val="EEF0F3"/>
          </a:solidFill>
          <a:ln/>
        </p:spPr>
      </p:sp>
      <p:sp>
        <p:nvSpPr>
          <p:cNvPr id="14" name="fact val 3"/>
          <p:cNvSpPr txBox="1"/>
          <p:nvPr/>
        </p:nvSpPr>
        <p:spPr>
          <a:xfrm>
            <a:off x="2670048" y="25328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EPSG:4269</a:t>
            </a:r>
            <a:endParaRPr lang="en-US" sz="2200" dirty="0"/>
          </a:p>
        </p:txBody>
      </p:sp>
      <p:sp>
        <p:nvSpPr>
          <p:cNvPr id="15" name="fact label 3"/>
          <p:cNvSpPr txBox="1"/>
          <p:nvPr/>
        </p:nvSpPr>
        <p:spPr>
          <a:xfrm>
            <a:off x="2670048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coordinates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NAD83 lon / lat</a:t>
            </a:r>
            <a:endParaRPr lang="en-US" sz="1000" dirty="0"/>
          </a:p>
        </p:txBody>
      </p:sp>
      <p:sp>
        <p:nvSpPr>
          <p:cNvPr id="16" name="vg h"/>
          <p:cNvSpPr txBox="1"/>
          <p:nvPr/>
        </p:nvSpPr>
        <p:spPr>
          <a:xfrm>
            <a:off x="457200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VesselGroup — broad source category</a:t>
            </a:r>
            <a:endParaRPr lang="en-US" sz="1200" dirty="0"/>
          </a:p>
        </p:txBody>
      </p:sp>
      <p:sp>
        <p:nvSpPr>
          <p:cNvPr id="17" name="vg Cargo"/>
          <p:cNvSpPr txBox="1"/>
          <p:nvPr/>
        </p:nvSpPr>
        <p:spPr>
          <a:xfrm>
            <a:off x="457200" y="3895344"/>
            <a:ext cx="617220" cy="27432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</a:t>
            </a:r>
            <a:endParaRPr lang="en-US" sz="1050" dirty="0"/>
          </a:p>
        </p:txBody>
      </p:sp>
      <p:sp>
        <p:nvSpPr>
          <p:cNvPr id="18" name="vg Tanker"/>
          <p:cNvSpPr txBox="1"/>
          <p:nvPr/>
        </p:nvSpPr>
        <p:spPr>
          <a:xfrm>
            <a:off x="1147572" y="389534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Tanker</a:t>
            </a:r>
            <a:endParaRPr lang="en-US" sz="1050" dirty="0"/>
          </a:p>
        </p:txBody>
      </p:sp>
      <p:sp>
        <p:nvSpPr>
          <p:cNvPr id="19" name="vg Fishing"/>
          <p:cNvSpPr txBox="1"/>
          <p:nvPr/>
        </p:nvSpPr>
        <p:spPr>
          <a:xfrm>
            <a:off x="1906524" y="3895344"/>
            <a:ext cx="754380" cy="27432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Fishing</a:t>
            </a:r>
            <a:endParaRPr lang="en-US" sz="1050" dirty="0"/>
          </a:p>
        </p:txBody>
      </p:sp>
      <p:sp>
        <p:nvSpPr>
          <p:cNvPr id="20" name="vg Passenger"/>
          <p:cNvSpPr txBox="1"/>
          <p:nvPr/>
        </p:nvSpPr>
        <p:spPr>
          <a:xfrm>
            <a:off x="2734056" y="3895344"/>
            <a:ext cx="891540" cy="27432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Passenger</a:t>
            </a:r>
            <a:endParaRPr lang="en-US" sz="1050" dirty="0"/>
          </a:p>
        </p:txBody>
      </p:sp>
      <p:sp>
        <p:nvSpPr>
          <p:cNvPr id="21" name="vg …"/>
          <p:cNvSpPr txBox="1"/>
          <p:nvPr/>
        </p:nvSpPr>
        <p:spPr>
          <a:xfrm>
            <a:off x="3698748" y="3895344"/>
            <a:ext cx="342900" cy="27432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…</a:t>
            </a:r>
            <a:endParaRPr lang="en-US" sz="1050" dirty="0"/>
          </a:p>
        </p:txBody>
      </p:sp>
      <p:sp>
        <p:nvSpPr>
          <p:cNvPr id="22" name="vg note"/>
          <p:cNvSpPr txBox="1"/>
          <p:nvPr/>
        </p:nvSpPr>
        <p:spPr>
          <a:xfrm>
            <a:off x="457200" y="4261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Dark = in scope for this study</a:t>
            </a:r>
            <a:endParaRPr lang="en-US" sz="1000" dirty="0"/>
          </a:p>
        </p:txBody>
      </p:sp>
      <p:sp>
        <p:nvSpPr>
          <p:cNvPr id="23" name="rows card"/>
          <p:cNvSpPr/>
          <p:nvPr/>
        </p:nvSpPr>
        <p:spPr>
          <a:xfrm>
            <a:off x="4572000" y="1417320"/>
            <a:ext cx="4114800" cy="3108960"/>
          </a:xfrm>
          <a:prstGeom prst="roundRect">
            <a:avLst>
              <a:gd name="adj" fmla="val 6471"/>
            </a:avLst>
          </a:prstGeom>
          <a:solidFill>
            <a:srgbClr val="0A0B0D"/>
          </a:solidFill>
          <a:ln/>
        </p:spPr>
      </p:sp>
      <p:sp>
        <p:nvSpPr>
          <p:cNvPr id="24" name="rows label"/>
          <p:cNvSpPr txBox="1"/>
          <p:nvPr/>
        </p:nvSpPr>
        <p:spPr>
          <a:xfrm>
            <a:off x="484632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FA6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HOW ROWS ARE FORMED</a:t>
            </a:r>
            <a:endParaRPr lang="en-US" sz="1100" dirty="0"/>
          </a:p>
        </p:txBody>
      </p:sp>
      <p:sp>
        <p:nvSpPr>
          <p:cNvPr id="25" name="rows headline"/>
          <p:cNvSpPr txBox="1"/>
          <p:nvPr/>
        </p:nvSpPr>
        <p:spPr>
          <a:xfrm>
            <a:off x="4846320" y="1965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 row = 1 track interval. One vessel (MMSI) appears in many rows.</a:t>
            </a:r>
            <a:endParaRPr lang="en-US" sz="1500" dirty="0"/>
          </a:p>
        </p:txBody>
      </p:sp>
      <p:sp>
        <p:nvSpPr>
          <p:cNvPr id="26" name="mmsi chip"/>
          <p:cNvSpPr txBox="1"/>
          <p:nvPr/>
        </p:nvSpPr>
        <p:spPr>
          <a:xfrm>
            <a:off x="4846320" y="267919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62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MMSI 563156300</a:t>
            </a:r>
            <a:endParaRPr lang="en-US" sz="1000" dirty="0"/>
          </a:p>
        </p:txBody>
      </p:sp>
      <p:sp>
        <p:nvSpPr>
          <p:cNvPr id="27" name="timeline axis"/>
          <p:cNvSpPr/>
          <p:nvPr/>
        </p:nvSpPr>
        <p:spPr>
          <a:xfrm>
            <a:off x="4846320" y="3255264"/>
            <a:ext cx="3566160" cy="0"/>
          </a:xfrm>
          <a:prstGeom prst="line">
            <a:avLst/>
          </a:prstGeom>
          <a:noFill/>
          <a:ln w="12700">
            <a:solidFill>
              <a:srgbClr val="3A3F48"/>
            </a:solidFill>
            <a:prstDash val="dash"/>
          </a:ln>
        </p:spPr>
      </p:sp>
      <p:sp>
        <p:nvSpPr>
          <p:cNvPr id="28" name="segment 0"/>
          <p:cNvSpPr/>
          <p:nvPr/>
        </p:nvSpPr>
        <p:spPr>
          <a:xfrm>
            <a:off x="4846320" y="3136392"/>
            <a:ext cx="784555" cy="23774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29" name="segment label 0"/>
          <p:cNvSpPr txBox="1"/>
          <p:nvPr/>
        </p:nvSpPr>
        <p:spPr>
          <a:xfrm>
            <a:off x="4846320" y="3429000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row 1</a:t>
            </a:r>
            <a:endParaRPr lang="en-US" sz="1000" dirty="0"/>
          </a:p>
        </p:txBody>
      </p:sp>
      <p:sp>
        <p:nvSpPr>
          <p:cNvPr id="30" name="segment 1"/>
          <p:cNvSpPr/>
          <p:nvPr/>
        </p:nvSpPr>
        <p:spPr>
          <a:xfrm>
            <a:off x="5809183" y="3136392"/>
            <a:ext cx="677570" cy="237744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/>
        </p:spPr>
      </p:sp>
      <p:sp>
        <p:nvSpPr>
          <p:cNvPr id="31" name="segment label 1"/>
          <p:cNvSpPr txBox="1"/>
          <p:nvPr/>
        </p:nvSpPr>
        <p:spPr>
          <a:xfrm>
            <a:off x="5809183" y="3429000"/>
            <a:ext cx="677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row 2</a:t>
            </a:r>
            <a:endParaRPr lang="en-US" sz="1000" dirty="0"/>
          </a:p>
        </p:txBody>
      </p:sp>
      <p:sp>
        <p:nvSpPr>
          <p:cNvPr id="32" name="segment 2"/>
          <p:cNvSpPr/>
          <p:nvPr/>
        </p:nvSpPr>
        <p:spPr>
          <a:xfrm>
            <a:off x="6736385" y="3136392"/>
            <a:ext cx="891540" cy="23774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33" name="segment label 2"/>
          <p:cNvSpPr txBox="1"/>
          <p:nvPr/>
        </p:nvSpPr>
        <p:spPr>
          <a:xfrm>
            <a:off x="6736385" y="3429000"/>
            <a:ext cx="891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row 3</a:t>
            </a:r>
            <a:endParaRPr lang="en-US" sz="1000" dirty="0"/>
          </a:p>
        </p:txBody>
      </p:sp>
      <p:sp>
        <p:nvSpPr>
          <p:cNvPr id="34" name="segment 3"/>
          <p:cNvSpPr/>
          <p:nvPr/>
        </p:nvSpPr>
        <p:spPr>
          <a:xfrm>
            <a:off x="7841894" y="3136392"/>
            <a:ext cx="570586" cy="23774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35" name="segment label 3"/>
          <p:cNvSpPr txBox="1"/>
          <p:nvPr/>
        </p:nvSpPr>
        <p:spPr>
          <a:xfrm>
            <a:off x="7841894" y="3429000"/>
            <a:ext cx="5705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row 4</a:t>
            </a:r>
            <a:endParaRPr lang="en-US" sz="1000" dirty="0"/>
          </a:p>
        </p:txBody>
      </p:sp>
      <p:sp>
        <p:nvSpPr>
          <p:cNvPr id="36" name="gap label"/>
          <p:cNvSpPr txBox="1"/>
          <p:nvPr/>
        </p:nvSpPr>
        <p:spPr>
          <a:xfrm>
            <a:off x="5539435" y="2898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202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gap</a:t>
            </a:r>
            <a:endParaRPr lang="en-US" sz="950" dirty="0"/>
          </a:p>
        </p:txBody>
      </p:sp>
      <p:sp>
        <p:nvSpPr>
          <p:cNvPr id="37" name="illustrative"/>
          <p:cNvSpPr txBox="1"/>
          <p:nvPr/>
        </p:nvSpPr>
        <p:spPr>
          <a:xfrm>
            <a:off x="6949440" y="2679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Illustrative timeline</a:t>
            </a:r>
            <a:endParaRPr lang="en-US" sz="950" dirty="0"/>
          </a:p>
        </p:txBody>
      </p:sp>
      <p:sp>
        <p:nvSpPr>
          <p:cNvPr id="38" name="rows rule"/>
          <p:cNvSpPr txBox="1"/>
          <p:nvPr/>
        </p:nvSpPr>
        <p:spPr>
          <a:xfrm>
            <a:off x="484632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ED6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Raw AIS sampled to 1 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CED6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→ new track when gap &gt; 30 min or &gt; 1 NM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CED6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→ built per month and per ocean basin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05 — AIS DATA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Inside the GeoPackage file</a:t>
            </a:r>
            <a:endParaRPr lang="en-US" sz="3600" dirty="0"/>
          </a:p>
        </p:txBody>
      </p:sp>
      <p:sp>
        <p:nvSpPr>
          <p:cNvPr id="4" name="gpkg container"/>
          <p:cNvSpPr/>
          <p:nvPr/>
        </p:nvSpPr>
        <p:spPr>
          <a:xfrm>
            <a:off x="457200" y="1371600"/>
            <a:ext cx="8229600" cy="1783080"/>
          </a:xfrm>
          <a:prstGeom prst="roundRect">
            <a:avLst>
              <a:gd name="adj" fmla="val 11282"/>
            </a:avLst>
          </a:prstGeom>
          <a:solidFill>
            <a:srgbClr val="0A0B0D"/>
          </a:solidFill>
          <a:ln/>
        </p:spPr>
      </p:sp>
      <p:sp>
        <p:nvSpPr>
          <p:cNvPr id="5" name="gpkg title"/>
          <p:cNvSpPr txBox="1"/>
          <p:nvPr/>
        </p:nvSpPr>
        <p:spPr>
          <a:xfrm>
            <a:off x="685800" y="1499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AISVesselTracks2024.gpkg</a:t>
            </a:r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   SQLite container</a:t>
            </a:r>
            <a:endParaRPr lang="en-US" sz="1200" dirty="0"/>
          </a:p>
        </p:txBody>
      </p:sp>
      <p:sp>
        <p:nvSpPr>
          <p:cNvPr id="6" name="sub card 0"/>
          <p:cNvSpPr/>
          <p:nvPr/>
        </p:nvSpPr>
        <p:spPr>
          <a:xfrm>
            <a:off x="640080" y="1874520"/>
            <a:ext cx="2514600" cy="1097280"/>
          </a:xfrm>
          <a:prstGeom prst="roundRect">
            <a:avLst>
              <a:gd name="adj" fmla="val 18333"/>
            </a:avLst>
          </a:prstGeom>
          <a:solidFill>
            <a:srgbClr val="1B1D22"/>
          </a:solidFill>
          <a:ln/>
        </p:spPr>
      </p:sp>
      <p:sp>
        <p:nvSpPr>
          <p:cNvPr id="7" name="sub t 0"/>
          <p:cNvSpPr txBox="1"/>
          <p:nvPr/>
        </p:nvSpPr>
        <p:spPr>
          <a:xfrm>
            <a:off x="82296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Spatial index</a:t>
            </a:r>
            <a:endParaRPr lang="en-US" sz="1300" dirty="0"/>
          </a:p>
        </p:txBody>
      </p:sp>
      <p:sp>
        <p:nvSpPr>
          <p:cNvPr id="8" name="sub c 0"/>
          <p:cNvSpPr txBox="1"/>
          <p:nvPr/>
        </p:nvSpPr>
        <p:spPr>
          <a:xfrm>
            <a:off x="82296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rtree_AISVesselTracks2024_Shape</a:t>
            </a:r>
            <a:endParaRPr lang="en-US" sz="950" dirty="0"/>
          </a:p>
        </p:txBody>
      </p:sp>
      <p:sp>
        <p:nvSpPr>
          <p:cNvPr id="9" name="sub d 0"/>
          <p:cNvSpPr txBox="1"/>
          <p:nvPr/>
        </p:nvSpPr>
        <p:spPr>
          <a:xfrm>
            <a:off x="822960" y="2514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Bounding box of every track → fast candidate lookup</a:t>
            </a:r>
            <a:endParaRPr lang="en-US" sz="1050" dirty="0"/>
          </a:p>
        </p:txBody>
      </p:sp>
      <p:sp>
        <p:nvSpPr>
          <p:cNvPr id="10" name="sub card 1"/>
          <p:cNvSpPr/>
          <p:nvPr/>
        </p:nvSpPr>
        <p:spPr>
          <a:xfrm>
            <a:off x="3337560" y="1874520"/>
            <a:ext cx="2514600" cy="1097280"/>
          </a:xfrm>
          <a:prstGeom prst="roundRect">
            <a:avLst>
              <a:gd name="adj" fmla="val 18333"/>
            </a:avLst>
          </a:prstGeom>
          <a:solidFill>
            <a:srgbClr val="1B1D22"/>
          </a:solidFill>
          <a:ln/>
        </p:spPr>
      </p:sp>
      <p:sp>
        <p:nvSpPr>
          <p:cNvPr id="11" name="sub t 1"/>
          <p:cNvSpPr txBox="1"/>
          <p:nvPr/>
        </p:nvSpPr>
        <p:spPr>
          <a:xfrm>
            <a:off x="352044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Feature layer</a:t>
            </a:r>
            <a:endParaRPr lang="en-US" sz="1300" dirty="0"/>
          </a:p>
        </p:txBody>
      </p:sp>
      <p:sp>
        <p:nvSpPr>
          <p:cNvPr id="12" name="sub c 1"/>
          <p:cNvSpPr txBox="1"/>
          <p:nvPr/>
        </p:nvSpPr>
        <p:spPr>
          <a:xfrm>
            <a:off x="352044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AISVesselTracks2024</a:t>
            </a:r>
            <a:endParaRPr lang="en-US" sz="950" dirty="0"/>
          </a:p>
        </p:txBody>
      </p:sp>
      <p:sp>
        <p:nvSpPr>
          <p:cNvPr id="13" name="sub d 1"/>
          <p:cNvSpPr txBox="1"/>
          <p:nvPr/>
        </p:nvSpPr>
        <p:spPr>
          <a:xfrm>
            <a:off x="3520440" y="2514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10 attributes + Shape (MULTILINESTRING) per row</a:t>
            </a:r>
            <a:endParaRPr lang="en-US" sz="1050" dirty="0"/>
          </a:p>
        </p:txBody>
      </p:sp>
      <p:sp>
        <p:nvSpPr>
          <p:cNvPr id="14" name="sub card 2"/>
          <p:cNvSpPr/>
          <p:nvPr/>
        </p:nvSpPr>
        <p:spPr>
          <a:xfrm>
            <a:off x="6035040" y="1874520"/>
            <a:ext cx="2514600" cy="1097280"/>
          </a:xfrm>
          <a:prstGeom prst="roundRect">
            <a:avLst>
              <a:gd name="adj" fmla="val 18333"/>
            </a:avLst>
          </a:prstGeom>
          <a:solidFill>
            <a:srgbClr val="1B1D22"/>
          </a:solidFill>
          <a:ln/>
        </p:spPr>
      </p:sp>
      <p:sp>
        <p:nvSpPr>
          <p:cNvPr id="15" name="sub t 2"/>
          <p:cNvSpPr txBox="1"/>
          <p:nvPr/>
        </p:nvSpPr>
        <p:spPr>
          <a:xfrm>
            <a:off x="621792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Metadata tables</a:t>
            </a:r>
            <a:endParaRPr lang="en-US" sz="1300" dirty="0"/>
          </a:p>
        </p:txBody>
      </p:sp>
      <p:sp>
        <p:nvSpPr>
          <p:cNvPr id="16" name="sub c 2"/>
          <p:cNvSpPr txBox="1"/>
          <p:nvPr/>
        </p:nvSpPr>
        <p:spPr>
          <a:xfrm>
            <a:off x="6217920" y="22677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gpkg_contents · gpkg_spatial_ref_sys</a:t>
            </a:r>
            <a:endParaRPr lang="en-US" sz="950" dirty="0"/>
          </a:p>
        </p:txBody>
      </p:sp>
      <p:sp>
        <p:nvSpPr>
          <p:cNvPr id="17" name="sub d 2"/>
          <p:cNvSpPr txBox="1"/>
          <p:nvPr/>
        </p:nvSpPr>
        <p:spPr>
          <a:xfrm>
            <a:off x="6217920" y="2514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Layer description and CRS: EPSG:4269</a:t>
            </a:r>
            <a:endParaRPr lang="en-US" sz="1050" dirty="0"/>
          </a:p>
        </p:txBody>
      </p:sp>
      <p:sp>
        <p:nvSpPr>
          <p:cNvPr id="18" name="pipe step 0"/>
          <p:cNvSpPr/>
          <p:nvPr/>
        </p:nvSpPr>
        <p:spPr>
          <a:xfrm>
            <a:off x="457200" y="3520440"/>
            <a:ext cx="1481328" cy="914400"/>
          </a:xfrm>
          <a:prstGeom prst="roundRect">
            <a:avLst>
              <a:gd name="adj" fmla="val 22000"/>
            </a:avLst>
          </a:prstGeom>
          <a:solidFill>
            <a:srgbClr val="EEF0F3"/>
          </a:solidFill>
          <a:ln/>
        </p:spPr>
      </p:sp>
      <p:sp>
        <p:nvSpPr>
          <p:cNvPr id="19" name="pipe num 0"/>
          <p:cNvSpPr txBox="1"/>
          <p:nvPr/>
        </p:nvSpPr>
        <p:spPr>
          <a:xfrm>
            <a:off x="594360" y="3648456"/>
            <a:ext cx="274320" cy="274320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pipe t 0"/>
          <p:cNvSpPr txBox="1"/>
          <p:nvPr/>
        </p:nvSpPr>
        <p:spPr>
          <a:xfrm>
            <a:off x="932688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BBox lookup</a:t>
            </a:r>
            <a:endParaRPr lang="en-US" sz="1150" dirty="0"/>
          </a:p>
        </p:txBody>
      </p:sp>
      <p:sp>
        <p:nvSpPr>
          <p:cNvPr id="21" name="pipe d 0"/>
          <p:cNvSpPr txBox="1"/>
          <p:nvPr/>
        </p:nvSpPr>
        <p:spPr>
          <a:xfrm>
            <a:off x="594360" y="39959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RTree returns candidate tracks</a:t>
            </a:r>
            <a:endParaRPr lang="en-US" sz="1000" dirty="0"/>
          </a:p>
        </p:txBody>
      </p:sp>
      <p:sp>
        <p:nvSpPr>
          <p:cNvPr id="22" name="pipe arrow 0"/>
          <p:cNvSpPr/>
          <p:nvPr/>
        </p:nvSpPr>
        <p:spPr>
          <a:xfrm>
            <a:off x="1965960" y="3977640"/>
            <a:ext cx="150876" cy="0"/>
          </a:xfrm>
          <a:prstGeom prst="line">
            <a:avLst/>
          </a:prstGeom>
          <a:noFill/>
          <a:ln w="15875">
            <a:solidFill>
              <a:srgbClr val="8A919E"/>
            </a:solidFill>
            <a:prstDash val="solid"/>
            <a:tailEnd type="triangle"/>
          </a:ln>
        </p:spPr>
      </p:sp>
      <p:sp>
        <p:nvSpPr>
          <p:cNvPr id="23" name="pipe step 1"/>
          <p:cNvSpPr/>
          <p:nvPr/>
        </p:nvSpPr>
        <p:spPr>
          <a:xfrm>
            <a:off x="2144268" y="3520440"/>
            <a:ext cx="1481328" cy="914400"/>
          </a:xfrm>
          <a:prstGeom prst="roundRect">
            <a:avLst>
              <a:gd name="adj" fmla="val 22000"/>
            </a:avLst>
          </a:prstGeom>
          <a:solidFill>
            <a:srgbClr val="EEF0F3"/>
          </a:solidFill>
          <a:ln/>
        </p:spPr>
      </p:sp>
      <p:sp>
        <p:nvSpPr>
          <p:cNvPr id="24" name="pipe num 1"/>
          <p:cNvSpPr txBox="1"/>
          <p:nvPr/>
        </p:nvSpPr>
        <p:spPr>
          <a:xfrm>
            <a:off x="2281428" y="3648456"/>
            <a:ext cx="274320" cy="274320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pipe t 1"/>
          <p:cNvSpPr txBox="1"/>
          <p:nvPr/>
        </p:nvSpPr>
        <p:spPr>
          <a:xfrm>
            <a:off x="2619756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Exact intersect</a:t>
            </a:r>
            <a:endParaRPr lang="en-US" sz="1150" dirty="0"/>
          </a:p>
        </p:txBody>
      </p:sp>
      <p:sp>
        <p:nvSpPr>
          <p:cNvPr id="26" name="pipe d 1"/>
          <p:cNvSpPr txBox="1"/>
          <p:nvPr/>
        </p:nvSpPr>
        <p:spPr>
          <a:xfrm>
            <a:off x="2281428" y="39959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Drop bbox-only false positives</a:t>
            </a:r>
            <a:endParaRPr lang="en-US" sz="1000" dirty="0"/>
          </a:p>
        </p:txBody>
      </p:sp>
      <p:sp>
        <p:nvSpPr>
          <p:cNvPr id="27" name="pipe arrow 1"/>
          <p:cNvSpPr/>
          <p:nvPr/>
        </p:nvSpPr>
        <p:spPr>
          <a:xfrm>
            <a:off x="3653028" y="3977640"/>
            <a:ext cx="150876" cy="0"/>
          </a:xfrm>
          <a:prstGeom prst="line">
            <a:avLst/>
          </a:prstGeom>
          <a:noFill/>
          <a:ln w="15875">
            <a:solidFill>
              <a:srgbClr val="8A919E"/>
            </a:solidFill>
            <a:prstDash val="solid"/>
            <a:tailEnd type="triangle"/>
          </a:ln>
        </p:spPr>
      </p:sp>
      <p:sp>
        <p:nvSpPr>
          <p:cNvPr id="28" name="pipe step 2"/>
          <p:cNvSpPr/>
          <p:nvPr/>
        </p:nvSpPr>
        <p:spPr>
          <a:xfrm>
            <a:off x="3831336" y="3520440"/>
            <a:ext cx="1481328" cy="914400"/>
          </a:xfrm>
          <a:prstGeom prst="roundRect">
            <a:avLst>
              <a:gd name="adj" fmla="val 22000"/>
            </a:avLst>
          </a:prstGeom>
          <a:solidFill>
            <a:srgbClr val="EEF0F3"/>
          </a:solidFill>
          <a:ln/>
        </p:spPr>
      </p:sp>
      <p:sp>
        <p:nvSpPr>
          <p:cNvPr id="29" name="pipe num 2"/>
          <p:cNvSpPr txBox="1"/>
          <p:nvPr/>
        </p:nvSpPr>
        <p:spPr>
          <a:xfrm>
            <a:off x="3968496" y="3648456"/>
            <a:ext cx="274320" cy="274320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pipe t 2"/>
          <p:cNvSpPr txBox="1"/>
          <p:nvPr/>
        </p:nvSpPr>
        <p:spPr>
          <a:xfrm>
            <a:off x="4306824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 &amp; Tanker</a:t>
            </a:r>
            <a:endParaRPr lang="en-US" sz="1150" dirty="0"/>
          </a:p>
        </p:txBody>
      </p:sp>
      <p:sp>
        <p:nvSpPr>
          <p:cNvPr id="31" name="pipe d 2"/>
          <p:cNvSpPr txBox="1"/>
          <p:nvPr/>
        </p:nvSpPr>
        <p:spPr>
          <a:xfrm>
            <a:off x="3968496" y="39959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Filter on VesselGroup</a:t>
            </a:r>
            <a:endParaRPr lang="en-US" sz="1000" dirty="0"/>
          </a:p>
        </p:txBody>
      </p:sp>
      <p:sp>
        <p:nvSpPr>
          <p:cNvPr id="32" name="pipe arrow 2"/>
          <p:cNvSpPr/>
          <p:nvPr/>
        </p:nvSpPr>
        <p:spPr>
          <a:xfrm>
            <a:off x="5340096" y="3977640"/>
            <a:ext cx="150876" cy="0"/>
          </a:xfrm>
          <a:prstGeom prst="line">
            <a:avLst/>
          </a:prstGeom>
          <a:noFill/>
          <a:ln w="15875">
            <a:solidFill>
              <a:srgbClr val="8A919E"/>
            </a:solidFill>
            <a:prstDash val="solid"/>
            <a:tailEnd type="triangle"/>
          </a:ln>
        </p:spPr>
      </p:sp>
      <p:sp>
        <p:nvSpPr>
          <p:cNvPr id="33" name="pipe step 3"/>
          <p:cNvSpPr/>
          <p:nvPr/>
        </p:nvSpPr>
        <p:spPr>
          <a:xfrm>
            <a:off x="5518404" y="3520440"/>
            <a:ext cx="1481328" cy="914400"/>
          </a:xfrm>
          <a:prstGeom prst="roundRect">
            <a:avLst>
              <a:gd name="adj" fmla="val 22000"/>
            </a:avLst>
          </a:prstGeom>
          <a:solidFill>
            <a:srgbClr val="EEF0F3"/>
          </a:solidFill>
          <a:ln/>
        </p:spPr>
      </p:sp>
      <p:sp>
        <p:nvSpPr>
          <p:cNvPr id="34" name="pipe num 3"/>
          <p:cNvSpPr txBox="1"/>
          <p:nvPr/>
        </p:nvSpPr>
        <p:spPr>
          <a:xfrm>
            <a:off x="5655564" y="3648456"/>
            <a:ext cx="274320" cy="274320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4</a:t>
            </a:r>
            <a:endParaRPr lang="en-US" sz="1050" dirty="0"/>
          </a:p>
        </p:txBody>
      </p:sp>
      <p:sp>
        <p:nvSpPr>
          <p:cNvPr id="35" name="pipe t 3"/>
          <p:cNvSpPr txBox="1"/>
          <p:nvPr/>
        </p:nvSpPr>
        <p:spPr>
          <a:xfrm>
            <a:off x="5993892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pandas chunks</a:t>
            </a:r>
            <a:endParaRPr lang="en-US" sz="1150" dirty="0"/>
          </a:p>
        </p:txBody>
      </p:sp>
      <p:sp>
        <p:nvSpPr>
          <p:cNvPr id="36" name="pipe d 3"/>
          <p:cNvSpPr txBox="1"/>
          <p:nvPr/>
        </p:nvSpPr>
        <p:spPr>
          <a:xfrm>
            <a:off x="5655564" y="39959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Read 100k rows at a time</a:t>
            </a:r>
            <a:endParaRPr lang="en-US" sz="1000" dirty="0"/>
          </a:p>
        </p:txBody>
      </p:sp>
      <p:sp>
        <p:nvSpPr>
          <p:cNvPr id="37" name="pipe arrow 3"/>
          <p:cNvSpPr/>
          <p:nvPr/>
        </p:nvSpPr>
        <p:spPr>
          <a:xfrm>
            <a:off x="7027164" y="3977640"/>
            <a:ext cx="150876" cy="0"/>
          </a:xfrm>
          <a:prstGeom prst="line">
            <a:avLst/>
          </a:prstGeom>
          <a:noFill/>
          <a:ln w="15875">
            <a:solidFill>
              <a:srgbClr val="8A919E"/>
            </a:solidFill>
            <a:prstDash val="solid"/>
            <a:tailEnd type="triangle"/>
          </a:ln>
        </p:spPr>
      </p:sp>
      <p:sp>
        <p:nvSpPr>
          <p:cNvPr id="38" name="pipe step 4"/>
          <p:cNvSpPr/>
          <p:nvPr/>
        </p:nvSpPr>
        <p:spPr>
          <a:xfrm>
            <a:off x="7205472" y="3520440"/>
            <a:ext cx="1481328" cy="914400"/>
          </a:xfrm>
          <a:prstGeom prst="roundRect">
            <a:avLst>
              <a:gd name="adj" fmla="val 22000"/>
            </a:avLst>
          </a:prstGeom>
          <a:solidFill>
            <a:srgbClr val="EEF0F3"/>
          </a:solidFill>
          <a:ln/>
        </p:spPr>
      </p:sp>
      <p:sp>
        <p:nvSpPr>
          <p:cNvPr id="39" name="pipe num 4"/>
          <p:cNvSpPr txBox="1"/>
          <p:nvPr/>
        </p:nvSpPr>
        <p:spPr>
          <a:xfrm>
            <a:off x="7342632" y="3648456"/>
            <a:ext cx="274320" cy="274320"/>
          </a:xfrm>
          <a:prstGeom prst="ellipse">
            <a:avLst/>
          </a:prstGeom>
          <a:solidFill>
            <a:srgbClr val="005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5</a:t>
            </a:r>
            <a:endParaRPr lang="en-US" sz="1050" dirty="0"/>
          </a:p>
        </p:txBody>
      </p:sp>
      <p:sp>
        <p:nvSpPr>
          <p:cNvPr id="40" name="pipe t 4"/>
          <p:cNvSpPr txBox="1"/>
          <p:nvPr/>
        </p:nvSpPr>
        <p:spPr>
          <a:xfrm>
            <a:off x="7680960" y="36484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CSV + Shape_WKT</a:t>
            </a:r>
            <a:endParaRPr lang="en-US" sz="1150" dirty="0"/>
          </a:p>
        </p:txBody>
      </p:sp>
      <p:sp>
        <p:nvSpPr>
          <p:cNvPr id="41" name="pipe d 4"/>
          <p:cNvSpPr txBox="1"/>
          <p:nvPr/>
        </p:nvSpPr>
        <p:spPr>
          <a:xfrm>
            <a:off x="7342632" y="399592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Binary geometry → WKT text</a:t>
            </a:r>
            <a:endParaRPr lang="en-US" sz="1000" dirty="0"/>
          </a:p>
        </p:txBody>
      </p:sp>
      <p:sp>
        <p:nvSpPr>
          <p:cNvPr id="42" name="link 0"/>
          <p:cNvSpPr/>
          <p:nvPr/>
        </p:nvSpPr>
        <p:spPr>
          <a:xfrm>
            <a:off x="1197864" y="3172968"/>
            <a:ext cx="0" cy="329184"/>
          </a:xfrm>
          <a:prstGeom prst="line">
            <a:avLst/>
          </a:prstGeom>
          <a:noFill/>
          <a:ln w="19050">
            <a:solidFill>
              <a:srgbClr val="0052FF"/>
            </a:solidFill>
            <a:prstDash val="dash"/>
            <a:tailEnd type="triangle"/>
          </a:ln>
        </p:spPr>
      </p:sp>
      <p:sp>
        <p:nvSpPr>
          <p:cNvPr id="43" name="link 1"/>
          <p:cNvSpPr/>
          <p:nvPr/>
        </p:nvSpPr>
        <p:spPr>
          <a:xfrm>
            <a:off x="4572000" y="3172968"/>
            <a:ext cx="0" cy="329184"/>
          </a:xfrm>
          <a:prstGeom prst="line">
            <a:avLst/>
          </a:prstGeom>
          <a:noFill/>
          <a:ln w="19050">
            <a:solidFill>
              <a:srgbClr val="0052FF"/>
            </a:solidFill>
            <a:prstDash val="dash"/>
            <a:tailEnd type="triangle"/>
          </a:ln>
        </p:spPr>
      </p:sp>
      <p:sp>
        <p:nvSpPr>
          <p:cNvPr id="44" name="link 2"/>
          <p:cNvSpPr/>
          <p:nvPr/>
        </p:nvSpPr>
        <p:spPr>
          <a:xfrm>
            <a:off x="7946136" y="3172968"/>
            <a:ext cx="0" cy="329184"/>
          </a:xfrm>
          <a:prstGeom prst="line">
            <a:avLst/>
          </a:prstGeom>
          <a:noFill/>
          <a:ln w="19050">
            <a:solidFill>
              <a:srgbClr val="0052FF"/>
            </a:solidFill>
            <a:prstDash val="dash"/>
            <a:tailEnd type="triangle"/>
          </a:ln>
        </p:spPr>
      </p:sp>
      <p:sp>
        <p:nvSpPr>
          <p:cNvPr id="45" name="link legend"/>
          <p:cNvSpPr txBox="1"/>
          <p:nvPr/>
        </p:nvSpPr>
        <p:spPr>
          <a:xfrm>
            <a:off x="457200" y="4507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Blue dashed arrows: which part of the file each step relies 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05 — AIS DATA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Structure of raw data — one row, one line</a:t>
            </a:r>
            <a:endParaRPr lang="en-US" sz="3600" dirty="0"/>
          </a:p>
        </p:txBody>
      </p:sp>
      <p:graphicFrame>
        <p:nvGraphicFramePr>
          <p:cNvPr id="8" name="fiel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983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2011680"/>
                <a:gridCol w="73152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Field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Type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Meaning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Use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Shape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MultiLineString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Track line (can have several parts)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52F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CORE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MMSI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Medium int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Vessel ID — recurs across rows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52F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CORE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TrackStartTime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Date/time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Start of track interval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52F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CORE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TrackEndTime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Date/time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End of track interval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52F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CORE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VesselGroup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Text (25)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Broad category: Cargo, Tanker …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52F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CORE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VesselType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Medium int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Type code (needs codebook)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SUPPORT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Length · Width · Draft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Double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Vessel dimensions as reported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SUPPORT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DurationMinutes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Medium int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Track duration in minutes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SUPPORT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OBJECTID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16E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Integer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0B0D"/>
                          </a:solidFill>
                          <a:latin typeface="프리젠테이션 4 Regular" pitchFamily="34" charset="0"/>
                          <a:ea typeface="프리젠테이션 4 Regular" pitchFamily="34" charset="-122"/>
                          <a:cs typeface="프리젠테이션 4 Regular" pitchFamily="34" charset="-120"/>
                        </a:rPr>
                        <a:t>Row ID, used by spatial index</a:t>
                      </a:r>
                      <a:endParaRPr lang="en-US" sz="1000" dirty="0">
                        <a:latin typeface="프리젠테이션 4 Regular" charset="0"/>
                        <a:ea typeface="프리젠테이션 4 Regular" charset="0"/>
                        <a:cs typeface="프리젠테이션 4 Regular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F202F"/>
                          </a:solidFill>
                          <a:latin typeface="프리젠테이션 7 Bold" pitchFamily="34" charset="0"/>
                          <a:ea typeface="프리젠테이션 7 Bold" pitchFamily="34" charset="-122"/>
                          <a:cs typeface="프리젠테이션 7 Bold" pitchFamily="34" charset="-120"/>
                        </a:rPr>
                        <a:t>DROP</a:t>
                      </a:r>
                      <a:endParaRPr lang="en-US" sz="1000" dirty="0">
                        <a:latin typeface="프리젠테이션 7 Bold" charset="0"/>
                        <a:ea typeface="프리젠테이션 7 Bold" charset="0"/>
                        <a:cs typeface="프리젠테이션 7 Bold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457200" y="4160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11 fields in total (Length, Width, Draft shown in one row)</a:t>
            </a:r>
            <a:endParaRPr lang="en-US" sz="950" dirty="0"/>
          </a:p>
        </p:txBody>
      </p:sp>
      <p:pic>
        <p:nvPicPr>
          <p:cNvPr id="6" name="example track map" descr="Example cargo AIS track near Norfolk, OBJECTID 5095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325880"/>
            <a:ext cx="2971800" cy="2628900"/>
          </a:xfrm>
          <a:prstGeom prst="rect">
            <a:avLst/>
          </a:prstGeom>
        </p:spPr>
      </p:pic>
      <p:sp>
        <p:nvSpPr>
          <p:cNvPr id="7" name="row caption card"/>
          <p:cNvSpPr/>
          <p:nvPr/>
        </p:nvSpPr>
        <p:spPr>
          <a:xfrm>
            <a:off x="5715000" y="4027932"/>
            <a:ext cx="2971800" cy="685800"/>
          </a:xfrm>
          <a:prstGeom prst="roundRect">
            <a:avLst>
              <a:gd name="adj" fmla="val 29333"/>
            </a:avLst>
          </a:prstGeom>
          <a:solidFill>
            <a:srgbClr val="0A0B0D"/>
          </a:solidFill>
          <a:ln/>
        </p:spPr>
      </p:sp>
      <p:sp>
        <p:nvSpPr>
          <p:cNvPr id="8" name="row caption"/>
          <p:cNvSpPr txBox="1"/>
          <p:nvPr/>
        </p:nvSpPr>
        <p:spPr>
          <a:xfrm>
            <a:off x="5897880" y="408279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OBJECTID 50958 · MMSI 563156300 · </a:t>
            </a:r>
            <a:pPr indent="0" marL="0">
              <a:buNone/>
            </a:pPr>
            <a:r>
              <a:rPr lang="en-US" sz="1050" dirty="0">
                <a:solidFill>
                  <a:srgbClr val="7FA6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2024-01-01 00:02 → 01-06 19:59 UTC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05 — AIS DATA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First-pass extract — Hampton Roads</a:t>
            </a:r>
            <a:endParaRPr lang="en-US" sz="3600" dirty="0"/>
          </a:p>
        </p:txBody>
      </p:sp>
      <p:pic>
        <p:nvPicPr>
          <p:cNvPr id="4" name="bbox map" descr="First-pass bounding rectangle from 77.0W to 75.5W and 36.3N to 37.5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3429000" cy="3017520"/>
          </a:xfrm>
          <a:prstGeom prst="rect">
            <a:avLst/>
          </a:prstGeom>
        </p:spPr>
      </p:pic>
      <p:sp>
        <p:nvSpPr>
          <p:cNvPr id="5" name="big rows"/>
          <p:cNvSpPr txBox="1"/>
          <p:nvPr/>
        </p:nvSpPr>
        <p:spPr>
          <a:xfrm>
            <a:off x="420624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10,943</a:t>
            </a:r>
            <a:endParaRPr lang="en-US" sz="4400" dirty="0"/>
          </a:p>
        </p:txBody>
      </p:sp>
      <p:sp>
        <p:nvSpPr>
          <p:cNvPr id="6" name="big rows label"/>
          <p:cNvSpPr txBox="1"/>
          <p:nvPr/>
        </p:nvSpPr>
        <p:spPr>
          <a:xfrm>
            <a:off x="617220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track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Cargo + Tanker, 2024</a:t>
            </a:r>
            <a:endParaRPr lang="en-US" sz="1100" dirty="0"/>
          </a:p>
        </p:txBody>
      </p:sp>
      <p:sp>
        <p:nvSpPr>
          <p:cNvPr id="7" name="csv size"/>
          <p:cNvSpPr txBox="1"/>
          <p:nvPr/>
        </p:nvSpPr>
        <p:spPr>
          <a:xfrm>
            <a:off x="7635240" y="149047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CSV ≈ 373 MB</a:t>
            </a:r>
            <a:endParaRPr lang="en-US" sz="1050" dirty="0"/>
          </a:p>
        </p:txBody>
      </p:sp>
      <p:sp>
        <p:nvSpPr>
          <p:cNvPr id="8" name="bar tanker"/>
          <p:cNvSpPr/>
          <p:nvPr/>
        </p:nvSpPr>
        <p:spPr>
          <a:xfrm>
            <a:off x="4206240" y="2148840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/>
        </p:spPr>
      </p:sp>
      <p:sp>
        <p:nvSpPr>
          <p:cNvPr id="9" name="bar cargo"/>
          <p:cNvSpPr/>
          <p:nvPr/>
        </p:nvSpPr>
        <p:spPr>
          <a:xfrm>
            <a:off x="4206240" y="2148840"/>
            <a:ext cx="4221791" cy="274320"/>
          </a:xfrm>
          <a:prstGeom prst="roundRect">
            <a:avLst>
              <a:gd name="adj" fmla="val 50000"/>
            </a:avLst>
          </a:prstGeom>
          <a:solidFill>
            <a:srgbClr val="0052FF"/>
          </a:solidFill>
          <a:ln/>
        </p:spPr>
      </p:sp>
      <p:sp>
        <p:nvSpPr>
          <p:cNvPr id="10" name="bar cargo label"/>
          <p:cNvSpPr txBox="1"/>
          <p:nvPr/>
        </p:nvSpPr>
        <p:spPr>
          <a:xfrm>
            <a:off x="43434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 94.2%</a:t>
            </a:r>
            <a:endParaRPr lang="en-US" sz="1050" dirty="0"/>
          </a:p>
        </p:txBody>
      </p:sp>
      <p:sp>
        <p:nvSpPr>
          <p:cNvPr id="11" name="bar tanker label"/>
          <p:cNvSpPr txBox="1"/>
          <p:nvPr/>
        </p:nvSpPr>
        <p:spPr>
          <a:xfrm>
            <a:off x="7223760" y="2478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Tanker 5.8% of rows</a:t>
            </a:r>
            <a:endParaRPr lang="en-US" sz="1000" dirty="0"/>
          </a:p>
        </p:txBody>
      </p:sp>
      <p:sp>
        <p:nvSpPr>
          <p:cNvPr id="12" name="group tile 0"/>
          <p:cNvSpPr/>
          <p:nvPr/>
        </p:nvSpPr>
        <p:spPr>
          <a:xfrm>
            <a:off x="4206240" y="2633472"/>
            <a:ext cx="2194560" cy="960120"/>
          </a:xfrm>
          <a:prstGeom prst="roundRect">
            <a:avLst>
              <a:gd name="adj" fmla="val 20952"/>
            </a:avLst>
          </a:prstGeom>
          <a:solidFill>
            <a:srgbClr val="EEF0F3"/>
          </a:solidFill>
          <a:ln/>
        </p:spPr>
      </p:sp>
      <p:sp>
        <p:nvSpPr>
          <p:cNvPr id="13" name="gt name 0"/>
          <p:cNvSpPr txBox="1"/>
          <p:nvPr/>
        </p:nvSpPr>
        <p:spPr>
          <a:xfrm>
            <a:off x="4389120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0052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CARGO</a:t>
            </a:r>
            <a:endParaRPr lang="en-US" sz="1000" dirty="0"/>
          </a:p>
        </p:txBody>
      </p:sp>
      <p:sp>
        <p:nvSpPr>
          <p:cNvPr id="14" name="gt val 0"/>
          <p:cNvSpPr txBox="1"/>
          <p:nvPr/>
        </p:nvSpPr>
        <p:spPr>
          <a:xfrm>
            <a:off x="4389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1,865</a:t>
            </a:r>
            <a:pPr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  vessels (MMSI)</a:t>
            </a:r>
            <a:endParaRPr lang="en-US" sz="2400" dirty="0"/>
          </a:p>
        </p:txBody>
      </p:sp>
      <p:sp>
        <p:nvSpPr>
          <p:cNvPr id="15" name="gt sub 0"/>
          <p:cNvSpPr txBox="1"/>
          <p:nvPr/>
        </p:nvSpPr>
        <p:spPr>
          <a:xfrm>
            <a:off x="438912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10,311 rows · ≈5.5 rows / vessel</a:t>
            </a:r>
            <a:endParaRPr lang="en-US" sz="1000" dirty="0"/>
          </a:p>
        </p:txBody>
      </p:sp>
      <p:sp>
        <p:nvSpPr>
          <p:cNvPr id="16" name="group tile 1"/>
          <p:cNvSpPr/>
          <p:nvPr/>
        </p:nvSpPr>
        <p:spPr>
          <a:xfrm>
            <a:off x="6492240" y="2633472"/>
            <a:ext cx="2194560" cy="960120"/>
          </a:xfrm>
          <a:prstGeom prst="roundRect">
            <a:avLst>
              <a:gd name="adj" fmla="val 20952"/>
            </a:avLst>
          </a:prstGeom>
          <a:solidFill>
            <a:srgbClr val="EEF0F3"/>
          </a:solidFill>
          <a:ln/>
        </p:spPr>
      </p:sp>
      <p:sp>
        <p:nvSpPr>
          <p:cNvPr id="17" name="gt name 1"/>
          <p:cNvSpPr txBox="1"/>
          <p:nvPr/>
        </p:nvSpPr>
        <p:spPr>
          <a:xfrm>
            <a:off x="6675120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TANKER</a:t>
            </a:r>
            <a:endParaRPr lang="en-US" sz="1000" dirty="0"/>
          </a:p>
        </p:txBody>
      </p:sp>
      <p:sp>
        <p:nvSpPr>
          <p:cNvPr id="18" name="gt val 1"/>
          <p:cNvSpPr txBox="1"/>
          <p:nvPr/>
        </p:nvSpPr>
        <p:spPr>
          <a:xfrm>
            <a:off x="6675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0B0D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138</a:t>
            </a:r>
            <a:pPr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  vessels (MMSI)</a:t>
            </a:r>
            <a:endParaRPr lang="en-US" sz="2400" dirty="0"/>
          </a:p>
        </p:txBody>
      </p:sp>
      <p:sp>
        <p:nvSpPr>
          <p:cNvPr id="19" name="gt sub 1"/>
          <p:cNvSpPr txBox="1"/>
          <p:nvPr/>
        </p:nvSpPr>
        <p:spPr>
          <a:xfrm>
            <a:off x="667512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632 rows · ≈4.6 rows / vessel</a:t>
            </a:r>
            <a:endParaRPr lang="en-US" sz="1000" dirty="0"/>
          </a:p>
        </p:txBody>
      </p:sp>
      <p:sp>
        <p:nvSpPr>
          <p:cNvPr id="20" name="fs k 0"/>
          <p:cNvSpPr txBox="1"/>
          <p:nvPr/>
        </p:nvSpPr>
        <p:spPr>
          <a:xfrm>
            <a:off x="4206240" y="37673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Filter</a:t>
            </a:r>
            <a:endParaRPr lang="en-US" sz="1050" dirty="0"/>
          </a:p>
        </p:txBody>
      </p:sp>
      <p:sp>
        <p:nvSpPr>
          <p:cNvPr id="21" name="fs v 0"/>
          <p:cNvSpPr txBox="1"/>
          <p:nvPr/>
        </p:nvSpPr>
        <p:spPr>
          <a:xfrm>
            <a:off x="4983480" y="37673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lon −77.0 → −75.5, lat 36.3 → 37.5 (EPSG:4269)</a:t>
            </a:r>
            <a:endParaRPr lang="en-US" sz="1050" dirty="0"/>
          </a:p>
        </p:txBody>
      </p:sp>
      <p:sp>
        <p:nvSpPr>
          <p:cNvPr id="22" name="fs k 1"/>
          <p:cNvSpPr txBox="1"/>
          <p:nvPr/>
        </p:nvSpPr>
        <p:spPr>
          <a:xfrm>
            <a:off x="4206240" y="4032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Rule</a:t>
            </a:r>
            <a:endParaRPr lang="en-US" sz="1050" dirty="0"/>
          </a:p>
        </p:txBody>
      </p:sp>
      <p:sp>
        <p:nvSpPr>
          <p:cNvPr id="23" name="fs v 1"/>
          <p:cNvSpPr txBox="1"/>
          <p:nvPr/>
        </p:nvSpPr>
        <p:spPr>
          <a:xfrm>
            <a:off x="4983480" y="403250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Keep tracks that intersect — whole line kept, not clipped</a:t>
            </a:r>
            <a:endParaRPr lang="en-US" sz="1050" dirty="0"/>
          </a:p>
        </p:txBody>
      </p:sp>
      <p:sp>
        <p:nvSpPr>
          <p:cNvPr id="24" name="fs k 2"/>
          <p:cNvSpPr txBox="1"/>
          <p:nvPr/>
        </p:nvSpPr>
        <p:spPr>
          <a:xfrm>
            <a:off x="4206240" y="42976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CSV adds</a:t>
            </a:r>
            <a:endParaRPr lang="en-US" sz="1050" dirty="0"/>
          </a:p>
        </p:txBody>
      </p:sp>
      <p:sp>
        <p:nvSpPr>
          <p:cNvPr id="25" name="fs v 2"/>
          <p:cNvSpPr txBox="1"/>
          <p:nvPr/>
        </p:nvSpPr>
        <p:spPr>
          <a:xfrm>
            <a:off x="4983480" y="42976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Shape_WKT · Geometry_CRS · Subset_BBox</a:t>
            </a:r>
            <a:endParaRPr lang="en-US" sz="1050" dirty="0"/>
          </a:p>
        </p:txBody>
      </p:sp>
      <p:sp>
        <p:nvSpPr>
          <p:cNvPr id="26" name="bbox caution"/>
          <p:cNvSpPr txBox="1"/>
          <p:nvPr/>
        </p:nvSpPr>
        <p:spPr>
          <a:xfrm>
            <a:off x="457200" y="45079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202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Temporary broad rectangle — not the final study boundary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accent1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06 — DATA PREPROCESSING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From national tracks to a regional dataset</a:t>
            </a:r>
            <a:endParaRPr lang="en-US" sz="3600" dirty="0"/>
          </a:p>
        </p:txBody>
      </p:sp>
      <p:sp>
        <p:nvSpPr>
          <p:cNvPr id="4" name="scope card"/>
          <p:cNvSpPr/>
          <p:nvPr/>
        </p:nvSpPr>
        <p:spPr>
          <a:xfrm>
            <a:off x="457200" y="1417320"/>
            <a:ext cx="3611880" cy="3108960"/>
          </a:xfrm>
          <a:prstGeom prst="roundRect">
            <a:avLst>
              <a:gd name="adj" fmla="val 6471"/>
            </a:avLst>
          </a:prstGeom>
          <a:solidFill>
            <a:srgbClr val="0A0B0D"/>
          </a:solidFill>
          <a:ln/>
        </p:spPr>
      </p:sp>
      <p:sp>
        <p:nvSpPr>
          <p:cNvPr id="5" name="scope label"/>
          <p:cNvSpPr txBox="1"/>
          <p:nvPr/>
        </p:nvSpPr>
        <p:spPr>
          <a:xfrm>
            <a:off x="73152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FA6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DATA SCOPE</a:t>
            </a:r>
            <a:endParaRPr lang="en-US" sz="1100" dirty="0"/>
          </a:p>
        </p:txBody>
      </p:sp>
      <p:sp>
        <p:nvSpPr>
          <p:cNvPr id="6" name="scope k 0"/>
          <p:cNvSpPr txBox="1"/>
          <p:nvPr/>
        </p:nvSpPr>
        <p:spPr>
          <a:xfrm>
            <a:off x="731520" y="20391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scope v 0"/>
          <p:cNvSpPr txBox="1"/>
          <p:nvPr/>
        </p:nvSpPr>
        <p:spPr>
          <a:xfrm>
            <a:off x="1463040" y="20391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NOAA MarineCadastre AIS Vessel Tracks 2024 [1]</a:t>
            </a:r>
            <a:endParaRPr lang="en-US" sz="1150" dirty="0"/>
          </a:p>
        </p:txBody>
      </p:sp>
      <p:sp>
        <p:nvSpPr>
          <p:cNvPr id="8" name="scope k 1"/>
          <p:cNvSpPr txBox="1"/>
          <p:nvPr/>
        </p:nvSpPr>
        <p:spPr>
          <a:xfrm>
            <a:off x="731520" y="2569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Period</a:t>
            </a:r>
            <a:endParaRPr lang="en-US" sz="1100" dirty="0"/>
          </a:p>
        </p:txBody>
      </p:sp>
      <p:sp>
        <p:nvSpPr>
          <p:cNvPr id="9" name="scope v 1"/>
          <p:cNvSpPr txBox="1"/>
          <p:nvPr/>
        </p:nvSpPr>
        <p:spPr>
          <a:xfrm>
            <a:off x="1463040" y="2569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Jan – Dec 2024</a:t>
            </a:r>
            <a:endParaRPr lang="en-US" sz="1150" dirty="0"/>
          </a:p>
        </p:txBody>
      </p:sp>
      <p:sp>
        <p:nvSpPr>
          <p:cNvPr id="10" name="scope k 2"/>
          <p:cNvSpPr txBox="1"/>
          <p:nvPr/>
        </p:nvSpPr>
        <p:spPr>
          <a:xfrm>
            <a:off x="731520" y="2898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Area</a:t>
            </a:r>
            <a:endParaRPr lang="en-US" sz="1100" dirty="0"/>
          </a:p>
        </p:txBody>
      </p:sp>
      <p:sp>
        <p:nvSpPr>
          <p:cNvPr id="11" name="scope v 2"/>
          <p:cNvSpPr txBox="1"/>
          <p:nvPr/>
        </p:nvSpPr>
        <p:spPr>
          <a:xfrm>
            <a:off x="1463040" y="28986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Now: broad rectangle → next: NOAA ENC-based approach boundary [3]</a:t>
            </a:r>
            <a:endParaRPr lang="en-US" sz="1150" dirty="0"/>
          </a:p>
        </p:txBody>
      </p:sp>
      <p:sp>
        <p:nvSpPr>
          <p:cNvPr id="12" name="scope k 3"/>
          <p:cNvSpPr txBox="1"/>
          <p:nvPr/>
        </p:nvSpPr>
        <p:spPr>
          <a:xfrm>
            <a:off x="731520" y="34290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Vessels</a:t>
            </a:r>
            <a:endParaRPr lang="en-US" sz="1100" dirty="0"/>
          </a:p>
        </p:txBody>
      </p:sp>
      <p:sp>
        <p:nvSpPr>
          <p:cNvPr id="13" name="scope v 3"/>
          <p:cNvSpPr txBox="1"/>
          <p:nvPr/>
        </p:nvSpPr>
        <p:spPr>
          <a:xfrm>
            <a:off x="1463040" y="3429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Cargo &amp; Tanker — source label is “Cargo”, not Bulk_Carrier</a:t>
            </a:r>
            <a:endParaRPr lang="en-US" sz="1150" dirty="0"/>
          </a:p>
        </p:txBody>
      </p:sp>
      <p:sp>
        <p:nvSpPr>
          <p:cNvPr id="14" name="scope k 4"/>
          <p:cNvSpPr txBox="1"/>
          <p:nvPr/>
        </p:nvSpPr>
        <p:spPr>
          <a:xfrm>
            <a:off x="731520" y="39593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Data</a:t>
            </a:r>
            <a:endParaRPr lang="en-US" sz="1100" dirty="0"/>
          </a:p>
        </p:txBody>
      </p:sp>
      <p:sp>
        <p:nvSpPr>
          <p:cNvPr id="15" name="scope v 4"/>
          <p:cNvSpPr txBox="1"/>
          <p:nvPr/>
        </p:nvSpPr>
        <p:spPr>
          <a:xfrm>
            <a:off x="1463040" y="39593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Raw .gpkg kept unchanged; CSV is a re-creatable interim file</a:t>
            </a:r>
            <a:endParaRPr lang="en-US" sz="1150" dirty="0"/>
          </a:p>
        </p:txBody>
      </p:sp>
      <p:sp>
        <p:nvSpPr>
          <p:cNvPr id="16" name="pipe line"/>
          <p:cNvSpPr/>
          <p:nvPr/>
        </p:nvSpPr>
        <p:spPr>
          <a:xfrm>
            <a:off x="4544568" y="1645920"/>
            <a:ext cx="0" cy="2606040"/>
          </a:xfrm>
          <a:prstGeom prst="line">
            <a:avLst/>
          </a:prstGeom>
          <a:noFill/>
          <a:ln w="19050">
            <a:solidFill>
              <a:srgbClr val="DEE1E6"/>
            </a:solidFill>
            <a:prstDash val="solid"/>
          </a:ln>
        </p:spPr>
      </p:sp>
      <p:sp>
        <p:nvSpPr>
          <p:cNvPr id="17" name="pipe icon 0 bg"/>
          <p:cNvSpPr/>
          <p:nvPr/>
        </p:nvSpPr>
        <p:spPr>
          <a:xfrm>
            <a:off x="4343400" y="1444752"/>
            <a:ext cx="402336" cy="402336"/>
          </a:xfrm>
          <a:prstGeom prst="ellipse">
            <a:avLst/>
          </a:prstGeom>
          <a:solidFill>
            <a:srgbClr val="0052FF"/>
          </a:solidFill>
          <a:ln/>
        </p:spPr>
      </p:sp>
      <p:pic>
        <p:nvPicPr>
          <p:cNvPr id="18" name="pipe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961" y="1541313"/>
            <a:ext cx="209215" cy="209215"/>
          </a:xfrm>
          <a:prstGeom prst="rect">
            <a:avLst/>
          </a:prstGeom>
        </p:spPr>
      </p:pic>
      <p:sp>
        <p:nvSpPr>
          <p:cNvPr id="19" name="pipe text 0"/>
          <p:cNvSpPr txBox="1"/>
          <p:nvPr/>
        </p:nvSpPr>
        <p:spPr>
          <a:xfrm>
            <a:off x="4910328" y="14173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1. Spatial-index extract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RTree + exact intersection on the rectangle</a:t>
            </a:r>
            <a:endParaRPr lang="en-US" sz="1300" dirty="0"/>
          </a:p>
        </p:txBody>
      </p:sp>
      <p:sp>
        <p:nvSpPr>
          <p:cNvPr id="20" name="status 0"/>
          <p:cNvSpPr txBox="1"/>
          <p:nvPr/>
        </p:nvSpPr>
        <p:spPr>
          <a:xfrm>
            <a:off x="8183880" y="15087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DONE</a:t>
            </a:r>
            <a:endParaRPr lang="en-US" sz="1000" dirty="0"/>
          </a:p>
        </p:txBody>
      </p:sp>
      <p:sp>
        <p:nvSpPr>
          <p:cNvPr id="21" name="pipe icon 1 bg"/>
          <p:cNvSpPr/>
          <p:nvPr/>
        </p:nvSpPr>
        <p:spPr>
          <a:xfrm>
            <a:off x="4343400" y="1965960"/>
            <a:ext cx="402336" cy="402336"/>
          </a:xfrm>
          <a:prstGeom prst="ellipse">
            <a:avLst/>
          </a:prstGeom>
          <a:solidFill>
            <a:srgbClr val="0052FF"/>
          </a:solidFill>
          <a:ln/>
        </p:spPr>
      </p:sp>
      <p:pic>
        <p:nvPicPr>
          <p:cNvPr id="22" name="pip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61" y="2062521"/>
            <a:ext cx="209215" cy="209215"/>
          </a:xfrm>
          <a:prstGeom prst="rect">
            <a:avLst/>
          </a:prstGeom>
        </p:spPr>
      </p:pic>
      <p:sp>
        <p:nvSpPr>
          <p:cNvPr id="23" name="pipe text 1"/>
          <p:cNvSpPr txBox="1"/>
          <p:nvPr/>
        </p:nvSpPr>
        <p:spPr>
          <a:xfrm>
            <a:off x="4910328" y="19385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2. Filter vessel groups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Cargo &amp; Tanker → 10,943 rows</a:t>
            </a:r>
            <a:endParaRPr lang="en-US" sz="1300" dirty="0"/>
          </a:p>
        </p:txBody>
      </p:sp>
      <p:sp>
        <p:nvSpPr>
          <p:cNvPr id="24" name="status 1"/>
          <p:cNvSpPr txBox="1"/>
          <p:nvPr/>
        </p:nvSpPr>
        <p:spPr>
          <a:xfrm>
            <a:off x="8183880" y="2029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DONE</a:t>
            </a:r>
            <a:endParaRPr lang="en-US" sz="1000" dirty="0"/>
          </a:p>
        </p:txBody>
      </p:sp>
      <p:sp>
        <p:nvSpPr>
          <p:cNvPr id="25" name="pipe icon 2 bg"/>
          <p:cNvSpPr/>
          <p:nvPr/>
        </p:nvSpPr>
        <p:spPr>
          <a:xfrm>
            <a:off x="4343400" y="2487168"/>
            <a:ext cx="402336" cy="40233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26" name="pip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61" y="2583729"/>
            <a:ext cx="209215" cy="209215"/>
          </a:xfrm>
          <a:prstGeom prst="rect">
            <a:avLst/>
          </a:prstGeom>
        </p:spPr>
      </p:pic>
      <p:sp>
        <p:nvSpPr>
          <p:cNvPr id="27" name="pipe text 2"/>
          <p:cNvSpPr txBox="1"/>
          <p:nvPr/>
        </p:nvSpPr>
        <p:spPr>
          <a:xfrm>
            <a:off x="4910328" y="24597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3. Confirm study boundary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ENC-based approach area, then rerun the filter</a:t>
            </a:r>
            <a:endParaRPr lang="en-US" sz="1300" dirty="0"/>
          </a:p>
        </p:txBody>
      </p:sp>
      <p:sp>
        <p:nvSpPr>
          <p:cNvPr id="28" name="status 2"/>
          <p:cNvSpPr txBox="1"/>
          <p:nvPr/>
        </p:nvSpPr>
        <p:spPr>
          <a:xfrm>
            <a:off x="8183880" y="25511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919E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NEXT</a:t>
            </a:r>
            <a:endParaRPr lang="en-US" sz="1000" dirty="0"/>
          </a:p>
        </p:txBody>
      </p:sp>
      <p:sp>
        <p:nvSpPr>
          <p:cNvPr id="29" name="pipe icon 3 bg"/>
          <p:cNvSpPr/>
          <p:nvPr/>
        </p:nvSpPr>
        <p:spPr>
          <a:xfrm>
            <a:off x="4343400" y="3008376"/>
            <a:ext cx="402336" cy="40233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30" name="pipe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961" y="3104937"/>
            <a:ext cx="209215" cy="209215"/>
          </a:xfrm>
          <a:prstGeom prst="rect">
            <a:avLst/>
          </a:prstGeom>
        </p:spPr>
      </p:pic>
      <p:sp>
        <p:nvSpPr>
          <p:cNvPr id="31" name="pipe text 3"/>
          <p:cNvSpPr txBox="1"/>
          <p:nvPr/>
        </p:nvSpPr>
        <p:spPr>
          <a:xfrm>
            <a:off x="4910328" y="29809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4. Resolve vessel-type scope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VesselType codebook; all Cargo or a sub-type?</a:t>
            </a:r>
            <a:endParaRPr lang="en-US" sz="1300" dirty="0"/>
          </a:p>
        </p:txBody>
      </p:sp>
      <p:sp>
        <p:nvSpPr>
          <p:cNvPr id="32" name="status 3"/>
          <p:cNvSpPr txBox="1"/>
          <p:nvPr/>
        </p:nvSpPr>
        <p:spPr>
          <a:xfrm>
            <a:off x="8183880" y="30723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919E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NEXT</a:t>
            </a:r>
            <a:endParaRPr lang="en-US" sz="1000" dirty="0"/>
          </a:p>
        </p:txBody>
      </p:sp>
      <p:sp>
        <p:nvSpPr>
          <p:cNvPr id="33" name="pipe icon 4 bg"/>
          <p:cNvSpPr/>
          <p:nvPr/>
        </p:nvSpPr>
        <p:spPr>
          <a:xfrm>
            <a:off x="4343400" y="3529584"/>
            <a:ext cx="402336" cy="40233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34" name="pipe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961" y="3626145"/>
            <a:ext cx="209215" cy="209215"/>
          </a:xfrm>
          <a:prstGeom prst="rect">
            <a:avLst/>
          </a:prstGeom>
        </p:spPr>
      </p:pic>
      <p:sp>
        <p:nvSpPr>
          <p:cNvPr id="35" name="pipe text 4"/>
          <p:cNvSpPr txBox="1"/>
          <p:nvPr/>
        </p:nvSpPr>
        <p:spPr>
          <a:xfrm>
            <a:off x="4910328" y="35021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5. Clip or keep whole + QC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Per analysis; missing MMSI / time, invalid paths</a:t>
            </a:r>
            <a:endParaRPr lang="en-US" sz="1300" dirty="0"/>
          </a:p>
        </p:txBody>
      </p:sp>
      <p:sp>
        <p:nvSpPr>
          <p:cNvPr id="36" name="status 4"/>
          <p:cNvSpPr txBox="1"/>
          <p:nvPr/>
        </p:nvSpPr>
        <p:spPr>
          <a:xfrm>
            <a:off x="8183880" y="3593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919E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NEXT</a:t>
            </a:r>
            <a:endParaRPr lang="en-US" sz="1000" dirty="0"/>
          </a:p>
        </p:txBody>
      </p:sp>
      <p:sp>
        <p:nvSpPr>
          <p:cNvPr id="37" name="pipe icon 5 bg"/>
          <p:cNvSpPr/>
          <p:nvPr/>
        </p:nvSpPr>
        <p:spPr>
          <a:xfrm>
            <a:off x="4343400" y="4050792"/>
            <a:ext cx="402336" cy="40233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38" name="pipe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9961" y="4147353"/>
            <a:ext cx="209215" cy="209215"/>
          </a:xfrm>
          <a:prstGeom prst="rect">
            <a:avLst/>
          </a:prstGeom>
        </p:spPr>
      </p:pic>
      <p:sp>
        <p:nvSpPr>
          <p:cNvPr id="39" name="pipe text 5"/>
          <p:cNvSpPr txBox="1"/>
          <p:nvPr/>
        </p:nvSpPr>
        <p:spPr>
          <a:xfrm>
            <a:off x="4910328" y="40233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B0D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6. Reproject &amp; build dataset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6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EPSG:4269 → UTM 18N; GeoPandas → GeoParquet</a:t>
            </a:r>
            <a:endParaRPr lang="en-US" sz="1300" dirty="0"/>
          </a:p>
        </p:txBody>
      </p:sp>
      <p:sp>
        <p:nvSpPr>
          <p:cNvPr id="40" name="status 5"/>
          <p:cNvSpPr txBox="1"/>
          <p:nvPr/>
        </p:nvSpPr>
        <p:spPr>
          <a:xfrm>
            <a:off x="8183880" y="4114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919E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NEXT</a:t>
            </a:r>
            <a:endParaRPr lang="en-US" sz="1000" dirty="0"/>
          </a:p>
        </p:txBody>
      </p:sp>
      <p:sp>
        <p:nvSpPr>
          <p:cNvPr id="41" name="refs"/>
          <p:cNvSpPr txBox="1"/>
          <p:nvPr/>
        </p:nvSpPr>
        <p:spPr>
          <a:xfrm>
            <a:off x="4343400" y="455371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[1] NOAA OCM, AIS Vessel Tracks 2024   [3] NOAA OCS, Electronic Navigational Charts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19E"/>
                </a:solidFill>
                <a:latin typeface="프리젠테이션 4 Regular"/>
                <a:ea typeface="프리젠테이션 4 Regular"/>
                <a:cs typeface="프리젠테이션 4 Regula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FA6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07 — EXPECTED OUTCOMES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What the priority-zone map enables</a:t>
            </a:r>
            <a:endParaRPr lang="en-US" sz="3600" dirty="0"/>
          </a:p>
        </p:txBody>
      </p:sp>
      <p:sp>
        <p:nvSpPr>
          <p:cNvPr id="4" name="deliv label"/>
          <p:cNvSpPr txBox="1"/>
          <p:nvPr/>
        </p:nvSpPr>
        <p:spPr>
          <a:xfrm>
            <a:off x="4572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A919E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5" name="deliv 0"/>
          <p:cNvSpPr txBox="1"/>
          <p:nvPr/>
        </p:nvSpPr>
        <p:spPr>
          <a:xfrm>
            <a:off x="4572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Route maps by vessel group</a:t>
            </a:r>
            <a:endParaRPr lang="en-US" sz="1400" dirty="0"/>
          </a:p>
        </p:txBody>
      </p:sp>
      <p:sp>
        <p:nvSpPr>
          <p:cNvPr id="6" name="deliv 1"/>
          <p:cNvSpPr txBox="1"/>
          <p:nvPr/>
        </p:nvSpPr>
        <p:spPr>
          <a:xfrm>
            <a:off x="457200" y="2286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Monthly traffic statistics</a:t>
            </a:r>
            <a:endParaRPr lang="en-US" sz="1400" dirty="0"/>
          </a:p>
        </p:txBody>
      </p:sp>
      <p:sp>
        <p:nvSpPr>
          <p:cNvPr id="7" name="deliv 2"/>
          <p:cNvSpPr txBox="1"/>
          <p:nvPr/>
        </p:nvSpPr>
        <p:spPr>
          <a:xfrm>
            <a:off x="45720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Priority zone map &amp; table</a:t>
            </a:r>
            <a:endParaRPr lang="en-US" sz="1400" dirty="0"/>
          </a:p>
        </p:txBody>
      </p:sp>
      <p:sp>
        <p:nvSpPr>
          <p:cNvPr id="8" name="deliv 3"/>
          <p:cNvSpPr txBox="1"/>
          <p:nvPr/>
        </p:nvSpPr>
        <p:spPr>
          <a:xfrm>
            <a:off x="457200" y="3200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B169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Robustness report across criteria</a:t>
            </a:r>
            <a:endParaRPr lang="en-US" sz="1400" dirty="0"/>
          </a:p>
        </p:txBody>
      </p:sp>
      <p:sp>
        <p:nvSpPr>
          <p:cNvPr id="9" name="app card 0"/>
          <p:cNvSpPr/>
          <p:nvPr/>
        </p:nvSpPr>
        <p:spPr>
          <a:xfrm>
            <a:off x="3429000" y="1463040"/>
            <a:ext cx="2514600" cy="1417320"/>
          </a:xfrm>
          <a:prstGeom prst="roundRect">
            <a:avLst>
              <a:gd name="adj" fmla="val 14194"/>
            </a:avLst>
          </a:prstGeom>
          <a:solidFill>
            <a:srgbClr val="1B1D22"/>
          </a:solidFill>
          <a:ln/>
        </p:spPr>
      </p:sp>
      <p:sp>
        <p:nvSpPr>
          <p:cNvPr id="10" name="app icon 0 bg"/>
          <p:cNvSpPr/>
          <p:nvPr/>
        </p:nvSpPr>
        <p:spPr>
          <a:xfrm>
            <a:off x="3630168" y="1664208"/>
            <a:ext cx="420624" cy="420624"/>
          </a:xfrm>
          <a:prstGeom prst="ellipse">
            <a:avLst/>
          </a:prstGeom>
          <a:solidFill>
            <a:srgbClr val="0052FF"/>
          </a:solidFill>
          <a:ln/>
        </p:spPr>
      </p:sp>
      <p:pic>
        <p:nvPicPr>
          <p:cNvPr id="11" name="app 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1118" y="1765158"/>
            <a:ext cx="218724" cy="218724"/>
          </a:xfrm>
          <a:prstGeom prst="rect">
            <a:avLst/>
          </a:prstGeom>
        </p:spPr>
      </p:pic>
      <p:sp>
        <p:nvSpPr>
          <p:cNvPr id="12" name="app h 0"/>
          <p:cNvSpPr txBox="1"/>
          <p:nvPr/>
        </p:nvSpPr>
        <p:spPr>
          <a:xfrm>
            <a:off x="4178808" y="16642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Efficient maritime patrol</a:t>
            </a:r>
            <a:endParaRPr lang="en-US" sz="1350" dirty="0"/>
          </a:p>
        </p:txBody>
      </p:sp>
      <p:sp>
        <p:nvSpPr>
          <p:cNvPr id="13" name="app d 0"/>
          <p:cNvSpPr txBox="1"/>
          <p:nvPr/>
        </p:nvSpPr>
        <p:spPr>
          <a:xfrm>
            <a:off x="3630168" y="219456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Allocate patrol and VTS attention to zones that persist across months and criteria.</a:t>
            </a:r>
            <a:endParaRPr lang="en-US" sz="1150" dirty="0"/>
          </a:p>
        </p:txBody>
      </p:sp>
      <p:sp>
        <p:nvSpPr>
          <p:cNvPr id="14" name="app card 1"/>
          <p:cNvSpPr/>
          <p:nvPr/>
        </p:nvSpPr>
        <p:spPr>
          <a:xfrm>
            <a:off x="6172200" y="1463040"/>
            <a:ext cx="2514600" cy="1417320"/>
          </a:xfrm>
          <a:prstGeom prst="roundRect">
            <a:avLst>
              <a:gd name="adj" fmla="val 14194"/>
            </a:avLst>
          </a:prstGeom>
          <a:solidFill>
            <a:srgbClr val="1B1D22"/>
          </a:solidFill>
          <a:ln/>
        </p:spPr>
      </p:sp>
      <p:sp>
        <p:nvSpPr>
          <p:cNvPr id="15" name="app icon 1 bg"/>
          <p:cNvSpPr/>
          <p:nvPr/>
        </p:nvSpPr>
        <p:spPr>
          <a:xfrm>
            <a:off x="6373368" y="1664208"/>
            <a:ext cx="420624" cy="420624"/>
          </a:xfrm>
          <a:prstGeom prst="ellipse">
            <a:avLst/>
          </a:prstGeom>
          <a:solidFill>
            <a:srgbClr val="26292F"/>
          </a:solidFill>
          <a:ln/>
        </p:spPr>
      </p:sp>
      <p:pic>
        <p:nvPicPr>
          <p:cNvPr id="16" name="app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318" y="1765158"/>
            <a:ext cx="218724" cy="218724"/>
          </a:xfrm>
          <a:prstGeom prst="rect">
            <a:avLst/>
          </a:prstGeom>
        </p:spPr>
      </p:pic>
      <p:sp>
        <p:nvSpPr>
          <p:cNvPr id="17" name="app h 1"/>
          <p:cNvSpPr txBox="1"/>
          <p:nvPr/>
        </p:nvSpPr>
        <p:spPr>
          <a:xfrm>
            <a:off x="6922008" y="16642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Spot ghost / illicit vessels</a:t>
            </a:r>
            <a:endParaRPr lang="en-US" sz="1350" dirty="0"/>
          </a:p>
        </p:txBody>
      </p:sp>
      <p:sp>
        <p:nvSpPr>
          <p:cNvPr id="18" name="app d 1"/>
          <p:cNvSpPr txBox="1"/>
          <p:nvPr/>
        </p:nvSpPr>
        <p:spPr>
          <a:xfrm>
            <a:off x="6373368" y="219456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Use the normal-traffic baseline to flag tracks that vanish or stray in busy zones.</a:t>
            </a:r>
            <a:endParaRPr lang="en-US" sz="1150" dirty="0"/>
          </a:p>
        </p:txBody>
      </p:sp>
      <p:sp>
        <p:nvSpPr>
          <p:cNvPr id="19" name="app card 2"/>
          <p:cNvSpPr/>
          <p:nvPr/>
        </p:nvSpPr>
        <p:spPr>
          <a:xfrm>
            <a:off x="3429000" y="3081528"/>
            <a:ext cx="2514600" cy="1417320"/>
          </a:xfrm>
          <a:prstGeom prst="roundRect">
            <a:avLst>
              <a:gd name="adj" fmla="val 14194"/>
            </a:avLst>
          </a:prstGeom>
          <a:solidFill>
            <a:srgbClr val="1B1D22"/>
          </a:solidFill>
          <a:ln/>
        </p:spPr>
      </p:sp>
      <p:sp>
        <p:nvSpPr>
          <p:cNvPr id="20" name="app icon 2 bg"/>
          <p:cNvSpPr/>
          <p:nvPr/>
        </p:nvSpPr>
        <p:spPr>
          <a:xfrm>
            <a:off x="3630168" y="3282696"/>
            <a:ext cx="420624" cy="420624"/>
          </a:xfrm>
          <a:prstGeom prst="ellipse">
            <a:avLst/>
          </a:prstGeom>
          <a:solidFill>
            <a:srgbClr val="26292F"/>
          </a:solidFill>
          <a:ln/>
        </p:spPr>
      </p:sp>
      <p:pic>
        <p:nvPicPr>
          <p:cNvPr id="21" name="app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118" y="3383646"/>
            <a:ext cx="218724" cy="218724"/>
          </a:xfrm>
          <a:prstGeom prst="rect">
            <a:avLst/>
          </a:prstGeom>
        </p:spPr>
      </p:pic>
      <p:sp>
        <p:nvSpPr>
          <p:cNvPr id="22" name="app h 2"/>
          <p:cNvSpPr txBox="1"/>
          <p:nvPr/>
        </p:nvSpPr>
        <p:spPr>
          <a:xfrm>
            <a:off x="4178808" y="3282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Early collision-risk alerts</a:t>
            </a:r>
            <a:endParaRPr lang="en-US" sz="1350" dirty="0"/>
          </a:p>
        </p:txBody>
      </p:sp>
      <p:sp>
        <p:nvSpPr>
          <p:cNvPr id="23" name="app d 2"/>
          <p:cNvSpPr txBox="1"/>
          <p:nvPr/>
        </p:nvSpPr>
        <p:spPr>
          <a:xfrm>
            <a:off x="3630168" y="3813048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Zones where cargo and tanker lanes overlap become candidates for warnings.</a:t>
            </a:r>
            <a:endParaRPr lang="en-US" sz="1150" dirty="0"/>
          </a:p>
        </p:txBody>
      </p:sp>
      <p:sp>
        <p:nvSpPr>
          <p:cNvPr id="24" name="app card 3"/>
          <p:cNvSpPr/>
          <p:nvPr/>
        </p:nvSpPr>
        <p:spPr>
          <a:xfrm>
            <a:off x="6172200" y="3081528"/>
            <a:ext cx="2514600" cy="1417320"/>
          </a:xfrm>
          <a:prstGeom prst="roundRect">
            <a:avLst>
              <a:gd name="adj" fmla="val 14194"/>
            </a:avLst>
          </a:prstGeom>
          <a:solidFill>
            <a:srgbClr val="1B1D22"/>
          </a:solidFill>
          <a:ln/>
        </p:spPr>
      </p:sp>
      <p:sp>
        <p:nvSpPr>
          <p:cNvPr id="25" name="app icon 3 bg"/>
          <p:cNvSpPr/>
          <p:nvPr/>
        </p:nvSpPr>
        <p:spPr>
          <a:xfrm>
            <a:off x="6373368" y="3282696"/>
            <a:ext cx="420624" cy="420624"/>
          </a:xfrm>
          <a:prstGeom prst="ellipse">
            <a:avLst/>
          </a:prstGeom>
          <a:solidFill>
            <a:srgbClr val="26292F"/>
          </a:solidFill>
          <a:ln/>
        </p:spPr>
      </p:sp>
      <p:pic>
        <p:nvPicPr>
          <p:cNvPr id="26" name="app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318" y="3383646"/>
            <a:ext cx="218724" cy="218724"/>
          </a:xfrm>
          <a:prstGeom prst="rect">
            <a:avLst/>
          </a:prstGeom>
        </p:spPr>
      </p:pic>
      <p:sp>
        <p:nvSpPr>
          <p:cNvPr id="27" name="app h 3"/>
          <p:cNvSpPr txBox="1"/>
          <p:nvPr/>
        </p:nvSpPr>
        <p:spPr>
          <a:xfrm>
            <a:off x="6922008" y="3282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프리젠테이션 7 Bold" pitchFamily="34" charset="0"/>
                <a:ea typeface="프리젠테이션 7 Bold" pitchFamily="34" charset="-122"/>
                <a:cs typeface="프리젠테이션 7 Bold" pitchFamily="34" charset="-120"/>
              </a:rPr>
              <a:t>Channel maintenance</a:t>
            </a:r>
            <a:endParaRPr lang="en-US" sz="1350" dirty="0"/>
          </a:p>
        </p:txBody>
      </p:sp>
      <p:sp>
        <p:nvSpPr>
          <p:cNvPr id="28" name="app d 3"/>
          <p:cNvSpPr txBox="1"/>
          <p:nvPr/>
        </p:nvSpPr>
        <p:spPr>
          <a:xfrm>
            <a:off x="6373368" y="3813048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EC8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Prioritize inspection, dredging and aids-to-navigation upkeep on busy lanes.</a:t>
            </a:r>
            <a:endParaRPr lang="en-US" sz="1150" dirty="0"/>
          </a:p>
        </p:txBody>
      </p:sp>
      <p:sp>
        <p:nvSpPr>
          <p:cNvPr id="29" name="scope note"/>
          <p:cNvSpPr txBox="1"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9E"/>
                </a:solidFill>
                <a:latin typeface="프리젠테이션 4 Regular" pitchFamily="34" charset="0"/>
                <a:ea typeface="프리젠테이션 4 Regular" pitchFamily="34" charset="-122"/>
                <a:cs typeface="프리젠테이션 4 Regular" pitchFamily="34" charset="-120"/>
              </a:rPr>
              <a:t>Scope note: priority zones are observation candidates from historical traffic — not collision probabilities or real-time decisions. Track counts ≠ port calls.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 Coinbase Blue">
  <a:themeElements>
    <a:clrScheme name="AIS Coinbase Blue">
      <a:dk1>
        <a:srgbClr val="0A0B0D"/>
      </a:dk1>
      <a:lt1>
        <a:srgbClr val="FFFFFF"/>
      </a:lt1>
      <a:dk2>
        <a:srgbClr val="5B616E"/>
      </a:dk2>
      <a:lt2>
        <a:srgbClr val="EEF0F3"/>
      </a:lt2>
      <a:accent1>
        <a:srgbClr val="0052FF"/>
      </a:accent1>
      <a:accent2>
        <a:srgbClr val="1B1D22"/>
      </a:accent2>
      <a:accent3>
        <a:srgbClr val="8A919E"/>
      </a:accent3>
      <a:accent4>
        <a:srgbClr val="DEE1E6"/>
      </a:accent4>
      <a:accent5>
        <a:srgbClr val="05B169"/>
      </a:accent5>
      <a:accent6>
        <a:srgbClr val="CF202F"/>
      </a:accent6>
      <a:hlink>
        <a:srgbClr val="0052FF"/>
      </a:hlink>
      <a:folHlink>
        <a:srgbClr val="5B616E"/>
      </a:folHlink>
    </a:clrScheme>
    <a:fontScheme name="AIS Coinbase Blue">
      <a:majorFont>
        <a:latin typeface="프리젠테이션 4 Regula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프리젠테이션 4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Proposal — AIS Port Approach Traffic Study</dc:title>
  <dc:subject>PptxGenJS Presentation</dc:subject>
  <dc:creator>Team 5</dc:creator>
  <cp:lastModifiedBy>Team 5</cp:lastModifiedBy>
  <cp:revision>1</cp:revision>
  <dcterms:created xsi:type="dcterms:W3CDTF">2026-10-15T05:45:07Z</dcterms:created>
  <dcterms:modified xsi:type="dcterms:W3CDTF">2026-10-15T05:45:07Z</dcterms:modified>
</cp:coreProperties>
</file>
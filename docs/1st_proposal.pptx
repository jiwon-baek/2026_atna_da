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35240" y="-502920"/>
            <a:ext cx="5212080" cy="2971800"/>
          </a:xfrm>
          <a:prstGeom prst="roundRect">
            <a:avLst/>
          </a:prstGeom>
          <a:solidFill>
            <a:srgbClr val="5C1435"/>
          </a:solidFill>
          <a:ln w="1270">
            <a:solidFill>
              <a:srgbClr val="5C1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41080" y="3063240"/>
            <a:ext cx="4297680" cy="1965960"/>
          </a:xfrm>
          <a:prstGeom prst="roundRect">
            <a:avLst/>
          </a:prstGeom>
          <a:solidFill>
            <a:srgbClr val="C4326E"/>
          </a:solidFill>
          <a:ln w="1270">
            <a:solidFill>
              <a:srgbClr val="C43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03720" y="5321808"/>
            <a:ext cx="5303520" cy="1051560"/>
          </a:xfrm>
          <a:prstGeom prst="roundRect">
            <a:avLst/>
          </a:prstGeom>
          <a:solidFill>
            <a:srgbClr val="E63E81"/>
          </a:solidFill>
          <a:ln w="127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530352"/>
            <a:ext cx="1965960" cy="347472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200" b="0" i="0">
                <a:solidFill>
                  <a:srgbClr val="FFFFFF"/>
                </a:solidFill>
                <a:latin typeface="Freesentation"/>
              </a:rPr>
              <a:t>RESEARCH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98448"/>
            <a:ext cx="7498079" cy="14264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Freesentation"/>
              </a:rPr>
              <a:t>AIS Track-Based Analysis</a:t>
            </a:r>
          </a:p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Freesentation"/>
              </a:rPr>
              <a:t>of Port Approach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89504"/>
            <a:ext cx="6217920" cy="7863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900" b="0" i="0">
                <a:solidFill>
                  <a:srgbClr val="FFB8CC"/>
                </a:solidFill>
                <a:latin typeface="Freesentation"/>
              </a:rPr>
              <a:t>Prioritizing Monitoring Areas in Norfolk and Hampton Roads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" y="3968496"/>
            <a:ext cx="3858768" cy="0"/>
          </a:xfrm>
          <a:prstGeom prst="line">
            <a:avLst/>
          </a:prstGeom>
          <a:ln w="3048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4251960"/>
            <a:ext cx="5029200" cy="3931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Freesentation"/>
              </a:rPr>
              <a:t>Special Topics in Naval Architecture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82803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FB8CC"/>
                </a:solidFill>
                <a:latin typeface="Freesentation"/>
              </a:rPr>
              <a:t>고영조   김희선   백지원   조민제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6062472"/>
            <a:ext cx="2057400" cy="310896"/>
          </a:xfrm>
          <a:prstGeom prst="roundRect">
            <a:avLst/>
          </a:prstGeom>
          <a:solidFill>
            <a:srgbClr val="5C1435"/>
          </a:solidFill>
          <a:ln w="7620">
            <a:solidFill>
              <a:srgbClr val="5C1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PROPOSAL STAGE</a:t>
            </a:r>
          </a:p>
        </p:txBody>
      </p:sp>
      <p:sp>
        <p:nvSpPr>
          <p:cNvPr id="12" name="Oval 11"/>
          <p:cNvSpPr/>
          <p:nvPr/>
        </p:nvSpPr>
        <p:spPr>
          <a:xfrm>
            <a:off x="8366760" y="1124712"/>
            <a:ext cx="146304" cy="146304"/>
          </a:xfrm>
          <a:prstGeom prst="ellipse">
            <a:avLst/>
          </a:prstGeom>
          <a:solidFill>
            <a:srgbClr val="FF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60" y="1444752"/>
            <a:ext cx="146304" cy="146304"/>
          </a:xfrm>
          <a:prstGeom prst="ellipse">
            <a:avLst/>
          </a:prstGeom>
          <a:solidFill>
            <a:srgbClr val="FF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439912" y="1197864"/>
            <a:ext cx="685800" cy="320040"/>
          </a:xfrm>
          <a:prstGeom prst="line">
            <a:avLst/>
          </a:prstGeom>
          <a:ln w="19050">
            <a:solidFill>
              <a:srgbClr val="FF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738360" y="1243584"/>
            <a:ext cx="146304" cy="146304"/>
          </a:xfrm>
          <a:prstGeom prst="ellipse">
            <a:avLst/>
          </a:prstGeom>
          <a:solidFill>
            <a:srgbClr val="FF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9125712" y="1316736"/>
            <a:ext cx="685800" cy="201168"/>
          </a:xfrm>
          <a:prstGeom prst="line">
            <a:avLst/>
          </a:prstGeom>
          <a:ln w="19050">
            <a:solidFill>
              <a:srgbClr val="FF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424160" y="1627632"/>
            <a:ext cx="146304" cy="146304"/>
          </a:xfrm>
          <a:prstGeom prst="ellipse">
            <a:avLst/>
          </a:prstGeom>
          <a:solidFill>
            <a:srgbClr val="FF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811512" y="1316736"/>
            <a:ext cx="685800" cy="384048"/>
          </a:xfrm>
          <a:prstGeom prst="line">
            <a:avLst/>
          </a:prstGeom>
          <a:ln w="19050">
            <a:solidFill>
              <a:srgbClr val="FF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064240" y="1417320"/>
            <a:ext cx="146304" cy="146304"/>
          </a:xfrm>
          <a:prstGeom prst="ellipse">
            <a:avLst/>
          </a:prstGeom>
          <a:solidFill>
            <a:srgbClr val="FF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10497312" y="1490472"/>
            <a:ext cx="640080" cy="210312"/>
          </a:xfrm>
          <a:prstGeom prst="line">
            <a:avLst/>
          </a:prstGeom>
          <a:ln w="19050">
            <a:solidFill>
              <a:srgbClr val="FF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75320" y="193852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FFB8CC"/>
                </a:solidFill>
                <a:latin typeface="Freesentation"/>
              </a:rPr>
              <a:t>Conceptual route motif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657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3E81"/>
                </a:solidFill>
                <a:latin typeface="Freesentation"/>
              </a:rPr>
              <a:t>I. 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310896"/>
            <a:ext cx="96926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A0810"/>
                </a:solidFill>
                <a:latin typeface="Freesentation"/>
              </a:rPr>
              <a:t>Meet the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978408"/>
            <a:ext cx="11521440" cy="32918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400" b="0" i="0">
                <a:solidFill>
                  <a:srgbClr val="FFFFFF"/>
                </a:solidFill>
                <a:latin typeface="Freesentation"/>
              </a:rPr>
              <a:t>Four collaborators · responsibilities to be confirmed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8208" y="109728"/>
            <a:ext cx="987552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1435608"/>
            <a:ext cx="11521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6117336"/>
            <a:ext cx="4572000" cy="256032"/>
          </a:xfrm>
          <a:prstGeom prst="roundRect">
            <a:avLst/>
          </a:prstGeom>
          <a:solidFill>
            <a:srgbClr val="FFF5F8"/>
          </a:solidFill>
          <a:ln w="254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6071616"/>
            <a:ext cx="3977639" cy="310896"/>
          </a:xfrm>
          <a:prstGeom prst="roundRect">
            <a:avLst/>
          </a:prstGeom>
          <a:solidFill>
            <a:srgbClr val="FFE0EC"/>
          </a:solidFill>
          <a:ln w="254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6565392"/>
            <a:ext cx="1920240" cy="182880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800" b="0" i="0">
                <a:solidFill>
                  <a:srgbClr val="7A4858"/>
                </a:solidFill>
                <a:latin typeface="Freesentation"/>
              </a:rPr>
              <a:t>PROPOSAL · PRELIMINARY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537960"/>
            <a:ext cx="1078992" cy="2103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7A4858"/>
                </a:solidFill>
                <a:latin typeface="Freesentation"/>
              </a:rPr>
              <a:t>2026 · 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73936"/>
            <a:ext cx="523036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112264"/>
            <a:ext cx="777240" cy="777240"/>
          </a:xfrm>
          <a:prstGeom prst="ellipse">
            <a:avLst/>
          </a:prstGeom>
          <a:solidFill>
            <a:srgbClr val="FFE0EC"/>
          </a:solidFill>
          <a:ln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12264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E63E81"/>
                </a:solidFill>
                <a:latin typeface="Freesentation"/>
              </a:rPr>
              <a:t>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048255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0810"/>
                </a:solidFill>
                <a:latin typeface="Freesentation"/>
              </a:rPr>
              <a:t>고영조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01952" y="2715768"/>
            <a:ext cx="2926080" cy="310896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7A4858"/>
                </a:solidFill>
                <a:latin typeface="Freesentation"/>
              </a:rPr>
              <a:t>Role to be 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773936"/>
            <a:ext cx="523036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2112264"/>
            <a:ext cx="777240" cy="777240"/>
          </a:xfrm>
          <a:prstGeom prst="ellipse">
            <a:avLst/>
          </a:prstGeom>
          <a:solidFill>
            <a:srgbClr val="FFE0EC"/>
          </a:solidFill>
          <a:ln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112264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E63E81"/>
                </a:solidFill>
                <a:latin typeface="Freesentation"/>
              </a:rPr>
              <a:t>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048255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0810"/>
                </a:solidFill>
                <a:latin typeface="Freesentation"/>
              </a:rPr>
              <a:t>김희선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7808" y="2715768"/>
            <a:ext cx="2926080" cy="310896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7A4858"/>
                </a:solidFill>
                <a:latin typeface="Freesentation"/>
              </a:rPr>
              <a:t>Role to be confirmed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04487"/>
            <a:ext cx="523036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242816"/>
            <a:ext cx="777240" cy="777240"/>
          </a:xfrm>
          <a:prstGeom prst="ellipse">
            <a:avLst/>
          </a:prstGeom>
          <a:solidFill>
            <a:srgbClr val="FFE0EC"/>
          </a:solidFill>
          <a:ln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42816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E63E81"/>
                </a:solidFill>
                <a:latin typeface="Freesentation"/>
              </a:rPr>
              <a:t>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4178807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0810"/>
                </a:solidFill>
                <a:latin typeface="Freesentation"/>
              </a:rPr>
              <a:t>백지원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1952" y="4846320"/>
            <a:ext cx="2926080" cy="310896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7A4858"/>
                </a:solidFill>
                <a:latin typeface="Freesentation"/>
              </a:rPr>
              <a:t>Role to be confirmed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904487"/>
            <a:ext cx="523036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20256" y="4242816"/>
            <a:ext cx="777240" cy="777240"/>
          </a:xfrm>
          <a:prstGeom prst="ellipse">
            <a:avLst/>
          </a:prstGeom>
          <a:solidFill>
            <a:srgbClr val="FFE0EC"/>
          </a:solidFill>
          <a:ln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0256" y="4242816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E63E81"/>
                </a:solidFill>
                <a:latin typeface="Freesentation"/>
              </a:rPr>
              <a:t>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4178807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0810"/>
                </a:solidFill>
                <a:latin typeface="Freesentation"/>
              </a:rPr>
              <a:t>조민제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07808" y="4846320"/>
            <a:ext cx="2926080" cy="310896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7A4858"/>
                </a:solidFill>
                <a:latin typeface="Freesentation"/>
              </a:rPr>
              <a:t>Role to be 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10515600" cy="26517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7A4858"/>
                </a:solidFill>
                <a:latin typeface="Freesentation"/>
              </a:rPr>
              <a:t>Team roles will be finalized before implementation begins.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657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3E81"/>
                </a:solidFill>
                <a:latin typeface="Freesentation"/>
              </a:rPr>
              <a:t>II.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310896"/>
            <a:ext cx="96926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A0810"/>
                </a:solidFill>
                <a:latin typeface="Freesentation"/>
              </a:rPr>
              <a:t>Why Focus on Port Approaches?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978408"/>
            <a:ext cx="11521440" cy="32918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400" b="0" i="0">
                <a:solidFill>
                  <a:srgbClr val="FFFFFF"/>
                </a:solidFill>
                <a:latin typeface="Freesentation"/>
              </a:rPr>
              <a:t>A practical question: where and when is observed traffic concentrated?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8208" y="109728"/>
            <a:ext cx="987552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03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1435608"/>
            <a:ext cx="11521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6117336"/>
            <a:ext cx="4572000" cy="256032"/>
          </a:xfrm>
          <a:prstGeom prst="roundRect">
            <a:avLst/>
          </a:prstGeom>
          <a:solidFill>
            <a:srgbClr val="FFF5F8"/>
          </a:solidFill>
          <a:ln w="254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6071616"/>
            <a:ext cx="3977639" cy="310896"/>
          </a:xfrm>
          <a:prstGeom prst="roundRect">
            <a:avLst/>
          </a:prstGeom>
          <a:solidFill>
            <a:srgbClr val="FFE0EC"/>
          </a:solidFill>
          <a:ln w="254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6565392"/>
            <a:ext cx="1920240" cy="182880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800" b="0" i="0">
                <a:solidFill>
                  <a:srgbClr val="7A4858"/>
                </a:solidFill>
                <a:latin typeface="Freesentation"/>
              </a:rPr>
              <a:t>PROPOSAL · PRELIMINARY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537960"/>
            <a:ext cx="1078992" cy="2103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7A4858"/>
                </a:solidFill>
                <a:latin typeface="Freesentation"/>
              </a:rPr>
              <a:t>2026 · 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64792"/>
            <a:ext cx="5074920" cy="1024128"/>
          </a:xfrm>
          <a:prstGeom prst="roundRect">
            <a:avLst/>
          </a:prstGeom>
          <a:solidFill>
            <a:srgbClr val="FFF5F8"/>
          </a:solidFill>
          <a:ln w="508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911095"/>
            <a:ext cx="19019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FFFFFF"/>
                </a:solidFill>
                <a:latin typeface="Freesentation"/>
              </a:rPr>
              <a:t>Shared waterways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249424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A2535"/>
                </a:solidFill>
                <a:latin typeface="Freesentation"/>
              </a:rPr>
              <a:t>Different vessel groups use the same approach waters.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26663"/>
            <a:ext cx="5074920" cy="1024128"/>
          </a:xfrm>
          <a:prstGeom prst="roundRect">
            <a:avLst/>
          </a:prstGeom>
          <a:solidFill>
            <a:srgbClr val="FFF5F8"/>
          </a:solidFill>
          <a:ln w="508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172968"/>
            <a:ext cx="19019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FFFFFF"/>
                </a:solidFill>
                <a:latin typeface="Freesentation"/>
              </a:rPr>
              <a:t>Finite monitoring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511296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A2535"/>
                </a:solidFill>
                <a:latin typeface="Freesentation"/>
              </a:rPr>
              <a:t>Coverage must be prioritized across a large and active area.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88536"/>
            <a:ext cx="5074920" cy="1024128"/>
          </a:xfrm>
          <a:prstGeom prst="roundRect">
            <a:avLst/>
          </a:prstGeom>
          <a:solidFill>
            <a:srgbClr val="FFF5F8"/>
          </a:solidFill>
          <a:ln w="508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19019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FFFFFF"/>
                </a:solidFill>
                <a:latin typeface="Freesentation"/>
              </a:rPr>
              <a:t>Evidence from AIS tracks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73168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A2535"/>
                </a:solidFill>
                <a:latin typeface="Freesentation"/>
              </a:rPr>
              <a:t>Movement patterns can show where use is concentrated and how it changes over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71032" y="1764792"/>
            <a:ext cx="5440680" cy="3959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7064" y="1947672"/>
            <a:ext cx="2697480" cy="283464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CONCEPTUAL STUDY-AREA 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2487168"/>
            <a:ext cx="4800600" cy="2542032"/>
          </a:xfrm>
          <a:prstGeom prst="roundRect">
            <a:avLst/>
          </a:prstGeom>
          <a:solidFill>
            <a:srgbClr val="FFF5F8"/>
          </a:solidFill>
          <a:ln w="254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6547104" y="2788920"/>
            <a:ext cx="4224528" cy="118872"/>
          </a:xfrm>
          <a:prstGeom prst="line">
            <a:avLst/>
          </a:prstGeom>
          <a:ln w="25400">
            <a:solidFill>
              <a:srgbClr val="F7B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547104" y="4315968"/>
            <a:ext cx="4224528" cy="219456"/>
          </a:xfrm>
          <a:prstGeom prst="line">
            <a:avLst/>
          </a:prstGeom>
          <a:ln w="25400">
            <a:solidFill>
              <a:srgbClr val="F7B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720840" y="3785615"/>
            <a:ext cx="914400" cy="256033"/>
          </a:xfrm>
          <a:prstGeom prst="line">
            <a:avLst/>
          </a:prstGeom>
          <a:ln w="2159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35240" y="3785615"/>
            <a:ext cx="905256" cy="118872"/>
          </a:xfrm>
          <a:prstGeom prst="line">
            <a:avLst/>
          </a:prstGeom>
          <a:ln w="2159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40496" y="3502152"/>
            <a:ext cx="832104" cy="402335"/>
          </a:xfrm>
          <a:prstGeom prst="line">
            <a:avLst/>
          </a:prstGeom>
          <a:ln w="2159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372600" y="3246120"/>
            <a:ext cx="1179576" cy="256032"/>
          </a:xfrm>
          <a:prstGeom prst="line">
            <a:avLst/>
          </a:prstGeom>
          <a:ln w="2159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720840" y="3968496"/>
            <a:ext cx="914400" cy="256032"/>
          </a:xfrm>
          <a:prstGeom prst="line">
            <a:avLst/>
          </a:prstGeom>
          <a:ln w="21590">
            <a:solidFill>
              <a:srgbClr val="C43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35240" y="3968496"/>
            <a:ext cx="905256" cy="118872"/>
          </a:xfrm>
          <a:prstGeom prst="line">
            <a:avLst/>
          </a:prstGeom>
          <a:ln w="21590">
            <a:solidFill>
              <a:srgbClr val="C43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540496" y="3685032"/>
            <a:ext cx="832104" cy="402336"/>
          </a:xfrm>
          <a:prstGeom prst="line">
            <a:avLst/>
          </a:prstGeom>
          <a:ln w="21590">
            <a:solidFill>
              <a:srgbClr val="C43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372600" y="3429000"/>
            <a:ext cx="1179576" cy="256032"/>
          </a:xfrm>
          <a:prstGeom prst="line">
            <a:avLst/>
          </a:prstGeom>
          <a:ln w="21590">
            <a:solidFill>
              <a:srgbClr val="C43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720840" y="3621023"/>
            <a:ext cx="914400" cy="256033"/>
          </a:xfrm>
          <a:prstGeom prst="line">
            <a:avLst/>
          </a:prstGeom>
          <a:ln w="2159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35240" y="3621023"/>
            <a:ext cx="905256" cy="118873"/>
          </a:xfrm>
          <a:prstGeom prst="line">
            <a:avLst/>
          </a:prstGeom>
          <a:ln w="2159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540496" y="3337560"/>
            <a:ext cx="832104" cy="402336"/>
          </a:xfrm>
          <a:prstGeom prst="line">
            <a:avLst/>
          </a:prstGeom>
          <a:ln w="2159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372600" y="3081527"/>
            <a:ext cx="1179576" cy="256033"/>
          </a:xfrm>
          <a:prstGeom prst="line">
            <a:avLst/>
          </a:prstGeom>
          <a:ln w="2159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55080" y="520293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7A4858"/>
                </a:solidFill>
                <a:latin typeface="Freesentation"/>
              </a:rPr>
              <a:t>Illustrative only — not an AIS result 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92531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7A4858"/>
                </a:solidFill>
                <a:latin typeface="Freesentation"/>
              </a:rPr>
              <a:t>Study focus: cargo-vessel and tanker use patterns around Norfolk / Hampton Roads.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657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3E81"/>
                </a:solidFill>
                <a:latin typeface="Freesentation"/>
              </a:rPr>
              <a:t>III. RESEARCH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310896"/>
            <a:ext cx="96926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A0810"/>
                </a:solidFill>
                <a:latin typeface="Freesentation"/>
              </a:rPr>
              <a:t>Research Questions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978408"/>
            <a:ext cx="11521440" cy="32918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400" b="0" i="0">
                <a:solidFill>
                  <a:srgbClr val="FFFFFF"/>
                </a:solidFill>
                <a:latin typeface="Freesentation"/>
              </a:rPr>
              <a:t>From source data to transparent candidate monitoring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8208" y="109728"/>
            <a:ext cx="987552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1435608"/>
            <a:ext cx="11521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6117336"/>
            <a:ext cx="4572000" cy="256032"/>
          </a:xfrm>
          <a:prstGeom prst="roundRect">
            <a:avLst/>
          </a:prstGeom>
          <a:solidFill>
            <a:srgbClr val="FFF5F8"/>
          </a:solidFill>
          <a:ln w="254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6071616"/>
            <a:ext cx="3977639" cy="310896"/>
          </a:xfrm>
          <a:prstGeom prst="roundRect">
            <a:avLst/>
          </a:prstGeom>
          <a:solidFill>
            <a:srgbClr val="FFE0EC"/>
          </a:solidFill>
          <a:ln w="254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6565392"/>
            <a:ext cx="1920240" cy="182880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800" b="0" i="0">
                <a:solidFill>
                  <a:srgbClr val="7A4858"/>
                </a:solidFill>
                <a:latin typeface="Freesentation"/>
              </a:rPr>
              <a:t>PROPOSAL · PRELIMINARY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537960"/>
            <a:ext cx="1078992" cy="2103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7A4858"/>
                </a:solidFill>
                <a:latin typeface="Freesentation"/>
              </a:rPr>
              <a:t>2026 · 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64792"/>
            <a:ext cx="3447288" cy="1225296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1911095"/>
            <a:ext cx="438912" cy="310896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FFFFFF"/>
                </a:solidFill>
                <a:latin typeface="Freesentation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04288"/>
            <a:ext cx="3072384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0810"/>
                </a:solidFill>
                <a:latin typeface="Freesentation"/>
              </a:rPr>
              <a:t>Where are observed vessels concentrated within the port approach area?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764792"/>
            <a:ext cx="3447288" cy="1225296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911095"/>
            <a:ext cx="438912" cy="310896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FFFFFF"/>
                </a:solidFill>
                <a:latin typeface="Freesentation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04288"/>
            <a:ext cx="3072384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0810"/>
                </a:solidFill>
                <a:latin typeface="Freesentation"/>
              </a:rPr>
              <a:t>How do cargo-vessel and tanker use areas overlap and vary by month?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764792"/>
            <a:ext cx="3447288" cy="1225296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3608" y="1911095"/>
            <a:ext cx="438912" cy="310896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FFFFFF"/>
                </a:solidFill>
                <a:latin typeface="Freesentation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304288"/>
            <a:ext cx="3072384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0810"/>
                </a:solidFill>
                <a:latin typeface="Freesentation"/>
              </a:rPr>
              <a:t>Do candidate areas remain similar across grid sizes and selection thresholds?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502152"/>
            <a:ext cx="14081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2144" y="3374136"/>
            <a:ext cx="5303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785615"/>
            <a:ext cx="1261872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Acquire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48840" y="3858768"/>
            <a:ext cx="356616" cy="0"/>
          </a:xfrm>
          <a:prstGeom prst="line">
            <a:avLst/>
          </a:prstGeom>
          <a:ln w="1905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78608" y="3502152"/>
            <a:ext cx="14081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17520" y="3374136"/>
            <a:ext cx="5303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785615"/>
            <a:ext cx="1261872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Inspect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14215" y="3858768"/>
            <a:ext cx="356616" cy="0"/>
          </a:xfrm>
          <a:prstGeom prst="line">
            <a:avLst/>
          </a:prstGeom>
          <a:ln w="1905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443984" y="3502152"/>
            <a:ext cx="14081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82896" y="3374136"/>
            <a:ext cx="5303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3785615"/>
            <a:ext cx="1261872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Filter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79592" y="3858768"/>
            <a:ext cx="356616" cy="0"/>
          </a:xfrm>
          <a:prstGeom prst="line">
            <a:avLst/>
          </a:prstGeom>
          <a:ln w="1905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309360" y="3502152"/>
            <a:ext cx="14081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48272" y="3374136"/>
            <a:ext cx="5303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785615"/>
            <a:ext cx="1261872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Aggregate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44968" y="3858768"/>
            <a:ext cx="356615" cy="0"/>
          </a:xfrm>
          <a:prstGeom prst="line">
            <a:avLst/>
          </a:prstGeom>
          <a:ln w="1905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174736" y="3502152"/>
            <a:ext cx="14081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13648" y="3374136"/>
            <a:ext cx="5303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3785615"/>
            <a:ext cx="1261872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Compare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10344" y="3858768"/>
            <a:ext cx="356615" cy="0"/>
          </a:xfrm>
          <a:prstGeom prst="line">
            <a:avLst/>
          </a:prstGeom>
          <a:ln w="19050">
            <a:solidFill>
              <a:srgbClr val="E63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040112" y="3502152"/>
            <a:ext cx="14081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79024" y="3374136"/>
            <a:ext cx="53035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3264" y="3785615"/>
            <a:ext cx="1261872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" y="4590288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4A2535"/>
                </a:solidFill>
                <a:latin typeface="Freesentation"/>
              </a:rPr>
              <a:t>AIS source → quality review → study boundary / projected CRS → grids → monthly and vessel-group summaries → sensitivity comparison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" y="5266944"/>
            <a:ext cx="10652760" cy="566928"/>
          </a:xfrm>
          <a:prstGeom prst="roundRect">
            <a:avLst/>
          </a:prstGeom>
          <a:solidFill>
            <a:srgbClr val="FFE0EC"/>
          </a:solidFill>
          <a:ln w="381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40410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A0810"/>
                </a:solidFill>
                <a:latin typeface="Freesentation"/>
              </a:rPr>
              <a:t>Team assignments: [To be agreed by the team]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657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3E81"/>
                </a:solidFill>
                <a:latin typeface="Freesentation"/>
              </a:rPr>
              <a:t>IV.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310896"/>
            <a:ext cx="96926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A0810"/>
                </a:solidFill>
                <a:latin typeface="Freesentation"/>
              </a:rPr>
              <a:t>AIS Data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978408"/>
            <a:ext cx="11521440" cy="32918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400" b="0" i="0">
                <a:solidFill>
                  <a:srgbClr val="FFFFFF"/>
                </a:solidFill>
                <a:latin typeface="Freesentation"/>
              </a:rPr>
              <a:t>The dataset profile and eligible sample will be reported after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8208" y="109728"/>
            <a:ext cx="987552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1435608"/>
            <a:ext cx="11521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6117336"/>
            <a:ext cx="4572000" cy="256032"/>
          </a:xfrm>
          <a:prstGeom prst="roundRect">
            <a:avLst/>
          </a:prstGeom>
          <a:solidFill>
            <a:srgbClr val="FFF5F8"/>
          </a:solidFill>
          <a:ln w="254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6071616"/>
            <a:ext cx="3977639" cy="310896"/>
          </a:xfrm>
          <a:prstGeom prst="roundRect">
            <a:avLst/>
          </a:prstGeom>
          <a:solidFill>
            <a:srgbClr val="FFE0EC"/>
          </a:solidFill>
          <a:ln w="254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6565392"/>
            <a:ext cx="1920240" cy="182880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800" b="0" i="0">
                <a:solidFill>
                  <a:srgbClr val="7A4858"/>
                </a:solidFill>
                <a:latin typeface="Freesentation"/>
              </a:rPr>
              <a:t>PROPOSAL · PRELIMINARY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537960"/>
            <a:ext cx="1078992" cy="2103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7A4858"/>
                </a:solidFill>
                <a:latin typeface="Freesentation"/>
              </a:rPr>
              <a:t>2026 · 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46504"/>
            <a:ext cx="3785615" cy="1874519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1901952"/>
            <a:ext cx="1353312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PRIMARY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04288"/>
            <a:ext cx="3383280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A0810"/>
                </a:solidFill>
                <a:latin typeface="Freesentation"/>
              </a:rPr>
              <a:t>NOAA · AIS Vessel Tracks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92608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2535"/>
                </a:solidFill>
                <a:latin typeface="Freesentation"/>
              </a:rPr>
              <a:t>January–December 2024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2535"/>
                </a:solidFill>
                <a:latin typeface="Freesentation"/>
              </a:rPr>
              <a:t>Norfolk / Hampton Roads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22191"/>
            <a:ext cx="3785615" cy="1764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" y="3977639"/>
            <a:ext cx="1143000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KEY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89120"/>
            <a:ext cx="3310128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A2535"/>
                </a:solidFill>
                <a:latin typeface="Freesentation"/>
              </a:rPr>
              <a:t>Track geometry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A2535"/>
                </a:solidFill>
                <a:latin typeface="Freesentation"/>
              </a:rPr>
              <a:t>MMSI · start / end time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A2535"/>
                </a:solidFill>
                <a:latin typeface="Freesentation"/>
              </a:rPr>
              <a:t>VesselGroup / vessel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1810512"/>
            <a:ext cx="301752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01183" y="1929384"/>
            <a:ext cx="2560320" cy="265176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900" b="0" i="0">
                <a:solidFill>
                  <a:srgbClr val="1A0810"/>
                </a:solidFill>
                <a:latin typeface="Freesentation"/>
              </a:rPr>
              <a:t>SOURCE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322576"/>
            <a:ext cx="2633472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7A4858"/>
                </a:solidFill>
                <a:latin typeface="Freesentation"/>
              </a:rPr>
              <a:t>[Pending inspection]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810512"/>
            <a:ext cx="301752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11312" y="1929384"/>
            <a:ext cx="2560320" cy="265176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900" b="0" i="0">
                <a:solidFill>
                  <a:srgbClr val="1A0810"/>
                </a:solidFill>
                <a:latin typeface="Freesentation"/>
              </a:rPr>
              <a:t>ROWS /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22576"/>
            <a:ext cx="2633472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7A4858"/>
                </a:solidFill>
                <a:latin typeface="Freesentation"/>
              </a:rPr>
              <a:t>[Pending inspection]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3127248"/>
            <a:ext cx="301752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01183" y="3246120"/>
            <a:ext cx="2560320" cy="265176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900" b="0" i="0">
                <a:solidFill>
                  <a:srgbClr val="1A0810"/>
                </a:solidFill>
                <a:latin typeface="Freesentation"/>
              </a:rPr>
              <a:t>STUDY-AREA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3639312"/>
            <a:ext cx="2633472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7A4858"/>
                </a:solidFill>
                <a:latin typeface="Freesentation"/>
              </a:rPr>
              <a:t>[After spatial filtering]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127248"/>
            <a:ext cx="301752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11312" y="3246120"/>
            <a:ext cx="2560320" cy="265176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900" b="0" i="0">
                <a:solidFill>
                  <a:srgbClr val="1A0810"/>
                </a:solidFill>
                <a:latin typeface="Freesentation"/>
              </a:rPr>
              <a:t>KEY-FIELD MISSINGNESS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39312"/>
            <a:ext cx="2633472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7A4858"/>
                </a:solidFill>
                <a:latin typeface="Freesentation"/>
              </a:rPr>
              <a:t>[After quality review]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36592" y="4681728"/>
            <a:ext cx="6327648" cy="896112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19472" y="4828032"/>
            <a:ext cx="2084831" cy="265176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900" b="0" i="0">
                <a:solidFill>
                  <a:srgbClr val="FFFFFF"/>
                </a:solidFill>
                <a:latin typeface="Freesentation"/>
              </a:rPr>
              <a:t>VESSEL-GROUP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221224"/>
            <a:ext cx="5907024" cy="2103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7A4858"/>
                </a:solidFill>
                <a:latin typeface="Freesentation"/>
              </a:rPr>
              <a:t>Cargo / tanker counts and unique MMSIs: [Pending classification review]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879592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7A4858"/>
                </a:solidFill>
                <a:latin typeface="Freesentation"/>
              </a:rPr>
              <a:t>Report track records and unique MMSIs separately; one vessel may contribute multiple tracks.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657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3E81"/>
                </a:solidFill>
                <a:latin typeface="Freesentation"/>
              </a:rPr>
              <a:t>V.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310896"/>
            <a:ext cx="96926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A0810"/>
                </a:solidFill>
                <a:latin typeface="Freesentation"/>
              </a:rPr>
              <a:t>Data Preparation &amp;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978408"/>
            <a:ext cx="11521440" cy="32918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400" b="0" i="0">
                <a:solidFill>
                  <a:srgbClr val="FFFFFF"/>
                </a:solidFill>
                <a:latin typeface="Freesentation"/>
              </a:rPr>
              <a:t>Primary settings follow the proposal; unresolved inputs remain explicit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8208" y="109728"/>
            <a:ext cx="987552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06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1435608"/>
            <a:ext cx="11521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6117336"/>
            <a:ext cx="4572000" cy="256032"/>
          </a:xfrm>
          <a:prstGeom prst="roundRect">
            <a:avLst/>
          </a:prstGeom>
          <a:solidFill>
            <a:srgbClr val="FFF5F8"/>
          </a:solidFill>
          <a:ln w="254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6071616"/>
            <a:ext cx="3977639" cy="310896"/>
          </a:xfrm>
          <a:prstGeom prst="roundRect">
            <a:avLst/>
          </a:prstGeom>
          <a:solidFill>
            <a:srgbClr val="FFE0EC"/>
          </a:solidFill>
          <a:ln w="254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6565392"/>
            <a:ext cx="1920240" cy="182880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800" b="0" i="0">
                <a:solidFill>
                  <a:srgbClr val="7A4858"/>
                </a:solidFill>
                <a:latin typeface="Freesentation"/>
              </a:rPr>
              <a:t>PROPOSAL · PRELIMINARY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537960"/>
            <a:ext cx="1078992" cy="2103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7A4858"/>
                </a:solidFill>
                <a:latin typeface="Freesentation"/>
              </a:rPr>
              <a:t>2026 · 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1773936"/>
            <a:ext cx="33101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1911095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883664"/>
            <a:ext cx="235915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0810"/>
                </a:solidFill>
                <a:latin typeface="Freesentation"/>
              </a:rPr>
              <a:t>Review 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313432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2535"/>
                </a:solidFill>
                <a:latin typeface="Freesentation"/>
              </a:rPr>
              <a:t>Format · fields · CRS ·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1773936"/>
            <a:ext cx="33101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911095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883664"/>
            <a:ext cx="235915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0810"/>
                </a:solidFill>
                <a:latin typeface="Freesentation"/>
              </a:rPr>
              <a:t>Quality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313432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2535"/>
                </a:solidFill>
                <a:latin typeface="Freesentation"/>
              </a:rPr>
              <a:t>Missing IDs · times · geometry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1773936"/>
            <a:ext cx="33101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1911095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1883664"/>
            <a:ext cx="235915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0810"/>
                </a:solidFill>
                <a:latin typeface="Freesentation"/>
              </a:rPr>
              <a:t>Define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313432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2535"/>
                </a:solidFill>
                <a:latin typeface="Freesentation"/>
              </a:rPr>
              <a:t>Approach-area polygon · source to confirm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3282696"/>
            <a:ext cx="33101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3419856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392424"/>
            <a:ext cx="235915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0810"/>
                </a:solidFill>
                <a:latin typeface="Freesentation"/>
              </a:rPr>
              <a:t>Project &amp;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822191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2535"/>
                </a:solidFill>
                <a:latin typeface="Freesentation"/>
              </a:rPr>
              <a:t>Local metric CRS · intersecting tracks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2272" y="3282696"/>
            <a:ext cx="33101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17720" y="3419856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392424"/>
            <a:ext cx="235915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0810"/>
                </a:solidFill>
                <a:latin typeface="Freesentation"/>
              </a:rPr>
              <a:t>Aggregate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3822191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2535"/>
                </a:solidFill>
                <a:latin typeface="Freesentation"/>
              </a:rPr>
              <a:t>500 m grid · group · track-start month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282696"/>
            <a:ext cx="33101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3419856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3392424"/>
            <a:ext cx="235915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0810"/>
                </a:solidFill>
                <a:latin typeface="Freesentation"/>
              </a:rPr>
              <a:t>Test stability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822191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2535"/>
                </a:solidFill>
                <a:latin typeface="Freesentation"/>
              </a:rPr>
              <a:t>250 m / 500 m / 1 km · top 10% / 20%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82896"/>
            <a:ext cx="10716768" cy="786384"/>
          </a:xfrm>
          <a:prstGeom prst="roundRect">
            <a:avLst/>
          </a:prstGeom>
          <a:solidFill>
            <a:srgbClr val="FFE0EC"/>
          </a:solidFill>
          <a:ln w="381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010912"/>
            <a:ext cx="10241280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1A0810"/>
                </a:solidFill>
                <a:latin typeface="Freesentation"/>
              </a:rPr>
              <a:t>Primary ranking: unique MMSI count in occupied cells · Monthly classification: track start month · Final boundary, CRS, and vessel-code mapping: to be confirmed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8873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7A4858"/>
                </a:solidFill>
                <a:latin typeface="Freesentation"/>
              </a:rPr>
              <a:t>Sensitivity comparison: overlap and location change on a common spatial 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657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3E81"/>
                </a:solidFill>
                <a:latin typeface="Freesentation"/>
              </a:rPr>
              <a:t>VI. PLANNED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310896"/>
            <a:ext cx="96926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A0810"/>
                </a:solidFill>
                <a:latin typeface="Freesentation"/>
              </a:rPr>
              <a:t>What the Analysis May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978408"/>
            <a:ext cx="11521440" cy="32918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400" b="0" i="0">
                <a:solidFill>
                  <a:srgbClr val="FFFFFF"/>
                </a:solidFill>
                <a:latin typeface="Freesentation"/>
              </a:rPr>
              <a:t>Candidate evidence for monitoring review — not a real-time risk alarm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8208" y="109728"/>
            <a:ext cx="987552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07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1435608"/>
            <a:ext cx="11521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6117336"/>
            <a:ext cx="4572000" cy="256032"/>
          </a:xfrm>
          <a:prstGeom prst="roundRect">
            <a:avLst/>
          </a:prstGeom>
          <a:solidFill>
            <a:srgbClr val="FFF5F8"/>
          </a:solidFill>
          <a:ln w="254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6071616"/>
            <a:ext cx="3977639" cy="310896"/>
          </a:xfrm>
          <a:prstGeom prst="roundRect">
            <a:avLst/>
          </a:prstGeom>
          <a:solidFill>
            <a:srgbClr val="FFE0EC"/>
          </a:solidFill>
          <a:ln w="254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6565392"/>
            <a:ext cx="1920240" cy="182880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800" b="0" i="0">
                <a:solidFill>
                  <a:srgbClr val="7A4858"/>
                </a:solidFill>
                <a:latin typeface="Freesentation"/>
              </a:rPr>
              <a:t>PROPOSAL · PRELIMINARY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537960"/>
            <a:ext cx="1078992" cy="2103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7A4858"/>
                </a:solidFill>
                <a:latin typeface="Freesentation"/>
              </a:rPr>
              <a:t>2026 · 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709928"/>
            <a:ext cx="1920240" cy="292608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RESULTS TO ADD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130552"/>
            <a:ext cx="5074920" cy="2057400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2258568"/>
            <a:ext cx="2139696" cy="274320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100" b="0" i="0">
                <a:solidFill>
                  <a:srgbClr val="FFFFFF"/>
                </a:solidFill>
                <a:latin typeface="Freesentation"/>
              </a:rPr>
              <a:t>CANDIDATE AREA MAP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4128" y="3877056"/>
            <a:ext cx="4544568" cy="0"/>
          </a:xfrm>
          <a:prstGeom prst="line">
            <a:avLst/>
          </a:prstGeom>
          <a:ln w="10160">
            <a:solidFill>
              <a:srgbClr val="F7B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4128" y="2679192"/>
            <a:ext cx="0" cy="1197864"/>
          </a:xfrm>
          <a:prstGeom prst="line">
            <a:avLst/>
          </a:prstGeom>
          <a:ln w="10160">
            <a:solidFill>
              <a:srgbClr val="F7B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24712" y="2679192"/>
            <a:ext cx="4361688" cy="11247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7A4858"/>
                </a:solidFill>
                <a:latin typeface="Freesentation"/>
              </a:rPr>
              <a:t>[Insert final map after the analysis]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462272"/>
            <a:ext cx="5074920" cy="1097280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4608576"/>
            <a:ext cx="1874519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900" b="0" i="0">
                <a:solidFill>
                  <a:srgbClr val="1A0810"/>
                </a:solidFill>
                <a:latin typeface="Freesentation"/>
              </a:rPr>
              <a:t>SENSITIVITY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64515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7A4858"/>
                </a:solidFill>
                <a:latin typeface="Freesentation"/>
              </a:rPr>
              <a:t>250 m / 500 m / 1 km · top 10% / 20%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7A4858"/>
                </a:solidFill>
                <a:latin typeface="Freesentation"/>
              </a:rPr>
              <a:t>[Insert comparison after analysis]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764792"/>
            <a:ext cx="51937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72784" y="1911095"/>
            <a:ext cx="1691640" cy="274320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POTENTIAL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30428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2535"/>
                </a:solidFill>
                <a:latin typeface="Freesentation"/>
              </a:rPr>
              <a:t>Review monitoring coverage using observed traffic concentration and monthly patterns.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273552"/>
            <a:ext cx="5193792" cy="960120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72784" y="3410712"/>
            <a:ext cx="2011680" cy="265176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900" b="0" i="0">
                <a:solidFill>
                  <a:srgbClr val="1A0810"/>
                </a:solidFill>
                <a:latin typeface="Freesentation"/>
              </a:rPr>
              <a:t>AIS-ONLY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76472"/>
            <a:ext cx="4690872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2535"/>
                </a:solidFill>
                <a:latin typeface="Freesentation"/>
              </a:rPr>
              <a:t>No direct inference of ghost ships, illegal activity, or infrastructure condition.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4480560"/>
            <a:ext cx="51937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72784" y="4617720"/>
            <a:ext cx="2267712" cy="265176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900" b="0" i="0">
                <a:solidFill>
                  <a:srgbClr val="1A0810"/>
                </a:solidFill>
                <a:latin typeface="Freesentation"/>
              </a:rPr>
              <a:t>SAFETY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983480"/>
            <a:ext cx="4681728" cy="4297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2535"/>
                </a:solidFill>
                <a:latin typeface="Freesentation"/>
              </a:rPr>
              <a:t>Route overlap does not establish an encounter or collision risk; further data and validation would be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3657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3E81"/>
                </a:solidFill>
                <a:latin typeface="Freesentation"/>
              </a:rPr>
              <a:t>VII. SOURCES &amp;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310896"/>
            <a:ext cx="96926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A0810"/>
                </a:solidFill>
                <a:latin typeface="Freesentation"/>
              </a:rPr>
              <a:t>References &amp; Next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978408"/>
            <a:ext cx="11521440" cy="32918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400" b="0" i="0">
                <a:solidFill>
                  <a:srgbClr val="FFFFFF"/>
                </a:solidFill>
                <a:latin typeface="Freesentation"/>
              </a:rPr>
              <a:t>Confirm these inputs before interpreting final maps and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8208" y="109728"/>
            <a:ext cx="987552" cy="274320"/>
          </a:xfrm>
          <a:prstGeom prst="roundRect">
            <a:avLst/>
          </a:prstGeom>
          <a:solidFill>
            <a:srgbClr val="FFE0EC"/>
          </a:solidFill>
          <a:ln w="762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1A0810"/>
                </a:solidFill>
                <a:latin typeface="Freesentation"/>
              </a:rPr>
              <a:t>08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1435608"/>
            <a:ext cx="1152144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6117336"/>
            <a:ext cx="4572000" cy="256032"/>
          </a:xfrm>
          <a:prstGeom prst="roundRect">
            <a:avLst/>
          </a:prstGeom>
          <a:solidFill>
            <a:srgbClr val="FFF5F8"/>
          </a:solidFill>
          <a:ln w="254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6071616"/>
            <a:ext cx="3977639" cy="310896"/>
          </a:xfrm>
          <a:prstGeom prst="roundRect">
            <a:avLst/>
          </a:prstGeom>
          <a:solidFill>
            <a:srgbClr val="FFE0EC"/>
          </a:solidFill>
          <a:ln w="254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6565392"/>
            <a:ext cx="1920240" cy="182880"/>
          </a:xfrm>
          <a:prstGeom prst="roundRect">
            <a:avLst/>
          </a:prstGeom>
          <a:solidFill>
            <a:srgbClr val="FFF5F8"/>
          </a:solidFill>
          <a:ln w="7620">
            <a:solidFill>
              <a:srgbClr val="F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800" b="0" i="0">
                <a:solidFill>
                  <a:srgbClr val="7A4858"/>
                </a:solidFill>
                <a:latin typeface="Freesentation"/>
              </a:rPr>
              <a:t>PROPOSAL · PRELIMINARY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537960"/>
            <a:ext cx="1078992" cy="2103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7A4858"/>
                </a:solidFill>
                <a:latin typeface="Freesentation"/>
              </a:rPr>
              <a:t>2026 · 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1755648"/>
            <a:ext cx="6729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1911095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856231"/>
            <a:ext cx="5623560" cy="26517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NOAA Office for Coastal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194560"/>
            <a:ext cx="55961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A4858"/>
                </a:solidFill>
                <a:latin typeface="Freesentation"/>
              </a:rPr>
              <a:t>AIS Vessel Tracks 2024 · Dataset metadata and official data index.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2825496"/>
            <a:ext cx="6729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" y="2980944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926079"/>
            <a:ext cx="5623560" cy="26517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NOAA Office for Coastal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264408"/>
            <a:ext cx="55961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A4858"/>
                </a:solidFill>
                <a:latin typeface="Freesentation"/>
              </a:rPr>
              <a:t>Automatic Identification System (AIS) Frequently Asked Questions.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3895344"/>
            <a:ext cx="6729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4050791"/>
            <a:ext cx="475488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95928"/>
            <a:ext cx="5623560" cy="26517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0810"/>
                </a:solidFill>
                <a:latin typeface="Freesentation"/>
              </a:rPr>
              <a:t>NOAA Office of Coast Survey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334256"/>
            <a:ext cx="55961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A4858"/>
                </a:solidFill>
                <a:latin typeface="Freesentation"/>
              </a:rPr>
              <a:t>Electronic Navigational Charts · Select chart product and edition for the study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1755648"/>
            <a:ext cx="3639312" cy="3035808"/>
          </a:xfrm>
          <a:prstGeom prst="roundRect">
            <a:avLst/>
          </a:prstGeom>
          <a:solidFill>
            <a:srgbClr val="FFF5F8"/>
          </a:solidFill>
          <a:ln w="12700">
            <a:solidFill>
              <a:srgbClr val="F7B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73568" y="1929384"/>
            <a:ext cx="2615184" cy="283464"/>
          </a:xfrm>
          <a:prstGeom prst="roundRect">
            <a:avLst/>
          </a:prstGeom>
          <a:solidFill>
            <a:srgbClr val="E63E81"/>
          </a:solidFill>
          <a:ln w="7620">
            <a:solidFill>
              <a:srgbClr val="E63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000" b="0" i="0">
                <a:solidFill>
                  <a:srgbClr val="FFFFFF"/>
                </a:solidFill>
                <a:latin typeface="Freesentation"/>
              </a:rPr>
              <a:t>DECISIONS TO CONFIRM</a:t>
            </a:r>
          </a:p>
        </p:txBody>
      </p:sp>
      <p:sp>
        <p:nvSpPr>
          <p:cNvPr id="25" name="Oval 24"/>
          <p:cNvSpPr/>
          <p:nvPr/>
        </p:nvSpPr>
        <p:spPr>
          <a:xfrm>
            <a:off x="8019288" y="2596896"/>
            <a:ext cx="109728" cy="109728"/>
          </a:xfrm>
          <a:prstGeom prst="ellipse">
            <a:avLst/>
          </a:prstGeom>
          <a:solidFill>
            <a:srgbClr val="E63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459736"/>
            <a:ext cx="2880360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2535"/>
                </a:solidFill>
                <a:latin typeface="Freesentation"/>
              </a:rPr>
              <a:t>Study-boundary source and inclusion rule</a:t>
            </a:r>
          </a:p>
        </p:txBody>
      </p:sp>
      <p:sp>
        <p:nvSpPr>
          <p:cNvPr id="27" name="Oval 26"/>
          <p:cNvSpPr/>
          <p:nvPr/>
        </p:nvSpPr>
        <p:spPr>
          <a:xfrm>
            <a:off x="8019288" y="3081527"/>
            <a:ext cx="109728" cy="109728"/>
          </a:xfrm>
          <a:prstGeom prst="ellipse">
            <a:avLst/>
          </a:prstGeom>
          <a:solidFill>
            <a:srgbClr val="E63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944368"/>
            <a:ext cx="2880360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2535"/>
                </a:solidFill>
                <a:latin typeface="Freesentation"/>
              </a:rPr>
              <a:t>Vessel-group codes for cargo / tanker</a:t>
            </a:r>
          </a:p>
        </p:txBody>
      </p:sp>
      <p:sp>
        <p:nvSpPr>
          <p:cNvPr id="29" name="Oval 28"/>
          <p:cNvSpPr/>
          <p:nvPr/>
        </p:nvSpPr>
        <p:spPr>
          <a:xfrm>
            <a:off x="8019288" y="3566160"/>
            <a:ext cx="109728" cy="109728"/>
          </a:xfrm>
          <a:prstGeom prst="ellipse">
            <a:avLst/>
          </a:prstGeom>
          <a:solidFill>
            <a:srgbClr val="E63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429000"/>
            <a:ext cx="2880360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2535"/>
                </a:solidFill>
                <a:latin typeface="Freesentation"/>
              </a:rPr>
              <a:t>Projected CRS and final quality rules</a:t>
            </a:r>
          </a:p>
        </p:txBody>
      </p:sp>
      <p:sp>
        <p:nvSpPr>
          <p:cNvPr id="31" name="Oval 30"/>
          <p:cNvSpPr/>
          <p:nvPr/>
        </p:nvSpPr>
        <p:spPr>
          <a:xfrm>
            <a:off x="8019288" y="4050792"/>
            <a:ext cx="109728" cy="109728"/>
          </a:xfrm>
          <a:prstGeom prst="ellipse">
            <a:avLst/>
          </a:prstGeom>
          <a:solidFill>
            <a:srgbClr val="E63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913632"/>
            <a:ext cx="2880360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2535"/>
                </a:solidFill>
                <a:latin typeface="Freesentation"/>
              </a:rPr>
              <a:t>Team responsibilities and review schedule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221224"/>
            <a:ext cx="10680192" cy="457200"/>
          </a:xfrm>
          <a:prstGeom prst="roundRect">
            <a:avLst/>
          </a:prstGeom>
          <a:solidFill>
            <a:srgbClr val="FFE0EC"/>
          </a:solidFill>
          <a:ln w="2540">
            <a:solidFill>
              <a:srgbClr val="F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312664"/>
            <a:ext cx="10360152" cy="25603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1A0810"/>
                </a:solidFill>
                <a:latin typeface="Freesentation"/>
              </a:rPr>
              <a:t>Next: validate source fields and the study boundary, then run the planned analysis.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843016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7A4858"/>
                </a:solidFill>
                <a:latin typeface="Freesentation"/>
              </a:rPr>
              <a:t>Source URLs and final bibliographic details are listed in the companion manuscript.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 Track-Based Analysis of Port Approach Traffic</dc:title>
  <dc:subject>Proposal presentation — Norfolk and Hampton Roads</dc:subject>
  <dc:creator>Project team</dc:creator>
  <cp:keywords>AIS, port approach, monitoring priorities, proposal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